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68" r:id="rId4"/>
  </p:sldMasterIdLst>
  <p:sldIdLst>
    <p:sldId id="256" r:id="rId5"/>
    <p:sldId id="277" r:id="rId6"/>
    <p:sldId id="278" r:id="rId7"/>
    <p:sldId id="284" r:id="rId8"/>
    <p:sldId id="285" r:id="rId9"/>
    <p:sldId id="286" r:id="rId10"/>
    <p:sldId id="287" r:id="rId11"/>
    <p:sldId id="288" r:id="rId12"/>
    <p:sldId id="289" r:id="rId13"/>
    <p:sldId id="291" r:id="rId14"/>
    <p:sldId id="294" r:id="rId15"/>
    <p:sldId id="293" r:id="rId16"/>
    <p:sldId id="295" r:id="rId17"/>
    <p:sldId id="296" r:id="rId18"/>
    <p:sldId id="282" r:id="rId19"/>
    <p:sldId id="280" r:id="rId20"/>
    <p:sldId id="283" r:id="rId21"/>
    <p:sldId id="264" r:id="rId22"/>
    <p:sldId id="276" r:id="rId2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42" autoAdjust="0"/>
  </p:normalViewPr>
  <p:slideViewPr>
    <p:cSldViewPr snapToGrid="0">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2AF541-9B42-4910-99EA-EF6A9EEE61D7}" type="doc">
      <dgm:prSet loTypeId="urn:microsoft.com/office/officeart/2005/8/layout/pyramid1" loCatId="pyramid" qsTypeId="urn:microsoft.com/office/officeart/2005/8/quickstyle/simple1" qsCatId="simple" csTypeId="urn:microsoft.com/office/officeart/2005/8/colors/accent5_3" csCatId="accent5" phldr="1"/>
      <dgm:spPr/>
      <dgm:t>
        <a:bodyPr/>
        <a:lstStyle/>
        <a:p>
          <a:endParaRPr kumimoji="1" lang="ja-JP" altLang="en-US"/>
        </a:p>
      </dgm:t>
    </dgm:pt>
    <dgm:pt modelId="{EE264362-B87B-490B-B1C0-3ECAB4342684}">
      <dgm:prSet phldrT="[テキスト]" custT="1"/>
      <dgm:spPr/>
      <dgm:t>
        <a:bodyPr/>
        <a:lstStyle/>
        <a:p>
          <a:r>
            <a:rPr kumimoji="1" lang="ja-JP" altLang="en-US" sz="1400" dirty="0">
              <a:latin typeface="游ゴシック Medium" panose="020B0500000000000000" pitchFamily="50" charset="-128"/>
              <a:ea typeface="游ゴシック Medium" panose="020B0500000000000000" pitchFamily="50" charset="-128"/>
            </a:rPr>
            <a:t>エンド</a:t>
          </a:r>
          <a:br>
            <a:rPr kumimoji="1" lang="en-US" altLang="ja-JP" sz="1400" dirty="0">
              <a:latin typeface="游ゴシック Medium" panose="020B0500000000000000" pitchFamily="50" charset="-128"/>
              <a:ea typeface="游ゴシック Medium" panose="020B0500000000000000" pitchFamily="50" charset="-128"/>
            </a:rPr>
          </a:br>
          <a:r>
            <a:rPr kumimoji="1" lang="ja-JP" altLang="en-US" sz="1400" dirty="0">
              <a:latin typeface="游ゴシック Medium" panose="020B0500000000000000" pitchFamily="50" charset="-128"/>
              <a:ea typeface="游ゴシック Medium" panose="020B0500000000000000" pitchFamily="50" charset="-128"/>
            </a:rPr>
            <a:t>ユーザー</a:t>
          </a:r>
        </a:p>
      </dgm:t>
    </dgm:pt>
    <dgm:pt modelId="{B268F053-960E-4991-8A42-1414142A8CC2}" type="parTrans" cxnId="{60F0B162-3480-41C9-A69D-B1B7283A2E85}">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5F334B93-9422-4C52-8D40-F14B5123F01E}" type="sibTrans" cxnId="{60F0B162-3480-41C9-A69D-B1B7283A2E85}">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1215CD12-D2D4-44B1-98AD-BE2E92398E68}">
      <dgm:prSet phldrT="[テキスト]" custT="1"/>
      <dgm:spPr/>
      <dgm:t>
        <a:bodyPr/>
        <a:lstStyle/>
        <a:p>
          <a:r>
            <a:rPr kumimoji="1" lang="ja-JP" altLang="en-US" sz="1400">
              <a:latin typeface="游ゴシック Medium" panose="020B0500000000000000" pitchFamily="50" charset="-128"/>
              <a:ea typeface="游ゴシック Medium" panose="020B0500000000000000" pitchFamily="50" charset="-128"/>
            </a:rPr>
            <a:t>元請け</a:t>
          </a:r>
          <a:r>
            <a:rPr kumimoji="1" lang="en-US" altLang="ja-JP" sz="1400">
              <a:latin typeface="游ゴシック Medium" panose="020B0500000000000000" pitchFamily="50" charset="-128"/>
              <a:ea typeface="游ゴシック Medium" panose="020B0500000000000000" pitchFamily="50" charset="-128"/>
            </a:rPr>
            <a:t>(</a:t>
          </a:r>
          <a:r>
            <a:rPr kumimoji="1" lang="ja-JP" altLang="en-US" sz="1400">
              <a:latin typeface="游ゴシック Medium" panose="020B0500000000000000" pitchFamily="50" charset="-128"/>
              <a:ea typeface="游ゴシック Medium" panose="020B0500000000000000" pitchFamily="50" charset="-128"/>
            </a:rPr>
            <a:t>案件</a:t>
          </a:r>
          <a:r>
            <a:rPr kumimoji="1" lang="en-US" altLang="ja-JP" sz="1400">
              <a:latin typeface="游ゴシック Medium" panose="020B0500000000000000" pitchFamily="50" charset="-128"/>
              <a:ea typeface="游ゴシック Medium" panose="020B0500000000000000" pitchFamily="50" charset="-128"/>
            </a:rPr>
            <a:t>)</a:t>
          </a:r>
          <a:r>
            <a:rPr kumimoji="1" lang="ja-JP" altLang="en-US" sz="1400">
              <a:latin typeface="游ゴシック Medium" panose="020B0500000000000000" pitchFamily="50" charset="-128"/>
              <a:ea typeface="游ゴシック Medium" panose="020B0500000000000000" pitchFamily="50" charset="-128"/>
            </a:rPr>
            <a:t>会社</a:t>
          </a:r>
        </a:p>
      </dgm:t>
    </dgm:pt>
    <dgm:pt modelId="{18564386-037F-4ED9-9F9D-1DC4A1E3E265}" type="parTrans" cxnId="{9F0522A2-1504-4FE2-9383-5DED38F01D74}">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B5E35BD0-9E58-427C-9E3E-62D709E70E6A}" type="sibTrans" cxnId="{9F0522A2-1504-4FE2-9383-5DED38F01D74}">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6E85DB9D-23E9-46A2-ADBB-31C8FDBD0B99}">
      <dgm:prSet phldrT="[テキスト]" phldr="0" custT="1"/>
      <dgm:spPr/>
      <dgm:t>
        <a:bodyPr/>
        <a:lstStyle/>
        <a:p>
          <a:r>
            <a:rPr kumimoji="1" lang="ja-JP" altLang="en-US" sz="1400">
              <a:latin typeface="游ゴシック Medium" panose="020B0500000000000000" pitchFamily="50" charset="-128"/>
              <a:ea typeface="游ゴシック Medium" panose="020B0500000000000000" pitchFamily="50" charset="-128"/>
            </a:rPr>
            <a:t>二次請け</a:t>
          </a:r>
          <a:r>
            <a:rPr kumimoji="1" lang="en-US" altLang="ja-JP" sz="1400">
              <a:latin typeface="游ゴシック Medium" panose="020B0500000000000000" pitchFamily="50" charset="-128"/>
              <a:ea typeface="游ゴシック Medium" panose="020B0500000000000000" pitchFamily="50" charset="-128"/>
            </a:rPr>
            <a:t>(</a:t>
          </a:r>
          <a:r>
            <a:rPr kumimoji="1" lang="ja-JP" altLang="en-US" sz="1400">
              <a:latin typeface="游ゴシック Medium" panose="020B0500000000000000" pitchFamily="50" charset="-128"/>
              <a:ea typeface="游ゴシック Medium" panose="020B0500000000000000" pitchFamily="50" charset="-128"/>
            </a:rPr>
            <a:t>案件</a:t>
          </a:r>
          <a:r>
            <a:rPr kumimoji="1" lang="en-US" altLang="ja-JP" sz="1400">
              <a:latin typeface="游ゴシック Medium" panose="020B0500000000000000" pitchFamily="50" charset="-128"/>
              <a:ea typeface="游ゴシック Medium" panose="020B0500000000000000" pitchFamily="50" charset="-128"/>
            </a:rPr>
            <a:t>)</a:t>
          </a:r>
          <a:r>
            <a:rPr kumimoji="1" lang="ja-JP" altLang="en-US" sz="1400">
              <a:latin typeface="游ゴシック Medium" panose="020B0500000000000000" pitchFamily="50" charset="-128"/>
              <a:ea typeface="游ゴシック Medium" panose="020B0500000000000000" pitchFamily="50" charset="-128"/>
            </a:rPr>
            <a:t>会社</a:t>
          </a:r>
        </a:p>
      </dgm:t>
    </dgm:pt>
    <dgm:pt modelId="{36713618-DF58-4205-9D44-2AF397301070}" type="parTrans" cxnId="{2A4ABC0A-2572-4A27-8466-441FB9067983}">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40760F95-36AA-4E5D-89F2-95F647A5BDF8}" type="sibTrans" cxnId="{2A4ABC0A-2572-4A27-8466-441FB9067983}">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75559DDC-558D-4BD0-A102-F7BC6E2B3E7B}">
      <dgm:prSet phldrT="[テキスト]" phldr="0" custT="1"/>
      <dgm:spPr/>
      <dgm:t>
        <a:bodyPr/>
        <a:lstStyle/>
        <a:p>
          <a:r>
            <a:rPr kumimoji="1" lang="ja-JP" altLang="en-US" sz="1400">
              <a:latin typeface="游ゴシック Medium" panose="020B0500000000000000" pitchFamily="50" charset="-128"/>
              <a:ea typeface="游ゴシック Medium" panose="020B0500000000000000" pitchFamily="50" charset="-128"/>
            </a:rPr>
            <a:t>仲介会社</a:t>
          </a:r>
        </a:p>
      </dgm:t>
    </dgm:pt>
    <dgm:pt modelId="{856F4309-5449-481C-A221-A07C18A9C42E}" type="parTrans" cxnId="{1CE2231A-47DD-4A2E-A3D0-0D194C0851DC}">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89E8A1F8-8A5F-42A5-9ABB-806EBEBADAD0}" type="sibTrans" cxnId="{1CE2231A-47DD-4A2E-A3D0-0D194C0851DC}">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DBA57CFD-A9F0-4AB1-AFC0-E573BD180518}">
      <dgm:prSet phldrT="[テキスト]" phldr="0" custT="1"/>
      <dgm:spPr/>
      <dgm:t>
        <a:bodyPr/>
        <a:lstStyle/>
        <a:p>
          <a:r>
            <a:rPr kumimoji="1" lang="ja-JP" altLang="en-US" sz="1400">
              <a:latin typeface="游ゴシック Medium" panose="020B0500000000000000" pitchFamily="50" charset="-128"/>
              <a:ea typeface="游ゴシック Medium" panose="020B0500000000000000" pitchFamily="50" charset="-128"/>
            </a:rPr>
            <a:t>要員会社</a:t>
          </a:r>
        </a:p>
      </dgm:t>
    </dgm:pt>
    <dgm:pt modelId="{4515F339-D84B-4B2B-B3DE-FDED3F0E0CDA}" type="parTrans" cxnId="{C436E1DE-F49A-4167-BCF6-B29F8DB8FB72}">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C3B8EFE1-B3B5-4DF8-B5B5-39711B3500D6}" type="sibTrans" cxnId="{C436E1DE-F49A-4167-BCF6-B29F8DB8FB72}">
      <dgm:prSet/>
      <dgm:spPr/>
      <dgm:t>
        <a:bodyPr/>
        <a:lstStyle/>
        <a:p>
          <a:endParaRPr kumimoji="1" lang="ja-JP" altLang="en-US" sz="1400">
            <a:latin typeface="游ゴシック Medium" panose="020B0500000000000000" pitchFamily="50" charset="-128"/>
            <a:ea typeface="游ゴシック Medium" panose="020B0500000000000000" pitchFamily="50" charset="-128"/>
          </a:endParaRPr>
        </a:p>
      </dgm:t>
    </dgm:pt>
    <dgm:pt modelId="{14DE15E3-714F-4E18-B9E1-4F6EC9E3EAD0}" type="pres">
      <dgm:prSet presAssocID="{602AF541-9B42-4910-99EA-EF6A9EEE61D7}" presName="Name0" presStyleCnt="0">
        <dgm:presLayoutVars>
          <dgm:dir/>
          <dgm:animLvl val="lvl"/>
          <dgm:resizeHandles val="exact"/>
        </dgm:presLayoutVars>
      </dgm:prSet>
      <dgm:spPr/>
    </dgm:pt>
    <dgm:pt modelId="{635454A2-F5D9-4A9C-8A7E-8D56B08EAFC2}" type="pres">
      <dgm:prSet presAssocID="{EE264362-B87B-490B-B1C0-3ECAB4342684}" presName="Name8" presStyleCnt="0"/>
      <dgm:spPr/>
    </dgm:pt>
    <dgm:pt modelId="{49DB98EF-B525-4D90-967F-140928635824}" type="pres">
      <dgm:prSet presAssocID="{EE264362-B87B-490B-B1C0-3ECAB4342684}" presName="level" presStyleLbl="node1" presStyleIdx="0" presStyleCnt="5">
        <dgm:presLayoutVars>
          <dgm:chMax val="1"/>
          <dgm:bulletEnabled val="1"/>
        </dgm:presLayoutVars>
      </dgm:prSet>
      <dgm:spPr/>
    </dgm:pt>
    <dgm:pt modelId="{2A395CC0-2BFF-433D-A4D7-96C6C2D387C8}" type="pres">
      <dgm:prSet presAssocID="{EE264362-B87B-490B-B1C0-3ECAB4342684}" presName="levelTx" presStyleLbl="revTx" presStyleIdx="0" presStyleCnt="0">
        <dgm:presLayoutVars>
          <dgm:chMax val="1"/>
          <dgm:bulletEnabled val="1"/>
        </dgm:presLayoutVars>
      </dgm:prSet>
      <dgm:spPr/>
    </dgm:pt>
    <dgm:pt modelId="{AF0DF8C6-07E2-4E37-8E22-8123F17C6F36}" type="pres">
      <dgm:prSet presAssocID="{1215CD12-D2D4-44B1-98AD-BE2E92398E68}" presName="Name8" presStyleCnt="0"/>
      <dgm:spPr/>
    </dgm:pt>
    <dgm:pt modelId="{7E49DDD1-783E-4B11-B7AA-2F4B56844B2E}" type="pres">
      <dgm:prSet presAssocID="{1215CD12-D2D4-44B1-98AD-BE2E92398E68}" presName="level" presStyleLbl="node1" presStyleIdx="1" presStyleCnt="5">
        <dgm:presLayoutVars>
          <dgm:chMax val="1"/>
          <dgm:bulletEnabled val="1"/>
        </dgm:presLayoutVars>
      </dgm:prSet>
      <dgm:spPr/>
    </dgm:pt>
    <dgm:pt modelId="{06812FE7-6E20-42B9-8FB3-E0D788CFD5C0}" type="pres">
      <dgm:prSet presAssocID="{1215CD12-D2D4-44B1-98AD-BE2E92398E68}" presName="levelTx" presStyleLbl="revTx" presStyleIdx="0" presStyleCnt="0">
        <dgm:presLayoutVars>
          <dgm:chMax val="1"/>
          <dgm:bulletEnabled val="1"/>
        </dgm:presLayoutVars>
      </dgm:prSet>
      <dgm:spPr/>
    </dgm:pt>
    <dgm:pt modelId="{C52DAEFB-E5A0-42EF-8561-4F7C74F0324A}" type="pres">
      <dgm:prSet presAssocID="{6E85DB9D-23E9-46A2-ADBB-31C8FDBD0B99}" presName="Name8" presStyleCnt="0"/>
      <dgm:spPr/>
    </dgm:pt>
    <dgm:pt modelId="{1EB9E8C7-1BAD-4EAF-8DA8-376345683F01}" type="pres">
      <dgm:prSet presAssocID="{6E85DB9D-23E9-46A2-ADBB-31C8FDBD0B99}" presName="level" presStyleLbl="node1" presStyleIdx="2" presStyleCnt="5">
        <dgm:presLayoutVars>
          <dgm:chMax val="1"/>
          <dgm:bulletEnabled val="1"/>
        </dgm:presLayoutVars>
      </dgm:prSet>
      <dgm:spPr/>
    </dgm:pt>
    <dgm:pt modelId="{FDFC2BBA-77EF-4F3C-BF73-46EC60DEE889}" type="pres">
      <dgm:prSet presAssocID="{6E85DB9D-23E9-46A2-ADBB-31C8FDBD0B99}" presName="levelTx" presStyleLbl="revTx" presStyleIdx="0" presStyleCnt="0">
        <dgm:presLayoutVars>
          <dgm:chMax val="1"/>
          <dgm:bulletEnabled val="1"/>
        </dgm:presLayoutVars>
      </dgm:prSet>
      <dgm:spPr/>
    </dgm:pt>
    <dgm:pt modelId="{BE2EA043-2FF2-4EBF-932B-2AFF39175228}" type="pres">
      <dgm:prSet presAssocID="{75559DDC-558D-4BD0-A102-F7BC6E2B3E7B}" presName="Name8" presStyleCnt="0"/>
      <dgm:spPr/>
    </dgm:pt>
    <dgm:pt modelId="{7748225C-C4CD-486D-BA1F-800159DFA14F}" type="pres">
      <dgm:prSet presAssocID="{75559DDC-558D-4BD0-A102-F7BC6E2B3E7B}" presName="level" presStyleLbl="node1" presStyleIdx="3" presStyleCnt="5">
        <dgm:presLayoutVars>
          <dgm:chMax val="1"/>
          <dgm:bulletEnabled val="1"/>
        </dgm:presLayoutVars>
      </dgm:prSet>
      <dgm:spPr/>
    </dgm:pt>
    <dgm:pt modelId="{7B1F4C4D-C02E-440A-BE46-4BB6463E7430}" type="pres">
      <dgm:prSet presAssocID="{75559DDC-558D-4BD0-A102-F7BC6E2B3E7B}" presName="levelTx" presStyleLbl="revTx" presStyleIdx="0" presStyleCnt="0">
        <dgm:presLayoutVars>
          <dgm:chMax val="1"/>
          <dgm:bulletEnabled val="1"/>
        </dgm:presLayoutVars>
      </dgm:prSet>
      <dgm:spPr/>
    </dgm:pt>
    <dgm:pt modelId="{C4D91CD7-AF6C-457A-956B-5618702B3A99}" type="pres">
      <dgm:prSet presAssocID="{DBA57CFD-A9F0-4AB1-AFC0-E573BD180518}" presName="Name8" presStyleCnt="0"/>
      <dgm:spPr/>
    </dgm:pt>
    <dgm:pt modelId="{954302FF-B5EB-4E43-8D63-1463978C5D5C}" type="pres">
      <dgm:prSet presAssocID="{DBA57CFD-A9F0-4AB1-AFC0-E573BD180518}" presName="level" presStyleLbl="node1" presStyleIdx="4" presStyleCnt="5">
        <dgm:presLayoutVars>
          <dgm:chMax val="1"/>
          <dgm:bulletEnabled val="1"/>
        </dgm:presLayoutVars>
      </dgm:prSet>
      <dgm:spPr/>
    </dgm:pt>
    <dgm:pt modelId="{984674A2-108A-427C-9E06-D82E4C05916C}" type="pres">
      <dgm:prSet presAssocID="{DBA57CFD-A9F0-4AB1-AFC0-E573BD180518}" presName="levelTx" presStyleLbl="revTx" presStyleIdx="0" presStyleCnt="0">
        <dgm:presLayoutVars>
          <dgm:chMax val="1"/>
          <dgm:bulletEnabled val="1"/>
        </dgm:presLayoutVars>
      </dgm:prSet>
      <dgm:spPr/>
    </dgm:pt>
  </dgm:ptLst>
  <dgm:cxnLst>
    <dgm:cxn modelId="{2A4ABC0A-2572-4A27-8466-441FB9067983}" srcId="{602AF541-9B42-4910-99EA-EF6A9EEE61D7}" destId="{6E85DB9D-23E9-46A2-ADBB-31C8FDBD0B99}" srcOrd="2" destOrd="0" parTransId="{36713618-DF58-4205-9D44-2AF397301070}" sibTransId="{40760F95-36AA-4E5D-89F2-95F647A5BDF8}"/>
    <dgm:cxn modelId="{6FD7A912-71B0-4818-AD98-C034831E61EA}" type="presOf" srcId="{DBA57CFD-A9F0-4AB1-AFC0-E573BD180518}" destId="{954302FF-B5EB-4E43-8D63-1463978C5D5C}" srcOrd="0" destOrd="0" presId="urn:microsoft.com/office/officeart/2005/8/layout/pyramid1"/>
    <dgm:cxn modelId="{1CE2231A-47DD-4A2E-A3D0-0D194C0851DC}" srcId="{602AF541-9B42-4910-99EA-EF6A9EEE61D7}" destId="{75559DDC-558D-4BD0-A102-F7BC6E2B3E7B}" srcOrd="3" destOrd="0" parTransId="{856F4309-5449-481C-A221-A07C18A9C42E}" sibTransId="{89E8A1F8-8A5F-42A5-9ABB-806EBEBADAD0}"/>
    <dgm:cxn modelId="{CA6C5221-FC0C-4C87-9829-98A93C6EBAD4}" type="presOf" srcId="{6E85DB9D-23E9-46A2-ADBB-31C8FDBD0B99}" destId="{1EB9E8C7-1BAD-4EAF-8DA8-376345683F01}" srcOrd="0" destOrd="0" presId="urn:microsoft.com/office/officeart/2005/8/layout/pyramid1"/>
    <dgm:cxn modelId="{C4360D37-67F5-4FBA-99C3-541B5437B958}" type="presOf" srcId="{75559DDC-558D-4BD0-A102-F7BC6E2B3E7B}" destId="{7B1F4C4D-C02E-440A-BE46-4BB6463E7430}" srcOrd="1" destOrd="0" presId="urn:microsoft.com/office/officeart/2005/8/layout/pyramid1"/>
    <dgm:cxn modelId="{CC6ACB3B-4B33-4F88-B147-39370A2C4536}" type="presOf" srcId="{75559DDC-558D-4BD0-A102-F7BC6E2B3E7B}" destId="{7748225C-C4CD-486D-BA1F-800159DFA14F}" srcOrd="0" destOrd="0" presId="urn:microsoft.com/office/officeart/2005/8/layout/pyramid1"/>
    <dgm:cxn modelId="{60F0B162-3480-41C9-A69D-B1B7283A2E85}" srcId="{602AF541-9B42-4910-99EA-EF6A9EEE61D7}" destId="{EE264362-B87B-490B-B1C0-3ECAB4342684}" srcOrd="0" destOrd="0" parTransId="{B268F053-960E-4991-8A42-1414142A8CC2}" sibTransId="{5F334B93-9422-4C52-8D40-F14B5123F01E}"/>
    <dgm:cxn modelId="{33662763-C340-4DBB-A3DE-33ED71A19330}" type="presOf" srcId="{602AF541-9B42-4910-99EA-EF6A9EEE61D7}" destId="{14DE15E3-714F-4E18-B9E1-4F6EC9E3EAD0}" srcOrd="0" destOrd="0" presId="urn:microsoft.com/office/officeart/2005/8/layout/pyramid1"/>
    <dgm:cxn modelId="{D1542A91-4080-43FD-9CCF-24D6A338F6EE}" type="presOf" srcId="{1215CD12-D2D4-44B1-98AD-BE2E92398E68}" destId="{06812FE7-6E20-42B9-8FB3-E0D788CFD5C0}" srcOrd="1" destOrd="0" presId="urn:microsoft.com/office/officeart/2005/8/layout/pyramid1"/>
    <dgm:cxn modelId="{117F409F-4C02-41A1-8DC8-0FA218D49B14}" type="presOf" srcId="{6E85DB9D-23E9-46A2-ADBB-31C8FDBD0B99}" destId="{FDFC2BBA-77EF-4F3C-BF73-46EC60DEE889}" srcOrd="1" destOrd="0" presId="urn:microsoft.com/office/officeart/2005/8/layout/pyramid1"/>
    <dgm:cxn modelId="{9F0522A2-1504-4FE2-9383-5DED38F01D74}" srcId="{602AF541-9B42-4910-99EA-EF6A9EEE61D7}" destId="{1215CD12-D2D4-44B1-98AD-BE2E92398E68}" srcOrd="1" destOrd="0" parTransId="{18564386-037F-4ED9-9F9D-1DC4A1E3E265}" sibTransId="{B5E35BD0-9E58-427C-9E3E-62D709E70E6A}"/>
    <dgm:cxn modelId="{0DE421A8-4443-4FB0-8D08-2705A48C3B6F}" type="presOf" srcId="{1215CD12-D2D4-44B1-98AD-BE2E92398E68}" destId="{7E49DDD1-783E-4B11-B7AA-2F4B56844B2E}" srcOrd="0" destOrd="0" presId="urn:microsoft.com/office/officeart/2005/8/layout/pyramid1"/>
    <dgm:cxn modelId="{70EDEBC0-7A77-4DFA-8B77-29192A75D319}" type="presOf" srcId="{EE264362-B87B-490B-B1C0-3ECAB4342684}" destId="{2A395CC0-2BFF-433D-A4D7-96C6C2D387C8}" srcOrd="1" destOrd="0" presId="urn:microsoft.com/office/officeart/2005/8/layout/pyramid1"/>
    <dgm:cxn modelId="{C436E1DE-F49A-4167-BCF6-B29F8DB8FB72}" srcId="{602AF541-9B42-4910-99EA-EF6A9EEE61D7}" destId="{DBA57CFD-A9F0-4AB1-AFC0-E573BD180518}" srcOrd="4" destOrd="0" parTransId="{4515F339-D84B-4B2B-B3DE-FDED3F0E0CDA}" sibTransId="{C3B8EFE1-B3B5-4DF8-B5B5-39711B3500D6}"/>
    <dgm:cxn modelId="{45F22EE3-3615-4E7A-BD7F-FA14B080226F}" type="presOf" srcId="{DBA57CFD-A9F0-4AB1-AFC0-E573BD180518}" destId="{984674A2-108A-427C-9E06-D82E4C05916C}" srcOrd="1" destOrd="0" presId="urn:microsoft.com/office/officeart/2005/8/layout/pyramid1"/>
    <dgm:cxn modelId="{F536D9F4-5281-4998-9590-CC32BFED15E2}" type="presOf" srcId="{EE264362-B87B-490B-B1C0-3ECAB4342684}" destId="{49DB98EF-B525-4D90-967F-140928635824}" srcOrd="0" destOrd="0" presId="urn:microsoft.com/office/officeart/2005/8/layout/pyramid1"/>
    <dgm:cxn modelId="{6A6175EB-6562-4AEA-A67A-399F88C3DA68}" type="presParOf" srcId="{14DE15E3-714F-4E18-B9E1-4F6EC9E3EAD0}" destId="{635454A2-F5D9-4A9C-8A7E-8D56B08EAFC2}" srcOrd="0" destOrd="0" presId="urn:microsoft.com/office/officeart/2005/8/layout/pyramid1"/>
    <dgm:cxn modelId="{C4B250A6-77CD-4F32-A097-046945657370}" type="presParOf" srcId="{635454A2-F5D9-4A9C-8A7E-8D56B08EAFC2}" destId="{49DB98EF-B525-4D90-967F-140928635824}" srcOrd="0" destOrd="0" presId="urn:microsoft.com/office/officeart/2005/8/layout/pyramid1"/>
    <dgm:cxn modelId="{8AE28101-6E5B-4119-A399-7BEF74F24AB5}" type="presParOf" srcId="{635454A2-F5D9-4A9C-8A7E-8D56B08EAFC2}" destId="{2A395CC0-2BFF-433D-A4D7-96C6C2D387C8}" srcOrd="1" destOrd="0" presId="urn:microsoft.com/office/officeart/2005/8/layout/pyramid1"/>
    <dgm:cxn modelId="{0D0B990B-33F4-46C7-A808-5F4F4EE6F7EF}" type="presParOf" srcId="{14DE15E3-714F-4E18-B9E1-4F6EC9E3EAD0}" destId="{AF0DF8C6-07E2-4E37-8E22-8123F17C6F36}" srcOrd="1" destOrd="0" presId="urn:microsoft.com/office/officeart/2005/8/layout/pyramid1"/>
    <dgm:cxn modelId="{D6FA41CA-4F1E-4711-A562-2C060044E0E6}" type="presParOf" srcId="{AF0DF8C6-07E2-4E37-8E22-8123F17C6F36}" destId="{7E49DDD1-783E-4B11-B7AA-2F4B56844B2E}" srcOrd="0" destOrd="0" presId="urn:microsoft.com/office/officeart/2005/8/layout/pyramid1"/>
    <dgm:cxn modelId="{F8D7520C-6334-41B7-9489-7A48A02E39A1}" type="presParOf" srcId="{AF0DF8C6-07E2-4E37-8E22-8123F17C6F36}" destId="{06812FE7-6E20-42B9-8FB3-E0D788CFD5C0}" srcOrd="1" destOrd="0" presId="urn:microsoft.com/office/officeart/2005/8/layout/pyramid1"/>
    <dgm:cxn modelId="{1C2A25BE-A971-43FB-A091-EDBCD2AA5FE5}" type="presParOf" srcId="{14DE15E3-714F-4E18-B9E1-4F6EC9E3EAD0}" destId="{C52DAEFB-E5A0-42EF-8561-4F7C74F0324A}" srcOrd="2" destOrd="0" presId="urn:microsoft.com/office/officeart/2005/8/layout/pyramid1"/>
    <dgm:cxn modelId="{9B4D9211-4B05-440C-8C5C-4CB28A2D4B3D}" type="presParOf" srcId="{C52DAEFB-E5A0-42EF-8561-4F7C74F0324A}" destId="{1EB9E8C7-1BAD-4EAF-8DA8-376345683F01}" srcOrd="0" destOrd="0" presId="urn:microsoft.com/office/officeart/2005/8/layout/pyramid1"/>
    <dgm:cxn modelId="{8DC3EA50-B388-40ED-AD30-5BE64B3EF507}" type="presParOf" srcId="{C52DAEFB-E5A0-42EF-8561-4F7C74F0324A}" destId="{FDFC2BBA-77EF-4F3C-BF73-46EC60DEE889}" srcOrd="1" destOrd="0" presId="urn:microsoft.com/office/officeart/2005/8/layout/pyramid1"/>
    <dgm:cxn modelId="{C3DEC673-CB28-492C-9587-1F4ED27B8BDD}" type="presParOf" srcId="{14DE15E3-714F-4E18-B9E1-4F6EC9E3EAD0}" destId="{BE2EA043-2FF2-4EBF-932B-2AFF39175228}" srcOrd="3" destOrd="0" presId="urn:microsoft.com/office/officeart/2005/8/layout/pyramid1"/>
    <dgm:cxn modelId="{91A0E0F5-A173-4CF5-A099-A97E2B7114E8}" type="presParOf" srcId="{BE2EA043-2FF2-4EBF-932B-2AFF39175228}" destId="{7748225C-C4CD-486D-BA1F-800159DFA14F}" srcOrd="0" destOrd="0" presId="urn:microsoft.com/office/officeart/2005/8/layout/pyramid1"/>
    <dgm:cxn modelId="{91A69340-F906-41F9-B96E-E99BF7C46045}" type="presParOf" srcId="{BE2EA043-2FF2-4EBF-932B-2AFF39175228}" destId="{7B1F4C4D-C02E-440A-BE46-4BB6463E7430}" srcOrd="1" destOrd="0" presId="urn:microsoft.com/office/officeart/2005/8/layout/pyramid1"/>
    <dgm:cxn modelId="{93350B47-D22D-4AF4-B005-B91B42EFFEEE}" type="presParOf" srcId="{14DE15E3-714F-4E18-B9E1-4F6EC9E3EAD0}" destId="{C4D91CD7-AF6C-457A-956B-5618702B3A99}" srcOrd="4" destOrd="0" presId="urn:microsoft.com/office/officeart/2005/8/layout/pyramid1"/>
    <dgm:cxn modelId="{63AA4983-5F7D-483A-92C5-7750B3786257}" type="presParOf" srcId="{C4D91CD7-AF6C-457A-956B-5618702B3A99}" destId="{954302FF-B5EB-4E43-8D63-1463978C5D5C}" srcOrd="0" destOrd="0" presId="urn:microsoft.com/office/officeart/2005/8/layout/pyramid1"/>
    <dgm:cxn modelId="{70530474-4015-42A5-A1C6-5D72F13FD09A}" type="presParOf" srcId="{C4D91CD7-AF6C-457A-956B-5618702B3A99}" destId="{984674A2-108A-427C-9E06-D82E4C05916C}"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BDEC02-1E04-489B-8A7D-DCF1163C1E0E}" type="doc">
      <dgm:prSet loTypeId="urn:microsoft.com/office/officeart/2008/layout/LinedList" loCatId="list" qsTypeId="urn:microsoft.com/office/officeart/2005/8/quickstyle/3d4" qsCatId="3D" csTypeId="urn:microsoft.com/office/officeart/2005/8/colors/accent1_2" csCatId="accent1" phldr="1"/>
      <dgm:spPr/>
      <dgm:t>
        <a:bodyPr/>
        <a:lstStyle/>
        <a:p>
          <a:endParaRPr kumimoji="1" lang="ja-JP" altLang="en-US"/>
        </a:p>
      </dgm:t>
    </dgm:pt>
    <dgm:pt modelId="{9BAE621C-85FD-4EF4-98D5-9773365BE895}">
      <dgm:prSet phldrT="[テキスト]" phldr="0"/>
      <dgm:spPr/>
      <dgm:t>
        <a:bodyPr/>
        <a:lstStyle/>
        <a:p>
          <a:r>
            <a:rPr kumimoji="1" lang="en-US" altLang="ja-JP"/>
            <a:t> </a:t>
          </a:r>
          <a:endParaRPr kumimoji="1" lang="ja-JP" altLang="en-US"/>
        </a:p>
      </dgm:t>
    </dgm:pt>
    <dgm:pt modelId="{2079D1AC-190A-4A78-907B-B4F427573FC5}" type="parTrans" cxnId="{05B8F360-92A5-4A05-BA0B-C8815BA47E83}">
      <dgm:prSet/>
      <dgm:spPr/>
      <dgm:t>
        <a:bodyPr/>
        <a:lstStyle/>
        <a:p>
          <a:endParaRPr kumimoji="1" lang="ja-JP" altLang="en-US"/>
        </a:p>
      </dgm:t>
    </dgm:pt>
    <dgm:pt modelId="{066B3450-B211-4364-9F81-12F3B5E3AF4A}" type="sibTrans" cxnId="{05B8F360-92A5-4A05-BA0B-C8815BA47E83}">
      <dgm:prSet/>
      <dgm:spPr/>
      <dgm:t>
        <a:bodyPr/>
        <a:lstStyle/>
        <a:p>
          <a:endParaRPr kumimoji="1" lang="ja-JP" altLang="en-US"/>
        </a:p>
      </dgm:t>
    </dgm:pt>
    <dgm:pt modelId="{802E800C-54D5-49E4-9759-0070351868D4}">
      <dgm:prSet phldrT="[テキスト]" phldr="0"/>
      <dgm:spPr/>
      <dgm:t>
        <a:bodyPr/>
        <a:lstStyle/>
        <a:p>
          <a:r>
            <a:rPr kumimoji="1" lang="en-US" altLang="ja-JP"/>
            <a:t> </a:t>
          </a:r>
          <a:endParaRPr kumimoji="1" lang="ja-JP" altLang="en-US"/>
        </a:p>
      </dgm:t>
    </dgm:pt>
    <dgm:pt modelId="{7D18EF6E-B533-4DB6-9E51-4A5E536B448D}" type="parTrans" cxnId="{3FFEE9C1-80D0-4622-9FE2-FC152B9112D3}">
      <dgm:prSet/>
      <dgm:spPr/>
      <dgm:t>
        <a:bodyPr/>
        <a:lstStyle/>
        <a:p>
          <a:endParaRPr kumimoji="1" lang="ja-JP" altLang="en-US"/>
        </a:p>
      </dgm:t>
    </dgm:pt>
    <dgm:pt modelId="{06AB1356-3E01-4360-B97E-118BFEEE1282}" type="sibTrans" cxnId="{3FFEE9C1-80D0-4622-9FE2-FC152B9112D3}">
      <dgm:prSet/>
      <dgm:spPr/>
      <dgm:t>
        <a:bodyPr/>
        <a:lstStyle/>
        <a:p>
          <a:endParaRPr kumimoji="1" lang="ja-JP" altLang="en-US"/>
        </a:p>
      </dgm:t>
    </dgm:pt>
    <dgm:pt modelId="{4C967FBB-A403-46E7-B7C3-CD546C651919}">
      <dgm:prSet phldrT="[テキスト]" phldr="0"/>
      <dgm:spPr/>
      <dgm:t>
        <a:bodyPr/>
        <a:lstStyle/>
        <a:p>
          <a:r>
            <a:rPr kumimoji="1" lang="en-US" altLang="ja-JP"/>
            <a:t> </a:t>
          </a:r>
          <a:endParaRPr kumimoji="1" lang="ja-JP" altLang="en-US"/>
        </a:p>
      </dgm:t>
    </dgm:pt>
    <dgm:pt modelId="{7BACB405-908A-43F9-86AA-2E24196487F3}" type="parTrans" cxnId="{9C2ACBF1-C921-4988-8D3D-40212F5DFABF}">
      <dgm:prSet/>
      <dgm:spPr/>
      <dgm:t>
        <a:bodyPr/>
        <a:lstStyle/>
        <a:p>
          <a:endParaRPr kumimoji="1" lang="ja-JP" altLang="en-US"/>
        </a:p>
      </dgm:t>
    </dgm:pt>
    <dgm:pt modelId="{CD19B6C7-F747-428C-88A9-1FFAC9F4CEE8}" type="sibTrans" cxnId="{9C2ACBF1-C921-4988-8D3D-40212F5DFABF}">
      <dgm:prSet/>
      <dgm:spPr/>
      <dgm:t>
        <a:bodyPr/>
        <a:lstStyle/>
        <a:p>
          <a:endParaRPr kumimoji="1" lang="ja-JP" altLang="en-US"/>
        </a:p>
      </dgm:t>
    </dgm:pt>
    <dgm:pt modelId="{2B4E5A67-7FEF-4D29-8DEF-FB9231B88EFD}">
      <dgm:prSet phldrT="[テキスト]" phldr="0"/>
      <dgm:spPr/>
      <dgm:t>
        <a:bodyPr/>
        <a:lstStyle/>
        <a:p>
          <a:endParaRPr kumimoji="1" lang="ja-JP" altLang="en-US"/>
        </a:p>
      </dgm:t>
    </dgm:pt>
    <dgm:pt modelId="{AAA6783D-9401-4A8E-8ACE-3F557EA96ED1}" type="parTrans" cxnId="{69E6891E-CA0F-4407-8319-06965E64FC9F}">
      <dgm:prSet/>
      <dgm:spPr/>
      <dgm:t>
        <a:bodyPr/>
        <a:lstStyle/>
        <a:p>
          <a:endParaRPr kumimoji="1" lang="ja-JP" altLang="en-US"/>
        </a:p>
      </dgm:t>
    </dgm:pt>
    <dgm:pt modelId="{949FCE2B-D13A-4B63-9C60-175F72FD8AE1}" type="sibTrans" cxnId="{69E6891E-CA0F-4407-8319-06965E64FC9F}">
      <dgm:prSet/>
      <dgm:spPr/>
      <dgm:t>
        <a:bodyPr/>
        <a:lstStyle/>
        <a:p>
          <a:endParaRPr kumimoji="1" lang="ja-JP" altLang="en-US"/>
        </a:p>
      </dgm:t>
    </dgm:pt>
    <dgm:pt modelId="{DDEA98F3-6966-4759-A8B8-1B4454AC960E}" type="pres">
      <dgm:prSet presAssocID="{D1BDEC02-1E04-489B-8A7D-DCF1163C1E0E}" presName="vert0" presStyleCnt="0">
        <dgm:presLayoutVars>
          <dgm:dir/>
          <dgm:animOne val="branch"/>
          <dgm:animLvl val="lvl"/>
        </dgm:presLayoutVars>
      </dgm:prSet>
      <dgm:spPr/>
    </dgm:pt>
    <dgm:pt modelId="{88D451D2-F5AD-46D0-AAE6-69DBD1FCFB11}" type="pres">
      <dgm:prSet presAssocID="{9BAE621C-85FD-4EF4-98D5-9773365BE895}" presName="thickLine" presStyleLbl="alignNode1" presStyleIdx="0" presStyleCnt="4"/>
      <dgm:spPr/>
    </dgm:pt>
    <dgm:pt modelId="{31923595-7CE3-41C7-93CC-208E700E9794}" type="pres">
      <dgm:prSet presAssocID="{9BAE621C-85FD-4EF4-98D5-9773365BE895}" presName="horz1" presStyleCnt="0"/>
      <dgm:spPr/>
    </dgm:pt>
    <dgm:pt modelId="{033511DD-5EEE-41DA-BF59-C13A467A274E}" type="pres">
      <dgm:prSet presAssocID="{9BAE621C-85FD-4EF4-98D5-9773365BE895}" presName="tx1" presStyleLbl="revTx" presStyleIdx="0" presStyleCnt="4"/>
      <dgm:spPr/>
    </dgm:pt>
    <dgm:pt modelId="{5297CE30-820E-4750-A2E0-C33080D93DEC}" type="pres">
      <dgm:prSet presAssocID="{9BAE621C-85FD-4EF4-98D5-9773365BE895}" presName="vert1" presStyleCnt="0"/>
      <dgm:spPr/>
    </dgm:pt>
    <dgm:pt modelId="{B534CC81-D544-485B-B591-BE04799EBE70}" type="pres">
      <dgm:prSet presAssocID="{802E800C-54D5-49E4-9759-0070351868D4}" presName="thickLine" presStyleLbl="alignNode1" presStyleIdx="1" presStyleCnt="4"/>
      <dgm:spPr/>
    </dgm:pt>
    <dgm:pt modelId="{06C0F31E-69AE-452D-ACB2-FEC6D7F86059}" type="pres">
      <dgm:prSet presAssocID="{802E800C-54D5-49E4-9759-0070351868D4}" presName="horz1" presStyleCnt="0"/>
      <dgm:spPr/>
    </dgm:pt>
    <dgm:pt modelId="{CF91D821-A7E9-4C40-8C26-80FCB42C65CE}" type="pres">
      <dgm:prSet presAssocID="{802E800C-54D5-49E4-9759-0070351868D4}" presName="tx1" presStyleLbl="revTx" presStyleIdx="1" presStyleCnt="4"/>
      <dgm:spPr/>
    </dgm:pt>
    <dgm:pt modelId="{E8699A8F-02CB-47DF-AE63-1D5183FDA20E}" type="pres">
      <dgm:prSet presAssocID="{802E800C-54D5-49E4-9759-0070351868D4}" presName="vert1" presStyleCnt="0"/>
      <dgm:spPr/>
    </dgm:pt>
    <dgm:pt modelId="{747ECCE7-4A3C-46AA-8588-B6E7659DE52D}" type="pres">
      <dgm:prSet presAssocID="{4C967FBB-A403-46E7-B7C3-CD546C651919}" presName="thickLine" presStyleLbl="alignNode1" presStyleIdx="2" presStyleCnt="4"/>
      <dgm:spPr/>
    </dgm:pt>
    <dgm:pt modelId="{15388A25-26F5-40E9-B1AE-3653029B5D4D}" type="pres">
      <dgm:prSet presAssocID="{4C967FBB-A403-46E7-B7C3-CD546C651919}" presName="horz1" presStyleCnt="0"/>
      <dgm:spPr/>
    </dgm:pt>
    <dgm:pt modelId="{B4AFB9D9-62E7-4904-AAEF-F8A301C995B0}" type="pres">
      <dgm:prSet presAssocID="{4C967FBB-A403-46E7-B7C3-CD546C651919}" presName="tx1" presStyleLbl="revTx" presStyleIdx="2" presStyleCnt="4"/>
      <dgm:spPr/>
    </dgm:pt>
    <dgm:pt modelId="{E77ABD83-86E8-465E-A75C-B33F7E472DB5}" type="pres">
      <dgm:prSet presAssocID="{4C967FBB-A403-46E7-B7C3-CD546C651919}" presName="vert1" presStyleCnt="0"/>
      <dgm:spPr/>
    </dgm:pt>
    <dgm:pt modelId="{E8DC76D6-D64F-406E-83B5-380CEF60FB29}" type="pres">
      <dgm:prSet presAssocID="{2B4E5A67-7FEF-4D29-8DEF-FB9231B88EFD}" presName="thickLine" presStyleLbl="alignNode1" presStyleIdx="3" presStyleCnt="4"/>
      <dgm:spPr/>
    </dgm:pt>
    <dgm:pt modelId="{F1F0D1DE-A907-4145-A2CC-42BC47E863E7}" type="pres">
      <dgm:prSet presAssocID="{2B4E5A67-7FEF-4D29-8DEF-FB9231B88EFD}" presName="horz1" presStyleCnt="0"/>
      <dgm:spPr/>
    </dgm:pt>
    <dgm:pt modelId="{A54B5C3B-0ED3-448A-8A31-BE1A1122F94D}" type="pres">
      <dgm:prSet presAssocID="{2B4E5A67-7FEF-4D29-8DEF-FB9231B88EFD}" presName="tx1" presStyleLbl="revTx" presStyleIdx="3" presStyleCnt="4"/>
      <dgm:spPr/>
    </dgm:pt>
    <dgm:pt modelId="{6D267EDE-5F67-4028-9ABA-2026EE7A8221}" type="pres">
      <dgm:prSet presAssocID="{2B4E5A67-7FEF-4D29-8DEF-FB9231B88EFD}" presName="vert1" presStyleCnt="0"/>
      <dgm:spPr/>
    </dgm:pt>
  </dgm:ptLst>
  <dgm:cxnLst>
    <dgm:cxn modelId="{69E6891E-CA0F-4407-8319-06965E64FC9F}" srcId="{D1BDEC02-1E04-489B-8A7D-DCF1163C1E0E}" destId="{2B4E5A67-7FEF-4D29-8DEF-FB9231B88EFD}" srcOrd="3" destOrd="0" parTransId="{AAA6783D-9401-4A8E-8ACE-3F557EA96ED1}" sibTransId="{949FCE2B-D13A-4B63-9C60-175F72FD8AE1}"/>
    <dgm:cxn modelId="{95084830-63CC-405B-8C8E-5C1AB207AAF1}" type="presOf" srcId="{802E800C-54D5-49E4-9759-0070351868D4}" destId="{CF91D821-A7E9-4C40-8C26-80FCB42C65CE}" srcOrd="0" destOrd="0" presId="urn:microsoft.com/office/officeart/2008/layout/LinedList"/>
    <dgm:cxn modelId="{748E265F-C3F7-4E97-AD95-5A0C18A1FA14}" type="presOf" srcId="{2B4E5A67-7FEF-4D29-8DEF-FB9231B88EFD}" destId="{A54B5C3B-0ED3-448A-8A31-BE1A1122F94D}" srcOrd="0" destOrd="0" presId="urn:microsoft.com/office/officeart/2008/layout/LinedList"/>
    <dgm:cxn modelId="{05B8F360-92A5-4A05-BA0B-C8815BA47E83}" srcId="{D1BDEC02-1E04-489B-8A7D-DCF1163C1E0E}" destId="{9BAE621C-85FD-4EF4-98D5-9773365BE895}" srcOrd="0" destOrd="0" parTransId="{2079D1AC-190A-4A78-907B-B4F427573FC5}" sibTransId="{066B3450-B211-4364-9F81-12F3B5E3AF4A}"/>
    <dgm:cxn modelId="{86B0F780-6348-4629-AB33-7EB8D9FB1D62}" type="presOf" srcId="{4C967FBB-A403-46E7-B7C3-CD546C651919}" destId="{B4AFB9D9-62E7-4904-AAEF-F8A301C995B0}" srcOrd="0" destOrd="0" presId="urn:microsoft.com/office/officeart/2008/layout/LinedList"/>
    <dgm:cxn modelId="{C5539C87-E76B-4563-AB28-690154A93B1F}" type="presOf" srcId="{D1BDEC02-1E04-489B-8A7D-DCF1163C1E0E}" destId="{DDEA98F3-6966-4759-A8B8-1B4454AC960E}" srcOrd="0" destOrd="0" presId="urn:microsoft.com/office/officeart/2008/layout/LinedList"/>
    <dgm:cxn modelId="{3FFEE9C1-80D0-4622-9FE2-FC152B9112D3}" srcId="{D1BDEC02-1E04-489B-8A7D-DCF1163C1E0E}" destId="{802E800C-54D5-49E4-9759-0070351868D4}" srcOrd="1" destOrd="0" parTransId="{7D18EF6E-B533-4DB6-9E51-4A5E536B448D}" sibTransId="{06AB1356-3E01-4360-B97E-118BFEEE1282}"/>
    <dgm:cxn modelId="{243F36E2-E43C-4CDA-835F-998327CCB4C6}" type="presOf" srcId="{9BAE621C-85FD-4EF4-98D5-9773365BE895}" destId="{033511DD-5EEE-41DA-BF59-C13A467A274E}" srcOrd="0" destOrd="0" presId="urn:microsoft.com/office/officeart/2008/layout/LinedList"/>
    <dgm:cxn modelId="{9C2ACBF1-C921-4988-8D3D-40212F5DFABF}" srcId="{D1BDEC02-1E04-489B-8A7D-DCF1163C1E0E}" destId="{4C967FBB-A403-46E7-B7C3-CD546C651919}" srcOrd="2" destOrd="0" parTransId="{7BACB405-908A-43F9-86AA-2E24196487F3}" sibTransId="{CD19B6C7-F747-428C-88A9-1FFAC9F4CEE8}"/>
    <dgm:cxn modelId="{01FA2587-1049-44F8-BCFE-3671D4A5A7BF}" type="presParOf" srcId="{DDEA98F3-6966-4759-A8B8-1B4454AC960E}" destId="{88D451D2-F5AD-46D0-AAE6-69DBD1FCFB11}" srcOrd="0" destOrd="0" presId="urn:microsoft.com/office/officeart/2008/layout/LinedList"/>
    <dgm:cxn modelId="{AF235CAC-7D44-43F0-ACFC-300D1463A697}" type="presParOf" srcId="{DDEA98F3-6966-4759-A8B8-1B4454AC960E}" destId="{31923595-7CE3-41C7-93CC-208E700E9794}" srcOrd="1" destOrd="0" presId="urn:microsoft.com/office/officeart/2008/layout/LinedList"/>
    <dgm:cxn modelId="{0F6DF967-8F34-43B9-A12A-28B38661F6FB}" type="presParOf" srcId="{31923595-7CE3-41C7-93CC-208E700E9794}" destId="{033511DD-5EEE-41DA-BF59-C13A467A274E}" srcOrd="0" destOrd="0" presId="urn:microsoft.com/office/officeart/2008/layout/LinedList"/>
    <dgm:cxn modelId="{A65B5242-12FB-4167-805D-4529369FC122}" type="presParOf" srcId="{31923595-7CE3-41C7-93CC-208E700E9794}" destId="{5297CE30-820E-4750-A2E0-C33080D93DEC}" srcOrd="1" destOrd="0" presId="urn:microsoft.com/office/officeart/2008/layout/LinedList"/>
    <dgm:cxn modelId="{8DBF0A53-85F6-40D3-BF4A-54FD06539943}" type="presParOf" srcId="{DDEA98F3-6966-4759-A8B8-1B4454AC960E}" destId="{B534CC81-D544-485B-B591-BE04799EBE70}" srcOrd="2" destOrd="0" presId="urn:microsoft.com/office/officeart/2008/layout/LinedList"/>
    <dgm:cxn modelId="{F41CB86A-CE95-4BEC-971D-D4F288183956}" type="presParOf" srcId="{DDEA98F3-6966-4759-A8B8-1B4454AC960E}" destId="{06C0F31E-69AE-452D-ACB2-FEC6D7F86059}" srcOrd="3" destOrd="0" presId="urn:microsoft.com/office/officeart/2008/layout/LinedList"/>
    <dgm:cxn modelId="{A7AAD2CC-7EAF-4578-9162-9DEEA530FF54}" type="presParOf" srcId="{06C0F31E-69AE-452D-ACB2-FEC6D7F86059}" destId="{CF91D821-A7E9-4C40-8C26-80FCB42C65CE}" srcOrd="0" destOrd="0" presId="urn:microsoft.com/office/officeart/2008/layout/LinedList"/>
    <dgm:cxn modelId="{D17513F4-2AC9-41FA-8920-C6F26B09FD11}" type="presParOf" srcId="{06C0F31E-69AE-452D-ACB2-FEC6D7F86059}" destId="{E8699A8F-02CB-47DF-AE63-1D5183FDA20E}" srcOrd="1" destOrd="0" presId="urn:microsoft.com/office/officeart/2008/layout/LinedList"/>
    <dgm:cxn modelId="{89E83E53-58DB-4113-9309-F23915764B99}" type="presParOf" srcId="{DDEA98F3-6966-4759-A8B8-1B4454AC960E}" destId="{747ECCE7-4A3C-46AA-8588-B6E7659DE52D}" srcOrd="4" destOrd="0" presId="urn:microsoft.com/office/officeart/2008/layout/LinedList"/>
    <dgm:cxn modelId="{AC86C1B4-719E-4C6C-9413-0F6047F23326}" type="presParOf" srcId="{DDEA98F3-6966-4759-A8B8-1B4454AC960E}" destId="{15388A25-26F5-40E9-B1AE-3653029B5D4D}" srcOrd="5" destOrd="0" presId="urn:microsoft.com/office/officeart/2008/layout/LinedList"/>
    <dgm:cxn modelId="{6EFF322D-5B51-4ED6-92B4-68725D56C03F}" type="presParOf" srcId="{15388A25-26F5-40E9-B1AE-3653029B5D4D}" destId="{B4AFB9D9-62E7-4904-AAEF-F8A301C995B0}" srcOrd="0" destOrd="0" presId="urn:microsoft.com/office/officeart/2008/layout/LinedList"/>
    <dgm:cxn modelId="{43DFFDE3-0AB5-4ED2-881A-E23770F8DF0A}" type="presParOf" srcId="{15388A25-26F5-40E9-B1AE-3653029B5D4D}" destId="{E77ABD83-86E8-465E-A75C-B33F7E472DB5}" srcOrd="1" destOrd="0" presId="urn:microsoft.com/office/officeart/2008/layout/LinedList"/>
    <dgm:cxn modelId="{0FB99CEB-B33F-4545-B75F-46D53D428BB2}" type="presParOf" srcId="{DDEA98F3-6966-4759-A8B8-1B4454AC960E}" destId="{E8DC76D6-D64F-406E-83B5-380CEF60FB29}" srcOrd="6" destOrd="0" presId="urn:microsoft.com/office/officeart/2008/layout/LinedList"/>
    <dgm:cxn modelId="{1CBAEF8E-0012-44B7-A364-0AD8EA3BDC54}" type="presParOf" srcId="{DDEA98F3-6966-4759-A8B8-1B4454AC960E}" destId="{F1F0D1DE-A907-4145-A2CC-42BC47E863E7}" srcOrd="7" destOrd="0" presId="urn:microsoft.com/office/officeart/2008/layout/LinedList"/>
    <dgm:cxn modelId="{CDE89FF5-3FFF-48F8-9CF5-2557BB091C4C}" type="presParOf" srcId="{F1F0D1DE-A907-4145-A2CC-42BC47E863E7}" destId="{A54B5C3B-0ED3-448A-8A31-BE1A1122F94D}" srcOrd="0" destOrd="0" presId="urn:microsoft.com/office/officeart/2008/layout/LinedList"/>
    <dgm:cxn modelId="{59C03619-9D74-4543-B2BE-82CD92E8756E}" type="presParOf" srcId="{F1F0D1DE-A907-4145-A2CC-42BC47E863E7}" destId="{6D267EDE-5F67-4028-9ABA-2026EE7A8221}"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1BDEC02-1E04-489B-8A7D-DCF1163C1E0E}" type="doc">
      <dgm:prSet loTypeId="urn:microsoft.com/office/officeart/2008/layout/LinedList" loCatId="list" qsTypeId="urn:microsoft.com/office/officeart/2005/8/quickstyle/3d4" qsCatId="3D" csTypeId="urn:microsoft.com/office/officeart/2005/8/colors/accent1_2" csCatId="accent1" phldr="1"/>
      <dgm:spPr/>
      <dgm:t>
        <a:bodyPr/>
        <a:lstStyle/>
        <a:p>
          <a:endParaRPr kumimoji="1" lang="ja-JP" altLang="en-US"/>
        </a:p>
      </dgm:t>
    </dgm:pt>
    <dgm:pt modelId="{9BAE621C-85FD-4EF4-98D5-9773365BE895}">
      <dgm:prSet phldrT="[テキスト]" phldr="0" custT="1"/>
      <dgm:spPr/>
      <dgm:t>
        <a:bodyPr anchor="ctr"/>
        <a:lstStyle/>
        <a:p>
          <a:r>
            <a:rPr kumimoji="1" lang="ja-JP" altLang="en-US" sz="1200" dirty="0">
              <a:latin typeface="游ゴシック Medium" panose="020B0500000000000000" pitchFamily="50" charset="-128"/>
              <a:ea typeface="游ゴシック Medium" panose="020B0500000000000000" pitchFamily="50" charset="-128"/>
            </a:rPr>
            <a:t>パートナーを体制で参画させるため、マッチングへの課題感が薄い</a:t>
          </a:r>
          <a:endParaRPr kumimoji="1" lang="en-US" altLang="ja-JP" sz="1200" dirty="0">
            <a:latin typeface="游ゴシック Medium" panose="020B0500000000000000" pitchFamily="50" charset="-128"/>
            <a:ea typeface="游ゴシック Medium" panose="020B0500000000000000" pitchFamily="50" charset="-128"/>
          </a:endParaRPr>
        </a:p>
        <a:p>
          <a:r>
            <a:rPr kumimoji="1" lang="ja-JP" altLang="en-US" sz="1200" dirty="0">
              <a:latin typeface="游ゴシック Medium" panose="020B0500000000000000" pitchFamily="50" charset="-128"/>
              <a:ea typeface="游ゴシック Medium" panose="020B0500000000000000" pitchFamily="50" charset="-128"/>
            </a:rPr>
            <a:t>そのため他機能によるアプローチが必要な上、大手ベンダはツール導入自体のハードルも高いため直近の</a:t>
          </a:r>
          <a:r>
            <a:rPr kumimoji="1" lang="ja-JP" altLang="en-US" sz="1200" u="sng" dirty="0">
              <a:latin typeface="游ゴシック Medium" panose="020B0500000000000000" pitchFamily="50" charset="-128"/>
              <a:ea typeface="游ゴシック Medium" panose="020B0500000000000000" pitchFamily="50" charset="-128"/>
            </a:rPr>
            <a:t>ターゲットにはならない</a:t>
          </a:r>
          <a:endParaRPr kumimoji="1" lang="en-US" altLang="ja-JP" sz="1200" u="sng" dirty="0">
            <a:latin typeface="游ゴシック Medium" panose="020B0500000000000000" pitchFamily="50" charset="-128"/>
            <a:ea typeface="游ゴシック Medium" panose="020B0500000000000000" pitchFamily="50" charset="-128"/>
          </a:endParaRPr>
        </a:p>
      </dgm:t>
    </dgm:pt>
    <dgm:pt modelId="{2079D1AC-190A-4A78-907B-B4F427573FC5}" type="parTrans" cxnId="{05B8F360-92A5-4A05-BA0B-C8815BA47E83}">
      <dgm:prSet/>
      <dgm:spPr/>
      <dgm:t>
        <a:bodyPr/>
        <a:lstStyle/>
        <a:p>
          <a:endParaRPr kumimoji="1" lang="ja-JP" altLang="en-US" sz="1200">
            <a:latin typeface="游ゴシック Medium" panose="020B0500000000000000" pitchFamily="50" charset="-128"/>
            <a:ea typeface="游ゴシック Medium" panose="020B0500000000000000" pitchFamily="50" charset="-128"/>
          </a:endParaRPr>
        </a:p>
      </dgm:t>
    </dgm:pt>
    <dgm:pt modelId="{066B3450-B211-4364-9F81-12F3B5E3AF4A}" type="sibTrans" cxnId="{05B8F360-92A5-4A05-BA0B-C8815BA47E83}">
      <dgm:prSet/>
      <dgm:spPr/>
      <dgm:t>
        <a:bodyPr/>
        <a:lstStyle/>
        <a:p>
          <a:endParaRPr kumimoji="1" lang="ja-JP" altLang="en-US" sz="1200">
            <a:latin typeface="游ゴシック Medium" panose="020B0500000000000000" pitchFamily="50" charset="-128"/>
            <a:ea typeface="游ゴシック Medium" panose="020B0500000000000000" pitchFamily="50" charset="-128"/>
          </a:endParaRPr>
        </a:p>
      </dgm:t>
    </dgm:pt>
    <dgm:pt modelId="{802E800C-54D5-49E4-9759-0070351868D4}">
      <dgm:prSet phldrT="[テキスト]" phldr="0" custT="1"/>
      <dgm:spPr/>
      <dgm:t>
        <a:bodyPr anchor="ctr"/>
        <a:lstStyle/>
        <a:p>
          <a:r>
            <a:rPr kumimoji="1" lang="ja-JP" altLang="en-US" sz="1200" dirty="0">
              <a:latin typeface="游ゴシック Medium" panose="020B0500000000000000" pitchFamily="50" charset="-128"/>
              <a:ea typeface="游ゴシック Medium" panose="020B0500000000000000" pitchFamily="50" charset="-128"/>
            </a:rPr>
            <a:t>要員を個別に見て選定を行うが、マッチングの手間が多く、リスクも高い</a:t>
          </a:r>
          <a:endParaRPr kumimoji="1" lang="en-US" altLang="ja-JP" sz="1200" dirty="0">
            <a:latin typeface="游ゴシック Medium" panose="020B0500000000000000" pitchFamily="50" charset="-128"/>
            <a:ea typeface="游ゴシック Medium" panose="020B0500000000000000" pitchFamily="50" charset="-128"/>
          </a:endParaRPr>
        </a:p>
        <a:p>
          <a:r>
            <a:rPr kumimoji="1" lang="en-US" altLang="ja-JP" sz="1200" u="sng" dirty="0">
              <a:latin typeface="游ゴシック Medium" panose="020B0500000000000000" pitchFamily="50" charset="-128"/>
              <a:ea typeface="游ゴシック Medium" panose="020B0500000000000000" pitchFamily="50" charset="-128"/>
            </a:rPr>
            <a:t>PM</a:t>
          </a:r>
          <a:r>
            <a:rPr kumimoji="1" lang="ja-JP" altLang="en-US" sz="1200" u="sng" dirty="0">
              <a:latin typeface="游ゴシック Medium" panose="020B0500000000000000" pitchFamily="50" charset="-128"/>
              <a:ea typeface="游ゴシック Medium" panose="020B0500000000000000" pitchFamily="50" charset="-128"/>
            </a:rPr>
            <a:t>では処理しきれず</a:t>
          </a:r>
          <a:r>
            <a:rPr kumimoji="1" lang="ja-JP" altLang="en-US" sz="1200" dirty="0">
              <a:latin typeface="游ゴシック Medium" panose="020B0500000000000000" pitchFamily="50" charset="-128"/>
              <a:ea typeface="游ゴシック Medium" panose="020B0500000000000000" pitchFamily="50" charset="-128"/>
            </a:rPr>
            <a:t>営業が付くが、その</a:t>
          </a:r>
          <a:r>
            <a:rPr kumimoji="1" lang="ja-JP" altLang="en-US" sz="1200" u="sng" dirty="0">
              <a:latin typeface="游ゴシック Medium" panose="020B0500000000000000" pitchFamily="50" charset="-128"/>
              <a:ea typeface="游ゴシック Medium" panose="020B0500000000000000" pitchFamily="50" charset="-128"/>
            </a:rPr>
            <a:t>営業稼働がコスト</a:t>
          </a:r>
          <a:endParaRPr kumimoji="1" lang="en-US" altLang="ja-JP" sz="1200" u="sng" dirty="0">
            <a:latin typeface="游ゴシック Medium" panose="020B0500000000000000" pitchFamily="50" charset="-128"/>
            <a:ea typeface="游ゴシック Medium" panose="020B0500000000000000" pitchFamily="50" charset="-128"/>
          </a:endParaRPr>
        </a:p>
        <a:p>
          <a:r>
            <a:rPr kumimoji="1" lang="ja-JP" altLang="en-US" sz="1200" dirty="0">
              <a:latin typeface="游ゴシック Medium" panose="020B0500000000000000" pitchFamily="50" charset="-128"/>
              <a:ea typeface="游ゴシック Medium" panose="020B0500000000000000" pitchFamily="50" charset="-128"/>
            </a:rPr>
            <a:t>本プロダクトの買い手側となる</a:t>
          </a:r>
          <a:endParaRPr kumimoji="1" lang="en-US" altLang="ja-JP" sz="1200" b="1" u="none" dirty="0">
            <a:solidFill>
              <a:srgbClr val="FF0000"/>
            </a:solidFill>
            <a:latin typeface="游ゴシック Medium" panose="020B0500000000000000" pitchFamily="50" charset="-128"/>
            <a:ea typeface="游ゴシック Medium" panose="020B0500000000000000" pitchFamily="50" charset="-128"/>
          </a:endParaRPr>
        </a:p>
      </dgm:t>
    </dgm:pt>
    <dgm:pt modelId="{7D18EF6E-B533-4DB6-9E51-4A5E536B448D}" type="parTrans" cxnId="{3FFEE9C1-80D0-4622-9FE2-FC152B9112D3}">
      <dgm:prSet/>
      <dgm:spPr/>
      <dgm:t>
        <a:bodyPr/>
        <a:lstStyle/>
        <a:p>
          <a:endParaRPr kumimoji="1" lang="ja-JP" altLang="en-US" sz="1200">
            <a:latin typeface="游ゴシック Medium" panose="020B0500000000000000" pitchFamily="50" charset="-128"/>
            <a:ea typeface="游ゴシック Medium" panose="020B0500000000000000" pitchFamily="50" charset="-128"/>
          </a:endParaRPr>
        </a:p>
      </dgm:t>
    </dgm:pt>
    <dgm:pt modelId="{06AB1356-3E01-4360-B97E-118BFEEE1282}" type="sibTrans" cxnId="{3FFEE9C1-80D0-4622-9FE2-FC152B9112D3}">
      <dgm:prSet/>
      <dgm:spPr/>
      <dgm:t>
        <a:bodyPr/>
        <a:lstStyle/>
        <a:p>
          <a:endParaRPr kumimoji="1" lang="ja-JP" altLang="en-US" sz="1200">
            <a:latin typeface="游ゴシック Medium" panose="020B0500000000000000" pitchFamily="50" charset="-128"/>
            <a:ea typeface="游ゴシック Medium" panose="020B0500000000000000" pitchFamily="50" charset="-128"/>
          </a:endParaRPr>
        </a:p>
      </dgm:t>
    </dgm:pt>
    <dgm:pt modelId="{4C967FBB-A403-46E7-B7C3-CD546C651919}">
      <dgm:prSet phldrT="[テキスト]" phldr="0" custT="1"/>
      <dgm:spPr/>
      <dgm:t>
        <a:bodyPr anchor="ctr"/>
        <a:lstStyle/>
        <a:p>
          <a:r>
            <a:rPr kumimoji="1" lang="ja-JP" altLang="en-US" sz="1200" kern="1200" dirty="0">
              <a:latin typeface="游ゴシック Medium" panose="020B0500000000000000" pitchFamily="50" charset="-128"/>
              <a:ea typeface="游ゴシック Medium" panose="020B0500000000000000" pitchFamily="50" charset="-128"/>
            </a:rPr>
            <a:t>案件</a:t>
          </a:r>
          <a:r>
            <a:rPr kumimoji="1" lang="en-US" altLang="ja-JP" sz="1200" kern="1200" dirty="0">
              <a:latin typeface="游ゴシック Medium" panose="020B0500000000000000" pitchFamily="50" charset="-128"/>
              <a:ea typeface="游ゴシック Medium" panose="020B0500000000000000" pitchFamily="50" charset="-128"/>
            </a:rPr>
            <a:t>/</a:t>
          </a:r>
          <a:r>
            <a:rPr kumimoji="1" lang="ja-JP" altLang="en-US" sz="1200" kern="1200" dirty="0">
              <a:latin typeface="游ゴシック Medium" panose="020B0500000000000000" pitchFamily="50" charset="-128"/>
              <a:ea typeface="游ゴシック Medium" panose="020B0500000000000000" pitchFamily="50" charset="-128"/>
            </a:rPr>
            <a:t>要員情報を転送してマッチングの中抜きを狙うモデルの会社</a:t>
          </a:r>
          <a:endParaRPr kumimoji="1" lang="en-US" altLang="ja-JP" sz="1200" kern="1200" dirty="0">
            <a:latin typeface="游ゴシック Medium" panose="020B0500000000000000" pitchFamily="50" charset="-128"/>
            <a:ea typeface="游ゴシック Medium" panose="020B0500000000000000" pitchFamily="50" charset="-128"/>
          </a:endParaRPr>
        </a:p>
        <a:p>
          <a:r>
            <a:rPr kumimoji="1" lang="ja-JP" altLang="en-US" sz="1200" b="0" kern="1200" dirty="0">
              <a:solidFill>
                <a:schemeClr val="tx1"/>
              </a:solidFill>
              <a:latin typeface="游ゴシック Medium" panose="020B0500000000000000" pitchFamily="50" charset="-128"/>
              <a:ea typeface="游ゴシック Medium" panose="020B0500000000000000" pitchFamily="50" charset="-128"/>
              <a:cs typeface="+mn-cs"/>
            </a:rPr>
            <a:t>大量の情報が届いており、</a:t>
          </a:r>
          <a:r>
            <a:rPr kumimoji="1" lang="ja-JP" altLang="en-US" sz="1200" b="0" u="sng" kern="1200" dirty="0">
              <a:solidFill>
                <a:schemeClr val="tx1"/>
              </a:solidFill>
              <a:latin typeface="游ゴシック Medium" panose="020B0500000000000000" pitchFamily="50" charset="-128"/>
              <a:ea typeface="游ゴシック Medium" panose="020B0500000000000000" pitchFamily="50" charset="-128"/>
              <a:cs typeface="+mn-cs"/>
            </a:rPr>
            <a:t>機会損失も多く発生</a:t>
          </a:r>
          <a:r>
            <a:rPr kumimoji="1" lang="ja-JP" altLang="en-US" sz="1200" b="0" kern="1200" dirty="0">
              <a:solidFill>
                <a:schemeClr val="tx1"/>
              </a:solidFill>
              <a:latin typeface="游ゴシック Medium" panose="020B0500000000000000" pitchFamily="50" charset="-128"/>
              <a:ea typeface="游ゴシック Medium" panose="020B0500000000000000" pitchFamily="50" charset="-128"/>
              <a:cs typeface="+mn-cs"/>
            </a:rPr>
            <a:t>している</a:t>
          </a:r>
          <a:endParaRPr kumimoji="1" lang="en-US" altLang="ja-JP" sz="1200" b="0" kern="1200" dirty="0">
            <a:solidFill>
              <a:schemeClr val="tx1"/>
            </a:solidFill>
            <a:latin typeface="游ゴシック Medium" panose="020B0500000000000000" pitchFamily="50" charset="-128"/>
            <a:ea typeface="游ゴシック Medium" panose="020B0500000000000000" pitchFamily="50" charset="-128"/>
            <a:cs typeface="+mn-cs"/>
          </a:endParaRPr>
        </a:p>
        <a:p>
          <a:r>
            <a:rPr kumimoji="1" lang="en-US" altLang="ja-JP" sz="1200" b="0" kern="1200" dirty="0">
              <a:solidFill>
                <a:schemeClr val="tx1"/>
              </a:solidFill>
              <a:latin typeface="游ゴシック Medium" panose="020B0500000000000000" pitchFamily="50" charset="-128"/>
              <a:ea typeface="游ゴシック Medium" panose="020B0500000000000000" pitchFamily="50" charset="-128"/>
              <a:cs typeface="+mn-cs"/>
            </a:rPr>
            <a:t>SES</a:t>
          </a:r>
          <a:r>
            <a:rPr kumimoji="1" lang="ja-JP" altLang="en-US" sz="1200" b="0" kern="1200" dirty="0">
              <a:solidFill>
                <a:schemeClr val="tx1"/>
              </a:solidFill>
              <a:latin typeface="游ゴシック Medium" panose="020B0500000000000000" pitchFamily="50" charset="-128"/>
              <a:ea typeface="游ゴシック Medium" panose="020B0500000000000000" pitchFamily="50" charset="-128"/>
              <a:cs typeface="+mn-cs"/>
            </a:rPr>
            <a:t>ネットワークの構成に欠かせないためターゲットに含める</a:t>
          </a:r>
        </a:p>
      </dgm:t>
    </dgm:pt>
    <dgm:pt modelId="{7BACB405-908A-43F9-86AA-2E24196487F3}" type="parTrans" cxnId="{9C2ACBF1-C921-4988-8D3D-40212F5DFABF}">
      <dgm:prSet/>
      <dgm:spPr/>
      <dgm:t>
        <a:bodyPr/>
        <a:lstStyle/>
        <a:p>
          <a:endParaRPr kumimoji="1" lang="ja-JP" altLang="en-US" sz="1200">
            <a:latin typeface="游ゴシック Medium" panose="020B0500000000000000" pitchFamily="50" charset="-128"/>
            <a:ea typeface="游ゴシック Medium" panose="020B0500000000000000" pitchFamily="50" charset="-128"/>
          </a:endParaRPr>
        </a:p>
      </dgm:t>
    </dgm:pt>
    <dgm:pt modelId="{CD19B6C7-F747-428C-88A9-1FFAC9F4CEE8}" type="sibTrans" cxnId="{9C2ACBF1-C921-4988-8D3D-40212F5DFABF}">
      <dgm:prSet/>
      <dgm:spPr/>
      <dgm:t>
        <a:bodyPr/>
        <a:lstStyle/>
        <a:p>
          <a:endParaRPr kumimoji="1" lang="ja-JP" altLang="en-US" sz="1200">
            <a:latin typeface="游ゴシック Medium" panose="020B0500000000000000" pitchFamily="50" charset="-128"/>
            <a:ea typeface="游ゴシック Medium" panose="020B0500000000000000" pitchFamily="50" charset="-128"/>
          </a:endParaRPr>
        </a:p>
      </dgm:t>
    </dgm:pt>
    <dgm:pt modelId="{2B4E5A67-7FEF-4D29-8DEF-FB9231B88EFD}">
      <dgm:prSet phldrT="[テキスト]" phldr="0" custT="1"/>
      <dgm:spPr/>
      <dgm:t>
        <a:bodyPr anchor="ctr"/>
        <a:lstStyle/>
        <a:p>
          <a:r>
            <a:rPr kumimoji="1" lang="ja-JP" altLang="en-US" sz="1200" u="sng" dirty="0">
              <a:latin typeface="游ゴシック Medium" panose="020B0500000000000000" pitchFamily="50" charset="-128"/>
              <a:ea typeface="游ゴシック Medium" panose="020B0500000000000000" pitchFamily="50" charset="-128"/>
            </a:rPr>
            <a:t>待機が赤字に直結</a:t>
          </a:r>
          <a:r>
            <a:rPr kumimoji="1" lang="ja-JP" altLang="en-US" sz="1200" dirty="0">
              <a:latin typeface="游ゴシック Medium" panose="020B0500000000000000" pitchFamily="50" charset="-128"/>
              <a:ea typeface="游ゴシック Medium" panose="020B0500000000000000" pitchFamily="50" charset="-128"/>
            </a:rPr>
            <a:t>するためマッチングに高いニーズを持つ</a:t>
          </a:r>
          <a:endParaRPr kumimoji="1" lang="en-US" altLang="ja-JP" sz="1200" dirty="0">
            <a:latin typeface="游ゴシック Medium" panose="020B0500000000000000" pitchFamily="50" charset="-128"/>
            <a:ea typeface="游ゴシック Medium" panose="020B0500000000000000" pitchFamily="50" charset="-128"/>
          </a:endParaRPr>
        </a:p>
        <a:p>
          <a:r>
            <a:rPr kumimoji="1" lang="ja-JP" altLang="en-US" sz="1200" dirty="0">
              <a:latin typeface="游ゴシック Medium" panose="020B0500000000000000" pitchFamily="50" charset="-128"/>
              <a:ea typeface="游ゴシック Medium" panose="020B0500000000000000" pitchFamily="50" charset="-128"/>
            </a:rPr>
            <a:t>また中抜きの影響を避けるため、より上流会社と取引したい</a:t>
          </a:r>
          <a:endParaRPr kumimoji="1" lang="en-US" altLang="ja-JP" sz="1200" dirty="0">
            <a:latin typeface="游ゴシック Medium" panose="020B0500000000000000" pitchFamily="50" charset="-128"/>
            <a:ea typeface="游ゴシック Medium" panose="020B0500000000000000" pitchFamily="50" charset="-128"/>
          </a:endParaRPr>
        </a:p>
        <a:p>
          <a:r>
            <a:rPr kumimoji="1" lang="ja-JP" altLang="en-US" sz="1200" dirty="0">
              <a:latin typeface="游ゴシック Medium" panose="020B0500000000000000" pitchFamily="50" charset="-128"/>
              <a:ea typeface="游ゴシック Medium" panose="020B0500000000000000" pitchFamily="50" charset="-128"/>
            </a:rPr>
            <a:t>本プロダクト</a:t>
          </a:r>
          <a:r>
            <a:rPr kumimoji="1" lang="ja-JP" altLang="en-US" sz="1200" b="0" dirty="0">
              <a:solidFill>
                <a:schemeClr val="tx1"/>
              </a:solidFill>
              <a:latin typeface="游ゴシック Medium" panose="020B0500000000000000" pitchFamily="50" charset="-128"/>
              <a:ea typeface="游ゴシック Medium" panose="020B0500000000000000" pitchFamily="50" charset="-128"/>
            </a:rPr>
            <a:t>の</a:t>
          </a:r>
          <a:r>
            <a:rPr kumimoji="1" lang="ja-JP" altLang="en-US" sz="1200" b="0" u="none" dirty="0">
              <a:solidFill>
                <a:schemeClr val="tx1"/>
              </a:solidFill>
              <a:latin typeface="游ゴシック Medium" panose="020B0500000000000000" pitchFamily="50" charset="-128"/>
              <a:ea typeface="游ゴシック Medium" panose="020B0500000000000000" pitchFamily="50" charset="-128"/>
            </a:rPr>
            <a:t>売り手側となる</a:t>
          </a:r>
        </a:p>
      </dgm:t>
    </dgm:pt>
    <dgm:pt modelId="{AAA6783D-9401-4A8E-8ACE-3F557EA96ED1}" type="parTrans" cxnId="{69E6891E-CA0F-4407-8319-06965E64FC9F}">
      <dgm:prSet/>
      <dgm:spPr/>
      <dgm:t>
        <a:bodyPr/>
        <a:lstStyle/>
        <a:p>
          <a:endParaRPr kumimoji="1" lang="ja-JP" altLang="en-US" sz="1200">
            <a:latin typeface="游ゴシック Medium" panose="020B0500000000000000" pitchFamily="50" charset="-128"/>
            <a:ea typeface="游ゴシック Medium" panose="020B0500000000000000" pitchFamily="50" charset="-128"/>
          </a:endParaRPr>
        </a:p>
      </dgm:t>
    </dgm:pt>
    <dgm:pt modelId="{949FCE2B-D13A-4B63-9C60-175F72FD8AE1}" type="sibTrans" cxnId="{69E6891E-CA0F-4407-8319-06965E64FC9F}">
      <dgm:prSet/>
      <dgm:spPr/>
      <dgm:t>
        <a:bodyPr/>
        <a:lstStyle/>
        <a:p>
          <a:endParaRPr kumimoji="1" lang="ja-JP" altLang="en-US" sz="1200">
            <a:latin typeface="游ゴシック Medium" panose="020B0500000000000000" pitchFamily="50" charset="-128"/>
            <a:ea typeface="游ゴシック Medium" panose="020B0500000000000000" pitchFamily="50" charset="-128"/>
          </a:endParaRPr>
        </a:p>
      </dgm:t>
    </dgm:pt>
    <dgm:pt modelId="{DDEA98F3-6966-4759-A8B8-1B4454AC960E}" type="pres">
      <dgm:prSet presAssocID="{D1BDEC02-1E04-489B-8A7D-DCF1163C1E0E}" presName="vert0" presStyleCnt="0">
        <dgm:presLayoutVars>
          <dgm:dir/>
          <dgm:animOne val="branch"/>
          <dgm:animLvl val="lvl"/>
        </dgm:presLayoutVars>
      </dgm:prSet>
      <dgm:spPr/>
    </dgm:pt>
    <dgm:pt modelId="{88D451D2-F5AD-46D0-AAE6-69DBD1FCFB11}" type="pres">
      <dgm:prSet presAssocID="{9BAE621C-85FD-4EF4-98D5-9773365BE895}" presName="thickLine" presStyleLbl="alignNode1" presStyleIdx="0" presStyleCnt="4"/>
      <dgm:spPr/>
    </dgm:pt>
    <dgm:pt modelId="{31923595-7CE3-41C7-93CC-208E700E9794}" type="pres">
      <dgm:prSet presAssocID="{9BAE621C-85FD-4EF4-98D5-9773365BE895}" presName="horz1" presStyleCnt="0"/>
      <dgm:spPr/>
    </dgm:pt>
    <dgm:pt modelId="{033511DD-5EEE-41DA-BF59-C13A467A274E}" type="pres">
      <dgm:prSet presAssocID="{9BAE621C-85FD-4EF4-98D5-9773365BE895}" presName="tx1" presStyleLbl="revTx" presStyleIdx="0" presStyleCnt="4"/>
      <dgm:spPr/>
    </dgm:pt>
    <dgm:pt modelId="{5297CE30-820E-4750-A2E0-C33080D93DEC}" type="pres">
      <dgm:prSet presAssocID="{9BAE621C-85FD-4EF4-98D5-9773365BE895}" presName="vert1" presStyleCnt="0"/>
      <dgm:spPr/>
    </dgm:pt>
    <dgm:pt modelId="{B534CC81-D544-485B-B591-BE04799EBE70}" type="pres">
      <dgm:prSet presAssocID="{802E800C-54D5-49E4-9759-0070351868D4}" presName="thickLine" presStyleLbl="alignNode1" presStyleIdx="1" presStyleCnt="4"/>
      <dgm:spPr/>
    </dgm:pt>
    <dgm:pt modelId="{06C0F31E-69AE-452D-ACB2-FEC6D7F86059}" type="pres">
      <dgm:prSet presAssocID="{802E800C-54D5-49E4-9759-0070351868D4}" presName="horz1" presStyleCnt="0"/>
      <dgm:spPr/>
    </dgm:pt>
    <dgm:pt modelId="{CF91D821-A7E9-4C40-8C26-80FCB42C65CE}" type="pres">
      <dgm:prSet presAssocID="{802E800C-54D5-49E4-9759-0070351868D4}" presName="tx1" presStyleLbl="revTx" presStyleIdx="1" presStyleCnt="4"/>
      <dgm:spPr/>
    </dgm:pt>
    <dgm:pt modelId="{E8699A8F-02CB-47DF-AE63-1D5183FDA20E}" type="pres">
      <dgm:prSet presAssocID="{802E800C-54D5-49E4-9759-0070351868D4}" presName="vert1" presStyleCnt="0"/>
      <dgm:spPr/>
    </dgm:pt>
    <dgm:pt modelId="{747ECCE7-4A3C-46AA-8588-B6E7659DE52D}" type="pres">
      <dgm:prSet presAssocID="{4C967FBB-A403-46E7-B7C3-CD546C651919}" presName="thickLine" presStyleLbl="alignNode1" presStyleIdx="2" presStyleCnt="4"/>
      <dgm:spPr/>
    </dgm:pt>
    <dgm:pt modelId="{15388A25-26F5-40E9-B1AE-3653029B5D4D}" type="pres">
      <dgm:prSet presAssocID="{4C967FBB-A403-46E7-B7C3-CD546C651919}" presName="horz1" presStyleCnt="0"/>
      <dgm:spPr/>
    </dgm:pt>
    <dgm:pt modelId="{B4AFB9D9-62E7-4904-AAEF-F8A301C995B0}" type="pres">
      <dgm:prSet presAssocID="{4C967FBB-A403-46E7-B7C3-CD546C651919}" presName="tx1" presStyleLbl="revTx" presStyleIdx="2" presStyleCnt="4"/>
      <dgm:spPr/>
    </dgm:pt>
    <dgm:pt modelId="{E77ABD83-86E8-465E-A75C-B33F7E472DB5}" type="pres">
      <dgm:prSet presAssocID="{4C967FBB-A403-46E7-B7C3-CD546C651919}" presName="vert1" presStyleCnt="0"/>
      <dgm:spPr/>
    </dgm:pt>
    <dgm:pt modelId="{E8DC76D6-D64F-406E-83B5-380CEF60FB29}" type="pres">
      <dgm:prSet presAssocID="{2B4E5A67-7FEF-4D29-8DEF-FB9231B88EFD}" presName="thickLine" presStyleLbl="alignNode1" presStyleIdx="3" presStyleCnt="4"/>
      <dgm:spPr/>
    </dgm:pt>
    <dgm:pt modelId="{F1F0D1DE-A907-4145-A2CC-42BC47E863E7}" type="pres">
      <dgm:prSet presAssocID="{2B4E5A67-7FEF-4D29-8DEF-FB9231B88EFD}" presName="horz1" presStyleCnt="0"/>
      <dgm:spPr/>
    </dgm:pt>
    <dgm:pt modelId="{A54B5C3B-0ED3-448A-8A31-BE1A1122F94D}" type="pres">
      <dgm:prSet presAssocID="{2B4E5A67-7FEF-4D29-8DEF-FB9231B88EFD}" presName="tx1" presStyleLbl="revTx" presStyleIdx="3" presStyleCnt="4"/>
      <dgm:spPr/>
    </dgm:pt>
    <dgm:pt modelId="{6D267EDE-5F67-4028-9ABA-2026EE7A8221}" type="pres">
      <dgm:prSet presAssocID="{2B4E5A67-7FEF-4D29-8DEF-FB9231B88EFD}" presName="vert1" presStyleCnt="0"/>
      <dgm:spPr/>
    </dgm:pt>
  </dgm:ptLst>
  <dgm:cxnLst>
    <dgm:cxn modelId="{69E6891E-CA0F-4407-8319-06965E64FC9F}" srcId="{D1BDEC02-1E04-489B-8A7D-DCF1163C1E0E}" destId="{2B4E5A67-7FEF-4D29-8DEF-FB9231B88EFD}" srcOrd="3" destOrd="0" parTransId="{AAA6783D-9401-4A8E-8ACE-3F557EA96ED1}" sibTransId="{949FCE2B-D13A-4B63-9C60-175F72FD8AE1}"/>
    <dgm:cxn modelId="{95084830-63CC-405B-8C8E-5C1AB207AAF1}" type="presOf" srcId="{802E800C-54D5-49E4-9759-0070351868D4}" destId="{CF91D821-A7E9-4C40-8C26-80FCB42C65CE}" srcOrd="0" destOrd="0" presId="urn:microsoft.com/office/officeart/2008/layout/LinedList"/>
    <dgm:cxn modelId="{748E265F-C3F7-4E97-AD95-5A0C18A1FA14}" type="presOf" srcId="{2B4E5A67-7FEF-4D29-8DEF-FB9231B88EFD}" destId="{A54B5C3B-0ED3-448A-8A31-BE1A1122F94D}" srcOrd="0" destOrd="0" presId="urn:microsoft.com/office/officeart/2008/layout/LinedList"/>
    <dgm:cxn modelId="{05B8F360-92A5-4A05-BA0B-C8815BA47E83}" srcId="{D1BDEC02-1E04-489B-8A7D-DCF1163C1E0E}" destId="{9BAE621C-85FD-4EF4-98D5-9773365BE895}" srcOrd="0" destOrd="0" parTransId="{2079D1AC-190A-4A78-907B-B4F427573FC5}" sibTransId="{066B3450-B211-4364-9F81-12F3B5E3AF4A}"/>
    <dgm:cxn modelId="{86B0F780-6348-4629-AB33-7EB8D9FB1D62}" type="presOf" srcId="{4C967FBB-A403-46E7-B7C3-CD546C651919}" destId="{B4AFB9D9-62E7-4904-AAEF-F8A301C995B0}" srcOrd="0" destOrd="0" presId="urn:microsoft.com/office/officeart/2008/layout/LinedList"/>
    <dgm:cxn modelId="{C5539C87-E76B-4563-AB28-690154A93B1F}" type="presOf" srcId="{D1BDEC02-1E04-489B-8A7D-DCF1163C1E0E}" destId="{DDEA98F3-6966-4759-A8B8-1B4454AC960E}" srcOrd="0" destOrd="0" presId="urn:microsoft.com/office/officeart/2008/layout/LinedList"/>
    <dgm:cxn modelId="{3FFEE9C1-80D0-4622-9FE2-FC152B9112D3}" srcId="{D1BDEC02-1E04-489B-8A7D-DCF1163C1E0E}" destId="{802E800C-54D5-49E4-9759-0070351868D4}" srcOrd="1" destOrd="0" parTransId="{7D18EF6E-B533-4DB6-9E51-4A5E536B448D}" sibTransId="{06AB1356-3E01-4360-B97E-118BFEEE1282}"/>
    <dgm:cxn modelId="{243F36E2-E43C-4CDA-835F-998327CCB4C6}" type="presOf" srcId="{9BAE621C-85FD-4EF4-98D5-9773365BE895}" destId="{033511DD-5EEE-41DA-BF59-C13A467A274E}" srcOrd="0" destOrd="0" presId="urn:microsoft.com/office/officeart/2008/layout/LinedList"/>
    <dgm:cxn modelId="{9C2ACBF1-C921-4988-8D3D-40212F5DFABF}" srcId="{D1BDEC02-1E04-489B-8A7D-DCF1163C1E0E}" destId="{4C967FBB-A403-46E7-B7C3-CD546C651919}" srcOrd="2" destOrd="0" parTransId="{7BACB405-908A-43F9-86AA-2E24196487F3}" sibTransId="{CD19B6C7-F747-428C-88A9-1FFAC9F4CEE8}"/>
    <dgm:cxn modelId="{01FA2587-1049-44F8-BCFE-3671D4A5A7BF}" type="presParOf" srcId="{DDEA98F3-6966-4759-A8B8-1B4454AC960E}" destId="{88D451D2-F5AD-46D0-AAE6-69DBD1FCFB11}" srcOrd="0" destOrd="0" presId="urn:microsoft.com/office/officeart/2008/layout/LinedList"/>
    <dgm:cxn modelId="{AF235CAC-7D44-43F0-ACFC-300D1463A697}" type="presParOf" srcId="{DDEA98F3-6966-4759-A8B8-1B4454AC960E}" destId="{31923595-7CE3-41C7-93CC-208E700E9794}" srcOrd="1" destOrd="0" presId="urn:microsoft.com/office/officeart/2008/layout/LinedList"/>
    <dgm:cxn modelId="{0F6DF967-8F34-43B9-A12A-28B38661F6FB}" type="presParOf" srcId="{31923595-7CE3-41C7-93CC-208E700E9794}" destId="{033511DD-5EEE-41DA-BF59-C13A467A274E}" srcOrd="0" destOrd="0" presId="urn:microsoft.com/office/officeart/2008/layout/LinedList"/>
    <dgm:cxn modelId="{A65B5242-12FB-4167-805D-4529369FC122}" type="presParOf" srcId="{31923595-7CE3-41C7-93CC-208E700E9794}" destId="{5297CE30-820E-4750-A2E0-C33080D93DEC}" srcOrd="1" destOrd="0" presId="urn:microsoft.com/office/officeart/2008/layout/LinedList"/>
    <dgm:cxn modelId="{8DBF0A53-85F6-40D3-BF4A-54FD06539943}" type="presParOf" srcId="{DDEA98F3-6966-4759-A8B8-1B4454AC960E}" destId="{B534CC81-D544-485B-B591-BE04799EBE70}" srcOrd="2" destOrd="0" presId="urn:microsoft.com/office/officeart/2008/layout/LinedList"/>
    <dgm:cxn modelId="{F41CB86A-CE95-4BEC-971D-D4F288183956}" type="presParOf" srcId="{DDEA98F3-6966-4759-A8B8-1B4454AC960E}" destId="{06C0F31E-69AE-452D-ACB2-FEC6D7F86059}" srcOrd="3" destOrd="0" presId="urn:microsoft.com/office/officeart/2008/layout/LinedList"/>
    <dgm:cxn modelId="{A7AAD2CC-7EAF-4578-9162-9DEEA530FF54}" type="presParOf" srcId="{06C0F31E-69AE-452D-ACB2-FEC6D7F86059}" destId="{CF91D821-A7E9-4C40-8C26-80FCB42C65CE}" srcOrd="0" destOrd="0" presId="urn:microsoft.com/office/officeart/2008/layout/LinedList"/>
    <dgm:cxn modelId="{D17513F4-2AC9-41FA-8920-C6F26B09FD11}" type="presParOf" srcId="{06C0F31E-69AE-452D-ACB2-FEC6D7F86059}" destId="{E8699A8F-02CB-47DF-AE63-1D5183FDA20E}" srcOrd="1" destOrd="0" presId="urn:microsoft.com/office/officeart/2008/layout/LinedList"/>
    <dgm:cxn modelId="{89E83E53-58DB-4113-9309-F23915764B99}" type="presParOf" srcId="{DDEA98F3-6966-4759-A8B8-1B4454AC960E}" destId="{747ECCE7-4A3C-46AA-8588-B6E7659DE52D}" srcOrd="4" destOrd="0" presId="urn:microsoft.com/office/officeart/2008/layout/LinedList"/>
    <dgm:cxn modelId="{AC86C1B4-719E-4C6C-9413-0F6047F23326}" type="presParOf" srcId="{DDEA98F3-6966-4759-A8B8-1B4454AC960E}" destId="{15388A25-26F5-40E9-B1AE-3653029B5D4D}" srcOrd="5" destOrd="0" presId="urn:microsoft.com/office/officeart/2008/layout/LinedList"/>
    <dgm:cxn modelId="{6EFF322D-5B51-4ED6-92B4-68725D56C03F}" type="presParOf" srcId="{15388A25-26F5-40E9-B1AE-3653029B5D4D}" destId="{B4AFB9D9-62E7-4904-AAEF-F8A301C995B0}" srcOrd="0" destOrd="0" presId="urn:microsoft.com/office/officeart/2008/layout/LinedList"/>
    <dgm:cxn modelId="{43DFFDE3-0AB5-4ED2-881A-E23770F8DF0A}" type="presParOf" srcId="{15388A25-26F5-40E9-B1AE-3653029B5D4D}" destId="{E77ABD83-86E8-465E-A75C-B33F7E472DB5}" srcOrd="1" destOrd="0" presId="urn:microsoft.com/office/officeart/2008/layout/LinedList"/>
    <dgm:cxn modelId="{0FB99CEB-B33F-4545-B75F-46D53D428BB2}" type="presParOf" srcId="{DDEA98F3-6966-4759-A8B8-1B4454AC960E}" destId="{E8DC76D6-D64F-406E-83B5-380CEF60FB29}" srcOrd="6" destOrd="0" presId="urn:microsoft.com/office/officeart/2008/layout/LinedList"/>
    <dgm:cxn modelId="{1CBAEF8E-0012-44B7-A364-0AD8EA3BDC54}" type="presParOf" srcId="{DDEA98F3-6966-4759-A8B8-1B4454AC960E}" destId="{F1F0D1DE-A907-4145-A2CC-42BC47E863E7}" srcOrd="7" destOrd="0" presId="urn:microsoft.com/office/officeart/2008/layout/LinedList"/>
    <dgm:cxn modelId="{CDE89FF5-3FFF-48F8-9CF5-2557BB091C4C}" type="presParOf" srcId="{F1F0D1DE-A907-4145-A2CC-42BC47E863E7}" destId="{A54B5C3B-0ED3-448A-8A31-BE1A1122F94D}" srcOrd="0" destOrd="0" presId="urn:microsoft.com/office/officeart/2008/layout/LinedList"/>
    <dgm:cxn modelId="{59C03619-9D74-4543-B2BE-82CD92E8756E}" type="presParOf" srcId="{F1F0D1DE-A907-4145-A2CC-42BC47E863E7}" destId="{6D267EDE-5F67-4028-9ABA-2026EE7A8221}" srcOrd="1" destOrd="0" presId="urn:microsoft.com/office/officeart/2008/layout/Lined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DB98EF-B525-4D90-967F-140928635824}">
      <dsp:nvSpPr>
        <dsp:cNvPr id="0" name=""/>
        <dsp:cNvSpPr/>
      </dsp:nvSpPr>
      <dsp:spPr>
        <a:xfrm>
          <a:off x="2299546" y="0"/>
          <a:ext cx="1149773" cy="900627"/>
        </a:xfrm>
        <a:prstGeom prst="trapezoid">
          <a:avLst>
            <a:gd name="adj" fmla="val 63832"/>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dirty="0">
              <a:latin typeface="游ゴシック Medium" panose="020B0500000000000000" pitchFamily="50" charset="-128"/>
              <a:ea typeface="游ゴシック Medium" panose="020B0500000000000000" pitchFamily="50" charset="-128"/>
            </a:rPr>
            <a:t>エンド</a:t>
          </a:r>
          <a:br>
            <a:rPr kumimoji="1" lang="en-US" altLang="ja-JP" sz="1400" kern="1200" dirty="0">
              <a:latin typeface="游ゴシック Medium" panose="020B0500000000000000" pitchFamily="50" charset="-128"/>
              <a:ea typeface="游ゴシック Medium" panose="020B0500000000000000" pitchFamily="50" charset="-128"/>
            </a:rPr>
          </a:br>
          <a:r>
            <a:rPr kumimoji="1" lang="ja-JP" altLang="en-US" sz="1400" kern="1200" dirty="0">
              <a:latin typeface="游ゴシック Medium" panose="020B0500000000000000" pitchFamily="50" charset="-128"/>
              <a:ea typeface="游ゴシック Medium" panose="020B0500000000000000" pitchFamily="50" charset="-128"/>
            </a:rPr>
            <a:t>ユーザー</a:t>
          </a:r>
        </a:p>
      </dsp:txBody>
      <dsp:txXfrm>
        <a:off x="2299546" y="0"/>
        <a:ext cx="1149773" cy="900627"/>
      </dsp:txXfrm>
    </dsp:sp>
    <dsp:sp modelId="{7E49DDD1-783E-4B11-B7AA-2F4B56844B2E}">
      <dsp:nvSpPr>
        <dsp:cNvPr id="0" name=""/>
        <dsp:cNvSpPr/>
      </dsp:nvSpPr>
      <dsp:spPr>
        <a:xfrm>
          <a:off x="1724659" y="900627"/>
          <a:ext cx="2299546" cy="900627"/>
        </a:xfrm>
        <a:prstGeom prst="trapezoid">
          <a:avLst>
            <a:gd name="adj" fmla="val 63832"/>
          </a:avLst>
        </a:prstGeom>
        <a:solidFill>
          <a:schemeClr val="accent5">
            <a:shade val="80000"/>
            <a:hueOff val="67816"/>
            <a:satOff val="1294"/>
            <a:lumOff val="57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a:latin typeface="游ゴシック Medium" panose="020B0500000000000000" pitchFamily="50" charset="-128"/>
              <a:ea typeface="游ゴシック Medium" panose="020B0500000000000000" pitchFamily="50" charset="-128"/>
            </a:rPr>
            <a:t>元請け</a:t>
          </a:r>
          <a:r>
            <a:rPr kumimoji="1" lang="en-US" altLang="ja-JP" sz="1400" kern="1200">
              <a:latin typeface="游ゴシック Medium" panose="020B0500000000000000" pitchFamily="50" charset="-128"/>
              <a:ea typeface="游ゴシック Medium" panose="020B0500000000000000" pitchFamily="50" charset="-128"/>
            </a:rPr>
            <a:t>(</a:t>
          </a:r>
          <a:r>
            <a:rPr kumimoji="1" lang="ja-JP" altLang="en-US" sz="1400" kern="1200">
              <a:latin typeface="游ゴシック Medium" panose="020B0500000000000000" pitchFamily="50" charset="-128"/>
              <a:ea typeface="游ゴシック Medium" panose="020B0500000000000000" pitchFamily="50" charset="-128"/>
            </a:rPr>
            <a:t>案件</a:t>
          </a:r>
          <a:r>
            <a:rPr kumimoji="1" lang="en-US" altLang="ja-JP" sz="1400" kern="1200">
              <a:latin typeface="游ゴシック Medium" panose="020B0500000000000000" pitchFamily="50" charset="-128"/>
              <a:ea typeface="游ゴシック Medium" panose="020B0500000000000000" pitchFamily="50" charset="-128"/>
            </a:rPr>
            <a:t>)</a:t>
          </a:r>
          <a:r>
            <a:rPr kumimoji="1" lang="ja-JP" altLang="en-US" sz="1400" kern="1200">
              <a:latin typeface="游ゴシック Medium" panose="020B0500000000000000" pitchFamily="50" charset="-128"/>
              <a:ea typeface="游ゴシック Medium" panose="020B0500000000000000" pitchFamily="50" charset="-128"/>
            </a:rPr>
            <a:t>会社</a:t>
          </a:r>
        </a:p>
      </dsp:txBody>
      <dsp:txXfrm>
        <a:off x="2127080" y="900627"/>
        <a:ext cx="1494705" cy="900627"/>
      </dsp:txXfrm>
    </dsp:sp>
    <dsp:sp modelId="{1EB9E8C7-1BAD-4EAF-8DA8-376345683F01}">
      <dsp:nvSpPr>
        <dsp:cNvPr id="0" name=""/>
        <dsp:cNvSpPr/>
      </dsp:nvSpPr>
      <dsp:spPr>
        <a:xfrm>
          <a:off x="1149773" y="1801255"/>
          <a:ext cx="3449319" cy="900627"/>
        </a:xfrm>
        <a:prstGeom prst="trapezoid">
          <a:avLst>
            <a:gd name="adj" fmla="val 63832"/>
          </a:avLst>
        </a:prstGeom>
        <a:solidFill>
          <a:schemeClr val="accent5">
            <a:shade val="80000"/>
            <a:hueOff val="135632"/>
            <a:satOff val="2588"/>
            <a:lumOff val="114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a:latin typeface="游ゴシック Medium" panose="020B0500000000000000" pitchFamily="50" charset="-128"/>
              <a:ea typeface="游ゴシック Medium" panose="020B0500000000000000" pitchFamily="50" charset="-128"/>
            </a:rPr>
            <a:t>二次請け</a:t>
          </a:r>
          <a:r>
            <a:rPr kumimoji="1" lang="en-US" altLang="ja-JP" sz="1400" kern="1200">
              <a:latin typeface="游ゴシック Medium" panose="020B0500000000000000" pitchFamily="50" charset="-128"/>
              <a:ea typeface="游ゴシック Medium" panose="020B0500000000000000" pitchFamily="50" charset="-128"/>
            </a:rPr>
            <a:t>(</a:t>
          </a:r>
          <a:r>
            <a:rPr kumimoji="1" lang="ja-JP" altLang="en-US" sz="1400" kern="1200">
              <a:latin typeface="游ゴシック Medium" panose="020B0500000000000000" pitchFamily="50" charset="-128"/>
              <a:ea typeface="游ゴシック Medium" panose="020B0500000000000000" pitchFamily="50" charset="-128"/>
            </a:rPr>
            <a:t>案件</a:t>
          </a:r>
          <a:r>
            <a:rPr kumimoji="1" lang="en-US" altLang="ja-JP" sz="1400" kern="1200">
              <a:latin typeface="游ゴシック Medium" panose="020B0500000000000000" pitchFamily="50" charset="-128"/>
              <a:ea typeface="游ゴシック Medium" panose="020B0500000000000000" pitchFamily="50" charset="-128"/>
            </a:rPr>
            <a:t>)</a:t>
          </a:r>
          <a:r>
            <a:rPr kumimoji="1" lang="ja-JP" altLang="en-US" sz="1400" kern="1200">
              <a:latin typeface="游ゴシック Medium" panose="020B0500000000000000" pitchFamily="50" charset="-128"/>
              <a:ea typeface="游ゴシック Medium" panose="020B0500000000000000" pitchFamily="50" charset="-128"/>
            </a:rPr>
            <a:t>会社</a:t>
          </a:r>
        </a:p>
      </dsp:txBody>
      <dsp:txXfrm>
        <a:off x="1753404" y="1801255"/>
        <a:ext cx="2242057" cy="900627"/>
      </dsp:txXfrm>
    </dsp:sp>
    <dsp:sp modelId="{7748225C-C4CD-486D-BA1F-800159DFA14F}">
      <dsp:nvSpPr>
        <dsp:cNvPr id="0" name=""/>
        <dsp:cNvSpPr/>
      </dsp:nvSpPr>
      <dsp:spPr>
        <a:xfrm>
          <a:off x="574886" y="2701882"/>
          <a:ext cx="4599092" cy="900627"/>
        </a:xfrm>
        <a:prstGeom prst="trapezoid">
          <a:avLst>
            <a:gd name="adj" fmla="val 63832"/>
          </a:avLst>
        </a:prstGeom>
        <a:solidFill>
          <a:schemeClr val="accent5">
            <a:shade val="80000"/>
            <a:hueOff val="203448"/>
            <a:satOff val="3881"/>
            <a:lumOff val="171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a:latin typeface="游ゴシック Medium" panose="020B0500000000000000" pitchFamily="50" charset="-128"/>
              <a:ea typeface="游ゴシック Medium" panose="020B0500000000000000" pitchFamily="50" charset="-128"/>
            </a:rPr>
            <a:t>仲介会社</a:t>
          </a:r>
        </a:p>
      </dsp:txBody>
      <dsp:txXfrm>
        <a:off x="1379727" y="2701882"/>
        <a:ext cx="2989410" cy="900627"/>
      </dsp:txXfrm>
    </dsp:sp>
    <dsp:sp modelId="{954302FF-B5EB-4E43-8D63-1463978C5D5C}">
      <dsp:nvSpPr>
        <dsp:cNvPr id="0" name=""/>
        <dsp:cNvSpPr/>
      </dsp:nvSpPr>
      <dsp:spPr>
        <a:xfrm>
          <a:off x="0" y="3602510"/>
          <a:ext cx="5748866" cy="900627"/>
        </a:xfrm>
        <a:prstGeom prst="trapezoid">
          <a:avLst>
            <a:gd name="adj" fmla="val 63832"/>
          </a:avLst>
        </a:prstGeom>
        <a:solidFill>
          <a:schemeClr val="accent5">
            <a:shade val="80000"/>
            <a:hueOff val="271263"/>
            <a:satOff val="5175"/>
            <a:lumOff val="228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kumimoji="1" lang="ja-JP" altLang="en-US" sz="1400" kern="1200">
              <a:latin typeface="游ゴシック Medium" panose="020B0500000000000000" pitchFamily="50" charset="-128"/>
              <a:ea typeface="游ゴシック Medium" panose="020B0500000000000000" pitchFamily="50" charset="-128"/>
            </a:rPr>
            <a:t>要員会社</a:t>
          </a:r>
        </a:p>
      </dsp:txBody>
      <dsp:txXfrm>
        <a:off x="1006051" y="3602510"/>
        <a:ext cx="3736762" cy="9006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451D2-F5AD-46D0-AAE6-69DBD1FCFB11}">
      <dsp:nvSpPr>
        <dsp:cNvPr id="0" name=""/>
        <dsp:cNvSpPr/>
      </dsp:nvSpPr>
      <dsp:spPr>
        <a:xfrm>
          <a:off x="0" y="0"/>
          <a:ext cx="2443350" cy="0"/>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033511DD-5EEE-41DA-BF59-C13A467A274E}">
      <dsp:nvSpPr>
        <dsp:cNvPr id="0" name=""/>
        <dsp:cNvSpPr/>
      </dsp:nvSpPr>
      <dsp:spPr>
        <a:xfrm>
          <a:off x="0" y="0"/>
          <a:ext cx="2443350" cy="90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kumimoji="1" lang="en-US" altLang="ja-JP" sz="4100" kern="1200"/>
            <a:t> </a:t>
          </a:r>
          <a:endParaRPr kumimoji="1" lang="ja-JP" altLang="en-US" sz="4100" kern="1200"/>
        </a:p>
      </dsp:txBody>
      <dsp:txXfrm>
        <a:off x="0" y="0"/>
        <a:ext cx="2443350" cy="903081"/>
      </dsp:txXfrm>
    </dsp:sp>
    <dsp:sp modelId="{B534CC81-D544-485B-B591-BE04799EBE70}">
      <dsp:nvSpPr>
        <dsp:cNvPr id="0" name=""/>
        <dsp:cNvSpPr/>
      </dsp:nvSpPr>
      <dsp:spPr>
        <a:xfrm>
          <a:off x="0" y="903081"/>
          <a:ext cx="2443350" cy="0"/>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CF91D821-A7E9-4C40-8C26-80FCB42C65CE}">
      <dsp:nvSpPr>
        <dsp:cNvPr id="0" name=""/>
        <dsp:cNvSpPr/>
      </dsp:nvSpPr>
      <dsp:spPr>
        <a:xfrm>
          <a:off x="0" y="903081"/>
          <a:ext cx="2443350" cy="90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kumimoji="1" lang="en-US" altLang="ja-JP" sz="4100" kern="1200"/>
            <a:t> </a:t>
          </a:r>
          <a:endParaRPr kumimoji="1" lang="ja-JP" altLang="en-US" sz="4100" kern="1200"/>
        </a:p>
      </dsp:txBody>
      <dsp:txXfrm>
        <a:off x="0" y="903081"/>
        <a:ext cx="2443350" cy="903081"/>
      </dsp:txXfrm>
    </dsp:sp>
    <dsp:sp modelId="{747ECCE7-4A3C-46AA-8588-B6E7659DE52D}">
      <dsp:nvSpPr>
        <dsp:cNvPr id="0" name=""/>
        <dsp:cNvSpPr/>
      </dsp:nvSpPr>
      <dsp:spPr>
        <a:xfrm>
          <a:off x="0" y="1806162"/>
          <a:ext cx="2443350" cy="0"/>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B4AFB9D9-62E7-4904-AAEF-F8A301C995B0}">
      <dsp:nvSpPr>
        <dsp:cNvPr id="0" name=""/>
        <dsp:cNvSpPr/>
      </dsp:nvSpPr>
      <dsp:spPr>
        <a:xfrm>
          <a:off x="0" y="1806162"/>
          <a:ext cx="2443350" cy="90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r>
            <a:rPr kumimoji="1" lang="en-US" altLang="ja-JP" sz="4100" kern="1200"/>
            <a:t> </a:t>
          </a:r>
          <a:endParaRPr kumimoji="1" lang="ja-JP" altLang="en-US" sz="4100" kern="1200"/>
        </a:p>
      </dsp:txBody>
      <dsp:txXfrm>
        <a:off x="0" y="1806162"/>
        <a:ext cx="2443350" cy="903081"/>
      </dsp:txXfrm>
    </dsp:sp>
    <dsp:sp modelId="{E8DC76D6-D64F-406E-83B5-380CEF60FB29}">
      <dsp:nvSpPr>
        <dsp:cNvPr id="0" name=""/>
        <dsp:cNvSpPr/>
      </dsp:nvSpPr>
      <dsp:spPr>
        <a:xfrm>
          <a:off x="0" y="2709243"/>
          <a:ext cx="2443350" cy="0"/>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A54B5C3B-0ED3-448A-8A31-BE1A1122F94D}">
      <dsp:nvSpPr>
        <dsp:cNvPr id="0" name=""/>
        <dsp:cNvSpPr/>
      </dsp:nvSpPr>
      <dsp:spPr>
        <a:xfrm>
          <a:off x="0" y="2709243"/>
          <a:ext cx="2443350" cy="90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210" tIns="156210" rIns="156210" bIns="156210" numCol="1" spcCol="1270" anchor="t" anchorCtr="0">
          <a:noAutofit/>
        </a:bodyPr>
        <a:lstStyle/>
        <a:p>
          <a:pPr marL="0" lvl="0" indent="0" algn="l" defTabSz="1822450">
            <a:lnSpc>
              <a:spcPct val="90000"/>
            </a:lnSpc>
            <a:spcBef>
              <a:spcPct val="0"/>
            </a:spcBef>
            <a:spcAft>
              <a:spcPct val="35000"/>
            </a:spcAft>
            <a:buNone/>
          </a:pPr>
          <a:endParaRPr kumimoji="1" lang="ja-JP" altLang="en-US" sz="4100" kern="1200"/>
        </a:p>
      </dsp:txBody>
      <dsp:txXfrm>
        <a:off x="0" y="2709243"/>
        <a:ext cx="2443350" cy="9030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451D2-F5AD-46D0-AAE6-69DBD1FCFB11}">
      <dsp:nvSpPr>
        <dsp:cNvPr id="0" name=""/>
        <dsp:cNvSpPr/>
      </dsp:nvSpPr>
      <dsp:spPr>
        <a:xfrm>
          <a:off x="0" y="0"/>
          <a:ext cx="5615516" cy="0"/>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033511DD-5EEE-41DA-BF59-C13A467A274E}">
      <dsp:nvSpPr>
        <dsp:cNvPr id="0" name=""/>
        <dsp:cNvSpPr/>
      </dsp:nvSpPr>
      <dsp:spPr>
        <a:xfrm>
          <a:off x="0" y="0"/>
          <a:ext cx="5615516" cy="90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kumimoji="1" lang="ja-JP" altLang="en-US" sz="1200" kern="1200" dirty="0">
              <a:latin typeface="游ゴシック Medium" panose="020B0500000000000000" pitchFamily="50" charset="-128"/>
              <a:ea typeface="游ゴシック Medium" panose="020B0500000000000000" pitchFamily="50" charset="-128"/>
            </a:rPr>
            <a:t>パートナーを体制で参画させるため、マッチングへの課題感が薄い</a:t>
          </a:r>
          <a:endParaRPr kumimoji="1" lang="en-US" altLang="ja-JP" sz="1200" kern="1200" dirty="0">
            <a:latin typeface="游ゴシック Medium" panose="020B0500000000000000" pitchFamily="50" charset="-128"/>
            <a:ea typeface="游ゴシック Medium" panose="020B0500000000000000" pitchFamily="50" charset="-128"/>
          </a:endParaRPr>
        </a:p>
        <a:p>
          <a:pPr marL="0" lvl="0" indent="0" algn="l" defTabSz="533400">
            <a:lnSpc>
              <a:spcPct val="90000"/>
            </a:lnSpc>
            <a:spcBef>
              <a:spcPct val="0"/>
            </a:spcBef>
            <a:spcAft>
              <a:spcPct val="35000"/>
            </a:spcAft>
            <a:buNone/>
          </a:pPr>
          <a:r>
            <a:rPr kumimoji="1" lang="ja-JP" altLang="en-US" sz="1200" kern="1200" dirty="0">
              <a:latin typeface="游ゴシック Medium" panose="020B0500000000000000" pitchFamily="50" charset="-128"/>
              <a:ea typeface="游ゴシック Medium" panose="020B0500000000000000" pitchFamily="50" charset="-128"/>
            </a:rPr>
            <a:t>そのため他機能によるアプローチが必要な上、大手ベンダはツール導入自体のハードルも高いため直近の</a:t>
          </a:r>
          <a:r>
            <a:rPr kumimoji="1" lang="ja-JP" altLang="en-US" sz="1200" u="sng" kern="1200" dirty="0">
              <a:latin typeface="游ゴシック Medium" panose="020B0500000000000000" pitchFamily="50" charset="-128"/>
              <a:ea typeface="游ゴシック Medium" panose="020B0500000000000000" pitchFamily="50" charset="-128"/>
            </a:rPr>
            <a:t>ターゲットにはならない</a:t>
          </a:r>
          <a:endParaRPr kumimoji="1" lang="en-US" altLang="ja-JP" sz="1200" u="sng" kern="1200" dirty="0">
            <a:latin typeface="游ゴシック Medium" panose="020B0500000000000000" pitchFamily="50" charset="-128"/>
            <a:ea typeface="游ゴシック Medium" panose="020B0500000000000000" pitchFamily="50" charset="-128"/>
          </a:endParaRPr>
        </a:p>
      </dsp:txBody>
      <dsp:txXfrm>
        <a:off x="0" y="0"/>
        <a:ext cx="5615516" cy="903081"/>
      </dsp:txXfrm>
    </dsp:sp>
    <dsp:sp modelId="{B534CC81-D544-485B-B591-BE04799EBE70}">
      <dsp:nvSpPr>
        <dsp:cNvPr id="0" name=""/>
        <dsp:cNvSpPr/>
      </dsp:nvSpPr>
      <dsp:spPr>
        <a:xfrm>
          <a:off x="0" y="903081"/>
          <a:ext cx="5615516" cy="0"/>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CF91D821-A7E9-4C40-8C26-80FCB42C65CE}">
      <dsp:nvSpPr>
        <dsp:cNvPr id="0" name=""/>
        <dsp:cNvSpPr/>
      </dsp:nvSpPr>
      <dsp:spPr>
        <a:xfrm>
          <a:off x="0" y="903081"/>
          <a:ext cx="5615516" cy="90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kumimoji="1" lang="ja-JP" altLang="en-US" sz="1200" kern="1200" dirty="0">
              <a:latin typeface="游ゴシック Medium" panose="020B0500000000000000" pitchFamily="50" charset="-128"/>
              <a:ea typeface="游ゴシック Medium" panose="020B0500000000000000" pitchFamily="50" charset="-128"/>
            </a:rPr>
            <a:t>要員を個別に見て選定を行うが、マッチングの手間が多く、リスクも高い</a:t>
          </a:r>
          <a:endParaRPr kumimoji="1" lang="en-US" altLang="ja-JP" sz="1200" kern="1200" dirty="0">
            <a:latin typeface="游ゴシック Medium" panose="020B0500000000000000" pitchFamily="50" charset="-128"/>
            <a:ea typeface="游ゴシック Medium" panose="020B0500000000000000" pitchFamily="50" charset="-128"/>
          </a:endParaRPr>
        </a:p>
        <a:p>
          <a:pPr marL="0" lvl="0" indent="0" algn="l" defTabSz="533400">
            <a:lnSpc>
              <a:spcPct val="90000"/>
            </a:lnSpc>
            <a:spcBef>
              <a:spcPct val="0"/>
            </a:spcBef>
            <a:spcAft>
              <a:spcPct val="35000"/>
            </a:spcAft>
            <a:buNone/>
          </a:pPr>
          <a:r>
            <a:rPr kumimoji="1" lang="en-US" altLang="ja-JP" sz="1200" u="sng" kern="1200" dirty="0">
              <a:latin typeface="游ゴシック Medium" panose="020B0500000000000000" pitchFamily="50" charset="-128"/>
              <a:ea typeface="游ゴシック Medium" panose="020B0500000000000000" pitchFamily="50" charset="-128"/>
            </a:rPr>
            <a:t>PM</a:t>
          </a:r>
          <a:r>
            <a:rPr kumimoji="1" lang="ja-JP" altLang="en-US" sz="1200" u="sng" kern="1200" dirty="0">
              <a:latin typeface="游ゴシック Medium" panose="020B0500000000000000" pitchFamily="50" charset="-128"/>
              <a:ea typeface="游ゴシック Medium" panose="020B0500000000000000" pitchFamily="50" charset="-128"/>
            </a:rPr>
            <a:t>では処理しきれず</a:t>
          </a:r>
          <a:r>
            <a:rPr kumimoji="1" lang="ja-JP" altLang="en-US" sz="1200" kern="1200" dirty="0">
              <a:latin typeface="游ゴシック Medium" panose="020B0500000000000000" pitchFamily="50" charset="-128"/>
              <a:ea typeface="游ゴシック Medium" panose="020B0500000000000000" pitchFamily="50" charset="-128"/>
            </a:rPr>
            <a:t>営業が付くが、その</a:t>
          </a:r>
          <a:r>
            <a:rPr kumimoji="1" lang="ja-JP" altLang="en-US" sz="1200" u="sng" kern="1200" dirty="0">
              <a:latin typeface="游ゴシック Medium" panose="020B0500000000000000" pitchFamily="50" charset="-128"/>
              <a:ea typeface="游ゴシック Medium" panose="020B0500000000000000" pitchFamily="50" charset="-128"/>
            </a:rPr>
            <a:t>営業稼働がコスト</a:t>
          </a:r>
          <a:endParaRPr kumimoji="1" lang="en-US" altLang="ja-JP" sz="1200" u="sng" kern="1200" dirty="0">
            <a:latin typeface="游ゴシック Medium" panose="020B0500000000000000" pitchFamily="50" charset="-128"/>
            <a:ea typeface="游ゴシック Medium" panose="020B0500000000000000" pitchFamily="50" charset="-128"/>
          </a:endParaRPr>
        </a:p>
        <a:p>
          <a:pPr marL="0" lvl="0" indent="0" algn="l" defTabSz="533400">
            <a:lnSpc>
              <a:spcPct val="90000"/>
            </a:lnSpc>
            <a:spcBef>
              <a:spcPct val="0"/>
            </a:spcBef>
            <a:spcAft>
              <a:spcPct val="35000"/>
            </a:spcAft>
            <a:buNone/>
          </a:pPr>
          <a:r>
            <a:rPr kumimoji="1" lang="ja-JP" altLang="en-US" sz="1200" kern="1200" dirty="0">
              <a:latin typeface="游ゴシック Medium" panose="020B0500000000000000" pitchFamily="50" charset="-128"/>
              <a:ea typeface="游ゴシック Medium" panose="020B0500000000000000" pitchFamily="50" charset="-128"/>
            </a:rPr>
            <a:t>本プロダクトの買い手側となる</a:t>
          </a:r>
          <a:endParaRPr kumimoji="1" lang="en-US" altLang="ja-JP" sz="1200" b="1" u="none" kern="1200" dirty="0">
            <a:solidFill>
              <a:srgbClr val="FF0000"/>
            </a:solidFill>
            <a:latin typeface="游ゴシック Medium" panose="020B0500000000000000" pitchFamily="50" charset="-128"/>
            <a:ea typeface="游ゴシック Medium" panose="020B0500000000000000" pitchFamily="50" charset="-128"/>
          </a:endParaRPr>
        </a:p>
      </dsp:txBody>
      <dsp:txXfrm>
        <a:off x="0" y="903081"/>
        <a:ext cx="5615516" cy="903081"/>
      </dsp:txXfrm>
    </dsp:sp>
    <dsp:sp modelId="{747ECCE7-4A3C-46AA-8588-B6E7659DE52D}">
      <dsp:nvSpPr>
        <dsp:cNvPr id="0" name=""/>
        <dsp:cNvSpPr/>
      </dsp:nvSpPr>
      <dsp:spPr>
        <a:xfrm>
          <a:off x="0" y="1806162"/>
          <a:ext cx="5615516" cy="0"/>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B4AFB9D9-62E7-4904-AAEF-F8A301C995B0}">
      <dsp:nvSpPr>
        <dsp:cNvPr id="0" name=""/>
        <dsp:cNvSpPr/>
      </dsp:nvSpPr>
      <dsp:spPr>
        <a:xfrm>
          <a:off x="0" y="1806162"/>
          <a:ext cx="5615516" cy="90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kumimoji="1" lang="ja-JP" altLang="en-US" sz="1200" kern="1200" dirty="0">
              <a:latin typeface="游ゴシック Medium" panose="020B0500000000000000" pitchFamily="50" charset="-128"/>
              <a:ea typeface="游ゴシック Medium" panose="020B0500000000000000" pitchFamily="50" charset="-128"/>
            </a:rPr>
            <a:t>案件</a:t>
          </a:r>
          <a:r>
            <a:rPr kumimoji="1" lang="en-US" altLang="ja-JP" sz="1200" kern="1200" dirty="0">
              <a:latin typeface="游ゴシック Medium" panose="020B0500000000000000" pitchFamily="50" charset="-128"/>
              <a:ea typeface="游ゴシック Medium" panose="020B0500000000000000" pitchFamily="50" charset="-128"/>
            </a:rPr>
            <a:t>/</a:t>
          </a:r>
          <a:r>
            <a:rPr kumimoji="1" lang="ja-JP" altLang="en-US" sz="1200" kern="1200" dirty="0">
              <a:latin typeface="游ゴシック Medium" panose="020B0500000000000000" pitchFamily="50" charset="-128"/>
              <a:ea typeface="游ゴシック Medium" panose="020B0500000000000000" pitchFamily="50" charset="-128"/>
            </a:rPr>
            <a:t>要員情報を転送してマッチングの中抜きを狙うモデルの会社</a:t>
          </a:r>
          <a:endParaRPr kumimoji="1" lang="en-US" altLang="ja-JP" sz="1200" kern="1200" dirty="0">
            <a:latin typeface="游ゴシック Medium" panose="020B0500000000000000" pitchFamily="50" charset="-128"/>
            <a:ea typeface="游ゴシック Medium" panose="020B0500000000000000" pitchFamily="50" charset="-128"/>
          </a:endParaRPr>
        </a:p>
        <a:p>
          <a:pPr marL="0" lvl="0" indent="0" algn="l" defTabSz="533400">
            <a:lnSpc>
              <a:spcPct val="90000"/>
            </a:lnSpc>
            <a:spcBef>
              <a:spcPct val="0"/>
            </a:spcBef>
            <a:spcAft>
              <a:spcPct val="35000"/>
            </a:spcAft>
            <a:buNone/>
          </a:pPr>
          <a:r>
            <a:rPr kumimoji="1" lang="ja-JP" altLang="en-US" sz="1200" b="0" kern="1200" dirty="0">
              <a:solidFill>
                <a:schemeClr val="tx1"/>
              </a:solidFill>
              <a:latin typeface="游ゴシック Medium" panose="020B0500000000000000" pitchFamily="50" charset="-128"/>
              <a:ea typeface="游ゴシック Medium" panose="020B0500000000000000" pitchFamily="50" charset="-128"/>
              <a:cs typeface="+mn-cs"/>
            </a:rPr>
            <a:t>大量の情報が届いており、</a:t>
          </a:r>
          <a:r>
            <a:rPr kumimoji="1" lang="ja-JP" altLang="en-US" sz="1200" b="0" u="sng" kern="1200" dirty="0">
              <a:solidFill>
                <a:schemeClr val="tx1"/>
              </a:solidFill>
              <a:latin typeface="游ゴシック Medium" panose="020B0500000000000000" pitchFamily="50" charset="-128"/>
              <a:ea typeface="游ゴシック Medium" panose="020B0500000000000000" pitchFamily="50" charset="-128"/>
              <a:cs typeface="+mn-cs"/>
            </a:rPr>
            <a:t>機会損失も多く発生</a:t>
          </a:r>
          <a:r>
            <a:rPr kumimoji="1" lang="ja-JP" altLang="en-US" sz="1200" b="0" kern="1200" dirty="0">
              <a:solidFill>
                <a:schemeClr val="tx1"/>
              </a:solidFill>
              <a:latin typeface="游ゴシック Medium" panose="020B0500000000000000" pitchFamily="50" charset="-128"/>
              <a:ea typeface="游ゴシック Medium" panose="020B0500000000000000" pitchFamily="50" charset="-128"/>
              <a:cs typeface="+mn-cs"/>
            </a:rPr>
            <a:t>している</a:t>
          </a:r>
          <a:endParaRPr kumimoji="1" lang="en-US" altLang="ja-JP" sz="1200" b="0" kern="1200" dirty="0">
            <a:solidFill>
              <a:schemeClr val="tx1"/>
            </a:solidFill>
            <a:latin typeface="游ゴシック Medium" panose="020B0500000000000000" pitchFamily="50" charset="-128"/>
            <a:ea typeface="游ゴシック Medium" panose="020B0500000000000000" pitchFamily="50" charset="-128"/>
            <a:cs typeface="+mn-cs"/>
          </a:endParaRPr>
        </a:p>
        <a:p>
          <a:pPr marL="0" lvl="0" indent="0" algn="l" defTabSz="533400">
            <a:lnSpc>
              <a:spcPct val="90000"/>
            </a:lnSpc>
            <a:spcBef>
              <a:spcPct val="0"/>
            </a:spcBef>
            <a:spcAft>
              <a:spcPct val="35000"/>
            </a:spcAft>
            <a:buNone/>
          </a:pPr>
          <a:r>
            <a:rPr kumimoji="1" lang="en-US" altLang="ja-JP" sz="1200" b="0" kern="1200" dirty="0">
              <a:solidFill>
                <a:schemeClr val="tx1"/>
              </a:solidFill>
              <a:latin typeface="游ゴシック Medium" panose="020B0500000000000000" pitchFamily="50" charset="-128"/>
              <a:ea typeface="游ゴシック Medium" panose="020B0500000000000000" pitchFamily="50" charset="-128"/>
              <a:cs typeface="+mn-cs"/>
            </a:rPr>
            <a:t>SES</a:t>
          </a:r>
          <a:r>
            <a:rPr kumimoji="1" lang="ja-JP" altLang="en-US" sz="1200" b="0" kern="1200" dirty="0">
              <a:solidFill>
                <a:schemeClr val="tx1"/>
              </a:solidFill>
              <a:latin typeface="游ゴシック Medium" panose="020B0500000000000000" pitchFamily="50" charset="-128"/>
              <a:ea typeface="游ゴシック Medium" panose="020B0500000000000000" pitchFamily="50" charset="-128"/>
              <a:cs typeface="+mn-cs"/>
            </a:rPr>
            <a:t>ネットワークの構成に欠かせないためターゲットに含める</a:t>
          </a:r>
        </a:p>
      </dsp:txBody>
      <dsp:txXfrm>
        <a:off x="0" y="1806162"/>
        <a:ext cx="5615516" cy="903081"/>
      </dsp:txXfrm>
    </dsp:sp>
    <dsp:sp modelId="{E8DC76D6-D64F-406E-83B5-380CEF60FB29}">
      <dsp:nvSpPr>
        <dsp:cNvPr id="0" name=""/>
        <dsp:cNvSpPr/>
      </dsp:nvSpPr>
      <dsp:spPr>
        <a:xfrm>
          <a:off x="0" y="2709243"/>
          <a:ext cx="5615516" cy="0"/>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solid"/>
          <a:miter lim="800000"/>
        </a:ln>
        <a:effectLst/>
        <a:scene3d>
          <a:camera prst="orthographicFront"/>
          <a:lightRig rig="chilly" dir="t"/>
        </a:scene3d>
        <a:sp3d prstMaterial="translucentPowder">
          <a:bevelT w="127000" h="25400" prst="softRound"/>
        </a:sp3d>
      </dsp:spPr>
      <dsp:style>
        <a:lnRef idx="1">
          <a:scrgbClr r="0" g="0" b="0"/>
        </a:lnRef>
        <a:fillRef idx="1">
          <a:scrgbClr r="0" g="0" b="0"/>
        </a:fillRef>
        <a:effectRef idx="0">
          <a:scrgbClr r="0" g="0" b="0"/>
        </a:effectRef>
        <a:fontRef idx="minor">
          <a:schemeClr val="lt1"/>
        </a:fontRef>
      </dsp:style>
    </dsp:sp>
    <dsp:sp modelId="{A54B5C3B-0ED3-448A-8A31-BE1A1122F94D}">
      <dsp:nvSpPr>
        <dsp:cNvPr id="0" name=""/>
        <dsp:cNvSpPr/>
      </dsp:nvSpPr>
      <dsp:spPr>
        <a:xfrm>
          <a:off x="0" y="2709243"/>
          <a:ext cx="5615516" cy="9030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kumimoji="1" lang="ja-JP" altLang="en-US" sz="1200" u="sng" kern="1200" dirty="0">
              <a:latin typeface="游ゴシック Medium" panose="020B0500000000000000" pitchFamily="50" charset="-128"/>
              <a:ea typeface="游ゴシック Medium" panose="020B0500000000000000" pitchFamily="50" charset="-128"/>
            </a:rPr>
            <a:t>待機が赤字に直結</a:t>
          </a:r>
          <a:r>
            <a:rPr kumimoji="1" lang="ja-JP" altLang="en-US" sz="1200" kern="1200" dirty="0">
              <a:latin typeface="游ゴシック Medium" panose="020B0500000000000000" pitchFamily="50" charset="-128"/>
              <a:ea typeface="游ゴシック Medium" panose="020B0500000000000000" pitchFamily="50" charset="-128"/>
            </a:rPr>
            <a:t>するためマッチングに高いニーズを持つ</a:t>
          </a:r>
          <a:endParaRPr kumimoji="1" lang="en-US" altLang="ja-JP" sz="1200" kern="1200" dirty="0">
            <a:latin typeface="游ゴシック Medium" panose="020B0500000000000000" pitchFamily="50" charset="-128"/>
            <a:ea typeface="游ゴシック Medium" panose="020B0500000000000000" pitchFamily="50" charset="-128"/>
          </a:endParaRPr>
        </a:p>
        <a:p>
          <a:pPr marL="0" lvl="0" indent="0" algn="l" defTabSz="533400">
            <a:lnSpc>
              <a:spcPct val="90000"/>
            </a:lnSpc>
            <a:spcBef>
              <a:spcPct val="0"/>
            </a:spcBef>
            <a:spcAft>
              <a:spcPct val="35000"/>
            </a:spcAft>
            <a:buNone/>
          </a:pPr>
          <a:r>
            <a:rPr kumimoji="1" lang="ja-JP" altLang="en-US" sz="1200" kern="1200" dirty="0">
              <a:latin typeface="游ゴシック Medium" panose="020B0500000000000000" pitchFamily="50" charset="-128"/>
              <a:ea typeface="游ゴシック Medium" panose="020B0500000000000000" pitchFamily="50" charset="-128"/>
            </a:rPr>
            <a:t>また中抜きの影響を避けるため、より上流会社と取引したい</a:t>
          </a:r>
          <a:endParaRPr kumimoji="1" lang="en-US" altLang="ja-JP" sz="1200" kern="1200" dirty="0">
            <a:latin typeface="游ゴシック Medium" panose="020B0500000000000000" pitchFamily="50" charset="-128"/>
            <a:ea typeface="游ゴシック Medium" panose="020B0500000000000000" pitchFamily="50" charset="-128"/>
          </a:endParaRPr>
        </a:p>
        <a:p>
          <a:pPr marL="0" lvl="0" indent="0" algn="l" defTabSz="533400">
            <a:lnSpc>
              <a:spcPct val="90000"/>
            </a:lnSpc>
            <a:spcBef>
              <a:spcPct val="0"/>
            </a:spcBef>
            <a:spcAft>
              <a:spcPct val="35000"/>
            </a:spcAft>
            <a:buNone/>
          </a:pPr>
          <a:r>
            <a:rPr kumimoji="1" lang="ja-JP" altLang="en-US" sz="1200" kern="1200" dirty="0">
              <a:latin typeface="游ゴシック Medium" panose="020B0500000000000000" pitchFamily="50" charset="-128"/>
              <a:ea typeface="游ゴシック Medium" panose="020B0500000000000000" pitchFamily="50" charset="-128"/>
            </a:rPr>
            <a:t>本プロダクト</a:t>
          </a:r>
          <a:r>
            <a:rPr kumimoji="1" lang="ja-JP" altLang="en-US" sz="1200" b="0" kern="1200" dirty="0">
              <a:solidFill>
                <a:schemeClr val="tx1"/>
              </a:solidFill>
              <a:latin typeface="游ゴシック Medium" panose="020B0500000000000000" pitchFamily="50" charset="-128"/>
              <a:ea typeface="游ゴシック Medium" panose="020B0500000000000000" pitchFamily="50" charset="-128"/>
            </a:rPr>
            <a:t>の</a:t>
          </a:r>
          <a:r>
            <a:rPr kumimoji="1" lang="ja-JP" altLang="en-US" sz="1200" b="0" u="none" kern="1200" dirty="0">
              <a:solidFill>
                <a:schemeClr val="tx1"/>
              </a:solidFill>
              <a:latin typeface="游ゴシック Medium" panose="020B0500000000000000" pitchFamily="50" charset="-128"/>
              <a:ea typeface="游ゴシック Medium" panose="020B0500000000000000" pitchFamily="50" charset="-128"/>
            </a:rPr>
            <a:t>売り手側となる</a:t>
          </a:r>
        </a:p>
      </dsp:txBody>
      <dsp:txXfrm>
        <a:off x="0" y="2709243"/>
        <a:ext cx="5615516" cy="903081"/>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3/9/2026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8674446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3/9/2026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84932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3/9/2026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017196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3/9/2026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23681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3/9/2026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980980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3/9/2026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4217021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3/9/2026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1457189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3/9/2026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7693760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5063319" y="657103"/>
            <a:ext cx="6483687" cy="5555904"/>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3/9/2026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307013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3/9/2026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3552013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3/9/2026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4037389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3A332BE1-279E-4118-9FE3-7952B079A510}" type="datetimeFigureOut">
              <a:rPr lang="en-US" dirty="0"/>
              <a:t>3/9/2026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r>
              <a:rPr lang="en-US"/>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dirty="0"/>
              <a:t>‹#›</a:t>
            </a:fld>
            <a:endParaRPr lang="en-US"/>
          </a:p>
        </p:txBody>
      </p:sp>
    </p:spTree>
    <p:extLst>
      <p:ext uri="{BB962C8B-B14F-4D97-AF65-F5344CB8AC3E}">
        <p14:creationId xmlns:p14="http://schemas.microsoft.com/office/powerpoint/2010/main" val="3917009473"/>
      </p:ext>
    </p:extLst>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 id="2147484078" r:id="rId10"/>
    <p:sldLayoutId id="2147484079"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Layout" Target="../diagrams/layout3.xml"/><Relationship Id="rId3" Type="http://schemas.openxmlformats.org/officeDocument/2006/relationships/diagramLayout" Target="../diagrams/layout1.xml"/><Relationship Id="rId7" Type="http://schemas.openxmlformats.org/officeDocument/2006/relationships/diagramData" Target="../diagrams/data2.xml"/><Relationship Id="rId12" Type="http://schemas.openxmlformats.org/officeDocument/2006/relationships/diagramData" Target="../diagrams/data3.xml"/><Relationship Id="rId2" Type="http://schemas.openxmlformats.org/officeDocument/2006/relationships/diagramData" Target="../diagrams/data1.xml"/><Relationship Id="rId16" Type="http://schemas.microsoft.com/office/2007/relationships/diagramDrawing" Target="../diagrams/drawing3.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5" Type="http://schemas.openxmlformats.org/officeDocument/2006/relationships/diagramColors" Target="../diagrams/colors3.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 Id="rId1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2.sv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2.sv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4.sv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hyperlink" Target="https://ses-ai.jp/" TargetMode="External"/><Relationship Id="rId3" Type="http://schemas.openxmlformats.org/officeDocument/2006/relationships/hyperlink" Target="https://www.sgnet.co.jp/yokan/" TargetMode="External"/><Relationship Id="rId7" Type="http://schemas.openxmlformats.org/officeDocument/2006/relationships/hyperlink" Target="https://www.listen-tokyo.com/ai-ses" TargetMode="External"/><Relationship Id="rId2" Type="http://schemas.openxmlformats.org/officeDocument/2006/relationships/hyperlink" Target="https://qoala.jp/" TargetMode="External"/><Relationship Id="rId1" Type="http://schemas.openxmlformats.org/officeDocument/2006/relationships/slideLayout" Target="../slideLayouts/slideLayout2.xml"/><Relationship Id="rId6" Type="http://schemas.openxmlformats.org/officeDocument/2006/relationships/hyperlink" Target="https://cmrb.jp/topics/613/" TargetMode="External"/><Relationship Id="rId5" Type="http://schemas.openxmlformats.org/officeDocument/2006/relationships/hyperlink" Target="https://www.fdc-inc.co.jp/fapi/" TargetMode="External"/><Relationship Id="rId10" Type="http://schemas.openxmlformats.org/officeDocument/2006/relationships/image" Target="../media/image16.png"/><Relationship Id="rId4" Type="http://schemas.openxmlformats.org/officeDocument/2006/relationships/hyperlink" Target="https://ses-compass.com/feature/operation/" TargetMode="External"/><Relationship Id="rId9" Type="http://schemas.openxmlformats.org/officeDocument/2006/relationships/hyperlink" Target="https://www.shiftinc.jp/ir/management/midterm/"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lang="ja-JP" altLang="en-US" dirty="0">
                <a:latin typeface="游ゴシック Medium" panose="020B0500000000000000" pitchFamily="50" charset="-128"/>
                <a:ea typeface="游ゴシック Medium" panose="020B0500000000000000" pitchFamily="50" charset="-128"/>
              </a:rPr>
              <a:t>プロダクト企画</a:t>
            </a:r>
            <a:br>
              <a:rPr lang="ja-JP" altLang="en-US" dirty="0">
                <a:latin typeface="游ゴシック Medium" panose="020B0500000000000000" pitchFamily="50" charset="-128"/>
                <a:ea typeface="游ゴシック Medium" panose="020B0500000000000000" pitchFamily="50" charset="-128"/>
              </a:rPr>
            </a:br>
            <a:r>
              <a:rPr lang="ja-JP" altLang="en-US" dirty="0">
                <a:latin typeface="游ゴシック Medium" panose="020B0500000000000000" pitchFamily="50" charset="-128"/>
                <a:ea typeface="游ゴシック Medium" panose="020B0500000000000000" pitchFamily="50" charset="-128"/>
              </a:rPr>
              <a:t>要員管理プラットフォーム</a:t>
            </a:r>
            <a:endParaRPr kumimoji="1" lang="ja-JP" altLang="en-US" dirty="0">
              <a:latin typeface="游ゴシック Medium" panose="020B0500000000000000" pitchFamily="50" charset="-128"/>
              <a:ea typeface="游ゴシック Medium" panose="020B0500000000000000" pitchFamily="50" charset="-128"/>
            </a:endParaRPr>
          </a:p>
        </p:txBody>
      </p:sp>
      <p:sp>
        <p:nvSpPr>
          <p:cNvPr id="3" name="サブタイトル 2"/>
          <p:cNvSpPr>
            <a:spLocks noGrp="1"/>
          </p:cNvSpPr>
          <p:nvPr>
            <p:ph type="subTitle" idx="1"/>
          </p:nvPr>
        </p:nvSpPr>
        <p:spPr/>
        <p:txBody>
          <a:bodyPr vert="horz" lIns="91440" tIns="45720" rIns="91440" bIns="45720" rtlCol="0" anchor="t">
            <a:normAutofit/>
          </a:bodyPr>
          <a:lstStyle/>
          <a:p>
            <a:r>
              <a:rPr lang="ja-JP" altLang="en-US">
                <a:latin typeface="游ゴシック Medium" panose="020B0500000000000000" pitchFamily="50" charset="-128"/>
                <a:ea typeface="游ゴシック Medium" panose="020B0500000000000000" pitchFamily="50" charset="-128"/>
              </a:rPr>
              <a:t>2025/</a:t>
            </a:r>
            <a:r>
              <a:rPr lang="en-US" altLang="ja-JP">
                <a:latin typeface="游ゴシック Medium" panose="020B0500000000000000" pitchFamily="50" charset="-128"/>
                <a:ea typeface="游ゴシック Medium" panose="020B0500000000000000" pitchFamily="50" charset="-128"/>
              </a:rPr>
              <a:t>12</a:t>
            </a:r>
            <a:r>
              <a:rPr lang="ja-JP" altLang="en-US">
                <a:latin typeface="游ゴシック Medium" panose="020B0500000000000000" pitchFamily="50" charset="-128"/>
                <a:ea typeface="游ゴシック Medium" panose="020B0500000000000000" pitchFamily="50" charset="-128"/>
              </a:rPr>
              <a:t>/</a:t>
            </a:r>
            <a:r>
              <a:rPr lang="en-US" altLang="ja-JP">
                <a:latin typeface="游ゴシック Medium" panose="020B0500000000000000" pitchFamily="50" charset="-128"/>
                <a:ea typeface="游ゴシック Medium" panose="020B0500000000000000" pitchFamily="50" charset="-128"/>
              </a:rPr>
              <a:t>19</a:t>
            </a:r>
            <a:r>
              <a:rPr lang="ja-JP" altLang="en-US">
                <a:latin typeface="游ゴシック Medium" panose="020B0500000000000000" pitchFamily="50" charset="-128"/>
                <a:ea typeface="游ゴシック Medium" panose="020B0500000000000000" pitchFamily="50" charset="-128"/>
              </a:rPr>
              <a:t>　鈴木航</a:t>
            </a:r>
            <a:endParaRPr kumimoji="1" lang="ja-JP" altLang="en-US">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21283802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8FAE9-54D7-3393-B9AA-22DF2B0187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A93081-0E41-4C67-778F-475576B00DCB}"/>
              </a:ext>
            </a:extLst>
          </p:cNvPr>
          <p:cNvSpPr>
            <a:spLocks noGrp="1"/>
          </p:cNvSpPr>
          <p:nvPr>
            <p:ph idx="1"/>
          </p:nvPr>
        </p:nvSpPr>
        <p:spPr>
          <a:xfrm>
            <a:off x="612647" y="931740"/>
            <a:ext cx="10653579" cy="507406"/>
          </a:xfrm>
        </p:spPr>
        <p:txBody>
          <a:bodyPr vert="horz" lIns="91440" tIns="45720" rIns="91440" bIns="45720" rtlCol="0" anchor="t">
            <a:normAutofit/>
          </a:bodyPr>
          <a:lstStyle/>
          <a:p>
            <a:pPr marL="0" indent="0">
              <a:buNone/>
            </a:pPr>
            <a:r>
              <a:rPr lang="en-US" altLang="ja-JP" sz="1600">
                <a:latin typeface="游ゴシック Medium" panose="020B0500000000000000" pitchFamily="50" charset="-128"/>
                <a:ea typeface="游ゴシック Medium" panose="020B0500000000000000" pitchFamily="50" charset="-128"/>
              </a:rPr>
              <a:t>SES</a:t>
            </a:r>
            <a:r>
              <a:rPr lang="ja-JP" altLang="en-US" sz="1600">
                <a:latin typeface="游ゴシック Medium" panose="020B0500000000000000" pitchFamily="50" charset="-128"/>
                <a:ea typeface="游ゴシック Medium" panose="020B0500000000000000" pitchFamily="50" charset="-128"/>
              </a:rPr>
              <a:t>事業において、要員と案件のマッチングに課題が存在する。</a:t>
            </a:r>
            <a:endParaRPr lang="en-US" altLang="ja-JP" sz="1600">
              <a:latin typeface="游ゴシック Medium" panose="020B0500000000000000" pitchFamily="50" charset="-128"/>
              <a:ea typeface="游ゴシック Medium" panose="020B0500000000000000" pitchFamily="50" charset="-128"/>
            </a:endParaRPr>
          </a:p>
        </p:txBody>
      </p:sp>
      <p:sp>
        <p:nvSpPr>
          <p:cNvPr id="4" name="Date Placeholder 3">
            <a:extLst>
              <a:ext uri="{FF2B5EF4-FFF2-40B4-BE49-F238E27FC236}">
                <a16:creationId xmlns:a16="http://schemas.microsoft.com/office/drawing/2014/main" id="{073DE5B3-45A2-BF6A-3902-2F6060CAFE20}"/>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AEB54C48-E8D8-1AC7-E7F8-CABBE215BD8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276DA9E-706B-0169-EC7B-90FD85341920}"/>
              </a:ext>
            </a:extLst>
          </p:cNvPr>
          <p:cNvSpPr>
            <a:spLocks noGrp="1"/>
          </p:cNvSpPr>
          <p:nvPr>
            <p:ph type="sldNum" sz="quarter" idx="12"/>
          </p:nvPr>
        </p:nvSpPr>
        <p:spPr/>
        <p:txBody>
          <a:bodyPr/>
          <a:lstStyle/>
          <a:p>
            <a:fld id="{CC057153-B650-4DEB-B370-79DDCFDCE934}" type="slidenum">
              <a:rPr lang="en-US" dirty="0"/>
              <a:t>2</a:t>
            </a:fld>
            <a:endParaRPr lang="en-US"/>
          </a:p>
        </p:txBody>
      </p:sp>
      <p:sp>
        <p:nvSpPr>
          <p:cNvPr id="14" name="Content Placeholder 2">
            <a:extLst>
              <a:ext uri="{FF2B5EF4-FFF2-40B4-BE49-F238E27FC236}">
                <a16:creationId xmlns:a16="http://schemas.microsoft.com/office/drawing/2014/main" id="{04882FEC-A1A3-4B38-1D73-591C4079EF93}"/>
              </a:ext>
            </a:extLst>
          </p:cNvPr>
          <p:cNvSpPr txBox="1">
            <a:spLocks/>
          </p:cNvSpPr>
          <p:nvPr/>
        </p:nvSpPr>
        <p:spPr>
          <a:xfrm>
            <a:off x="612647" y="2914469"/>
            <a:ext cx="10653579" cy="1768007"/>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0" lang="ja-JP" altLang="en-US" sz="1600" dirty="0">
                <a:latin typeface="游ゴシック Medium" panose="020B0500000000000000" pitchFamily="50" charset="-128"/>
                <a:ea typeface="游ゴシック Medium" panose="020B0500000000000000" pitchFamily="50" charset="-128"/>
              </a:rPr>
              <a:t>要因として以下理由から　</a:t>
            </a:r>
            <a:r>
              <a:rPr kumimoji="0" lang="en-US" altLang="ja-JP" sz="1600" b="1" u="sng" dirty="0">
                <a:latin typeface="游ゴシック Medium" panose="020B0500000000000000" pitchFamily="50" charset="-128"/>
                <a:ea typeface="游ゴシック Medium" panose="020B0500000000000000" pitchFamily="50" charset="-128"/>
              </a:rPr>
              <a:t>SES</a:t>
            </a:r>
            <a:r>
              <a:rPr kumimoji="0" lang="ja-JP" altLang="en-US" sz="1600" b="1" u="sng" dirty="0">
                <a:latin typeface="游ゴシック Medium" panose="020B0500000000000000" pitchFamily="50" charset="-128"/>
                <a:ea typeface="游ゴシック Medium" panose="020B0500000000000000" pitchFamily="50" charset="-128"/>
              </a:rPr>
              <a:t>ネットワーク</a:t>
            </a:r>
            <a:r>
              <a:rPr kumimoji="0" lang="en-US" altLang="ja-JP" sz="1600" b="1" u="sng" dirty="0">
                <a:latin typeface="游ゴシック Medium" panose="020B0500000000000000" pitchFamily="50" charset="-128"/>
                <a:ea typeface="游ゴシック Medium" panose="020B0500000000000000" pitchFamily="50" charset="-128"/>
              </a:rPr>
              <a:t>*</a:t>
            </a:r>
            <a:r>
              <a:rPr kumimoji="0" lang="ja-JP" altLang="en-US" sz="1600" b="1" u="sng" dirty="0">
                <a:latin typeface="游ゴシック Medium" panose="020B0500000000000000" pitchFamily="50" charset="-128"/>
                <a:ea typeface="游ゴシック Medium" panose="020B0500000000000000" pitchFamily="50" charset="-128"/>
              </a:rPr>
              <a:t>でのマッチングが十分行えていないこと</a:t>
            </a:r>
            <a:r>
              <a:rPr kumimoji="0" lang="ja-JP" altLang="en-US" sz="1600" dirty="0">
                <a:latin typeface="游ゴシック Medium" panose="020B0500000000000000" pitchFamily="50" charset="-128"/>
                <a:ea typeface="游ゴシック Medium" panose="020B0500000000000000" pitchFamily="50" charset="-128"/>
              </a:rPr>
              <a:t>　が挙げられる</a:t>
            </a:r>
            <a:endParaRPr lang="en-US" altLang="ja-JP" sz="1400" dirty="0">
              <a:latin typeface="游ゴシック Medium" panose="020B0500000000000000" pitchFamily="50" charset="-128"/>
              <a:ea typeface="游ゴシック Medium" panose="020B0500000000000000" pitchFamily="50" charset="-128"/>
              <a:cs typeface="+mn-lt"/>
            </a:endParaRPr>
          </a:p>
          <a:p>
            <a:pPr>
              <a:lnSpc>
                <a:spcPct val="100000"/>
              </a:lnSpc>
            </a:pPr>
            <a:r>
              <a:rPr lang="ja-JP" altLang="en-US" sz="1400" u="sng" dirty="0">
                <a:solidFill>
                  <a:srgbClr val="FF0000"/>
                </a:solidFill>
                <a:latin typeface="游ゴシック Medium" panose="020B0500000000000000" pitchFamily="50" charset="-128"/>
                <a:ea typeface="游ゴシック Medium" panose="020B0500000000000000" pitchFamily="50" charset="-128"/>
                <a:cs typeface="+mn-lt"/>
              </a:rPr>
              <a:t>経歴書と面談によるの事前評価が難しく</a:t>
            </a:r>
            <a:r>
              <a:rPr lang="ja-JP" altLang="en-US" sz="1400" dirty="0">
                <a:solidFill>
                  <a:srgbClr val="FF0000"/>
                </a:solidFill>
                <a:latin typeface="游ゴシック Medium" panose="020B0500000000000000" pitchFamily="50" charset="-128"/>
                <a:ea typeface="游ゴシック Medium" panose="020B0500000000000000" pitchFamily="50" charset="-128"/>
                <a:cs typeface="+mn-lt"/>
              </a:rPr>
              <a:t>、現場とのアンマッチが起きやすい</a:t>
            </a:r>
            <a:endParaRPr lang="en-US" altLang="ja-JP" sz="1400" dirty="0">
              <a:solidFill>
                <a:srgbClr val="FF0000"/>
              </a:solidFill>
              <a:latin typeface="游ゴシック Medium" panose="020B0500000000000000" pitchFamily="50" charset="-128"/>
              <a:ea typeface="游ゴシック Medium" panose="020B0500000000000000" pitchFamily="50" charset="-128"/>
              <a:cs typeface="+mn-lt"/>
            </a:endParaRPr>
          </a:p>
          <a:p>
            <a:pPr>
              <a:lnSpc>
                <a:spcPct val="100000"/>
              </a:lnSpc>
            </a:pPr>
            <a:r>
              <a:rPr lang="ja-JP" altLang="en-US" sz="1400" u="sng" dirty="0">
                <a:latin typeface="游ゴシック Medium" panose="020B0500000000000000" pitchFamily="50" charset="-128"/>
                <a:ea typeface="游ゴシック Medium" panose="020B0500000000000000" pitchFamily="50" charset="-128"/>
                <a:cs typeface="+mn-lt"/>
              </a:rPr>
              <a:t>専門知識を起きやすい選考</a:t>
            </a:r>
            <a:r>
              <a:rPr lang="ja-JP" altLang="en-US" sz="1400" dirty="0">
                <a:latin typeface="游ゴシック Medium" panose="020B0500000000000000" pitchFamily="50" charset="-128"/>
                <a:ea typeface="游ゴシック Medium" panose="020B0500000000000000" pitchFamily="50" charset="-128"/>
                <a:cs typeface="+mn-lt"/>
              </a:rPr>
              <a:t>及び</a:t>
            </a:r>
            <a:r>
              <a:rPr lang="ja-JP" altLang="en-US" sz="1400" u="sng" dirty="0">
                <a:latin typeface="游ゴシック Medium" panose="020B0500000000000000" pitchFamily="50" charset="-128"/>
                <a:ea typeface="游ゴシック Medium" panose="020B0500000000000000" pitchFamily="50" charset="-128"/>
                <a:cs typeface="+mn-lt"/>
              </a:rPr>
              <a:t>面談による選考</a:t>
            </a:r>
            <a:r>
              <a:rPr lang="ja-JP" altLang="en-US" sz="1400" dirty="0">
                <a:latin typeface="游ゴシック Medium" panose="020B0500000000000000" pitchFamily="50" charset="-128"/>
                <a:ea typeface="游ゴシック Medium" panose="020B0500000000000000" pitchFamily="50" charset="-128"/>
                <a:cs typeface="+mn-lt"/>
              </a:rPr>
              <a:t>が必要で、</a:t>
            </a:r>
            <a:r>
              <a:rPr lang="en-US" altLang="ja-JP" sz="1400" u="sng" dirty="0">
                <a:latin typeface="游ゴシック Medium" panose="020B0500000000000000" pitchFamily="50" charset="-128"/>
                <a:ea typeface="游ゴシック Medium" panose="020B0500000000000000" pitchFamily="50" charset="-128"/>
                <a:cs typeface="+mn-lt"/>
              </a:rPr>
              <a:t>E</a:t>
            </a:r>
            <a:r>
              <a:rPr lang="ja-JP" altLang="en-US" sz="1400" u="sng" dirty="0">
                <a:latin typeface="游ゴシック Medium" panose="020B0500000000000000" pitchFamily="50" charset="-128"/>
                <a:ea typeface="游ゴシック Medium" panose="020B0500000000000000" pitchFamily="50" charset="-128"/>
                <a:cs typeface="+mn-lt"/>
              </a:rPr>
              <a:t>メールを使った人力作業</a:t>
            </a:r>
            <a:r>
              <a:rPr lang="ja-JP" altLang="en-US" sz="1400" dirty="0">
                <a:latin typeface="游ゴシック Medium" panose="020B0500000000000000" pitchFamily="50" charset="-128"/>
                <a:ea typeface="游ゴシック Medium" panose="020B0500000000000000" pitchFamily="50" charset="-128"/>
                <a:cs typeface="+mn-lt"/>
              </a:rPr>
              <a:t>によって行われている</a:t>
            </a:r>
            <a:endParaRPr lang="en-US" altLang="ja-JP" sz="1400" dirty="0">
              <a:latin typeface="游ゴシック Medium" panose="020B0500000000000000" pitchFamily="50" charset="-128"/>
              <a:ea typeface="游ゴシック Medium" panose="020B0500000000000000" pitchFamily="50" charset="-128"/>
              <a:cs typeface="+mn-lt"/>
            </a:endParaRPr>
          </a:p>
          <a:p>
            <a:pPr>
              <a:lnSpc>
                <a:spcPct val="100000"/>
              </a:lnSpc>
            </a:pPr>
            <a:r>
              <a:rPr lang="ja-JP" altLang="en-US" sz="1400" dirty="0">
                <a:latin typeface="游ゴシック Medium" panose="020B0500000000000000" pitchFamily="50" charset="-128"/>
                <a:ea typeface="游ゴシック Medium" panose="020B0500000000000000" pitchFamily="50" charset="-128"/>
                <a:cs typeface="+mn-lt"/>
              </a:rPr>
              <a:t>これらのやり取りが</a:t>
            </a:r>
            <a:r>
              <a:rPr lang="ja-JP" altLang="en-US" sz="1400" u="sng" dirty="0">
                <a:latin typeface="游ゴシック Medium" panose="020B0500000000000000" pitchFamily="50" charset="-128"/>
                <a:ea typeface="游ゴシック Medium" panose="020B0500000000000000" pitchFamily="50" charset="-128"/>
                <a:cs typeface="+mn-lt"/>
              </a:rPr>
              <a:t>多数関係者間で行われるため機会損失が発生</a:t>
            </a:r>
            <a:r>
              <a:rPr lang="ja-JP" altLang="en-US" sz="1400" dirty="0">
                <a:latin typeface="游ゴシック Medium" panose="020B0500000000000000" pitchFamily="50" charset="-128"/>
                <a:ea typeface="游ゴシック Medium" panose="020B0500000000000000" pitchFamily="50" charset="-128"/>
                <a:cs typeface="+mn-lt"/>
              </a:rPr>
              <a:t>している</a:t>
            </a:r>
            <a:endParaRPr lang="en-US" altLang="ja-JP" sz="1400" dirty="0">
              <a:latin typeface="游ゴシック Medium" panose="020B0500000000000000" pitchFamily="50" charset="-128"/>
              <a:ea typeface="游ゴシック Medium" panose="020B0500000000000000" pitchFamily="50" charset="-128"/>
              <a:cs typeface="+mn-lt"/>
            </a:endParaRPr>
          </a:p>
          <a:p>
            <a:pPr marL="0" indent="0">
              <a:buFont typeface="Arial" panose="020B0604020202020204" pitchFamily="34" charset="0"/>
              <a:buNone/>
            </a:pPr>
            <a:endParaRPr kumimoji="0" lang="en-US" altLang="ja-JP" sz="1800" dirty="0">
              <a:latin typeface="游ゴシック Medium" panose="020B0500000000000000" pitchFamily="50" charset="-128"/>
              <a:ea typeface="游ゴシック Medium" panose="020B0500000000000000" pitchFamily="50" charset="-128"/>
            </a:endParaRPr>
          </a:p>
        </p:txBody>
      </p:sp>
      <p:grpSp>
        <p:nvGrpSpPr>
          <p:cNvPr id="7" name="グループ化 6">
            <a:extLst>
              <a:ext uri="{FF2B5EF4-FFF2-40B4-BE49-F238E27FC236}">
                <a16:creationId xmlns:a16="http://schemas.microsoft.com/office/drawing/2014/main" id="{B7BBCCE5-B09A-2302-6123-FA02B330D504}"/>
              </a:ext>
            </a:extLst>
          </p:cNvPr>
          <p:cNvGrpSpPr/>
          <p:nvPr/>
        </p:nvGrpSpPr>
        <p:grpSpPr>
          <a:xfrm>
            <a:off x="2944068" y="1594349"/>
            <a:ext cx="929005" cy="1095338"/>
            <a:chOff x="2219785" y="1963356"/>
            <a:chExt cx="817622" cy="964012"/>
          </a:xfrm>
        </p:grpSpPr>
        <p:pic>
          <p:nvPicPr>
            <p:cNvPr id="8" name="グラフィックス 7" descr="オフィス ワーカー (男性) 単色塗りつぶし">
              <a:extLst>
                <a:ext uri="{FF2B5EF4-FFF2-40B4-BE49-F238E27FC236}">
                  <a16:creationId xmlns:a16="http://schemas.microsoft.com/office/drawing/2014/main" id="{76445B9D-C384-A8C8-DD5C-9374607DE08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5463" y="1963356"/>
              <a:ext cx="666267" cy="666267"/>
            </a:xfrm>
            <a:prstGeom prst="rect">
              <a:avLst/>
            </a:prstGeom>
          </p:spPr>
        </p:pic>
        <p:sp>
          <p:nvSpPr>
            <p:cNvPr id="9" name="四角形: 角を丸くする 8">
              <a:extLst>
                <a:ext uri="{FF2B5EF4-FFF2-40B4-BE49-F238E27FC236}">
                  <a16:creationId xmlns:a16="http://schemas.microsoft.com/office/drawing/2014/main" id="{D5DDA675-B088-79AE-CCED-A7E41459F481}"/>
                </a:ext>
              </a:extLst>
            </p:cNvPr>
            <p:cNvSpPr/>
            <p:nvPr/>
          </p:nvSpPr>
          <p:spPr>
            <a:xfrm>
              <a:off x="2219785" y="2627676"/>
              <a:ext cx="817622" cy="29969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r>
                <a:rPr lang="ja-JP" altLang="en-US" sz="1400">
                  <a:solidFill>
                    <a:schemeClr val="tx1"/>
                  </a:solidFill>
                  <a:latin typeface="游ゴシック Medium" panose="020B0500000000000000" pitchFamily="50" charset="-128"/>
                  <a:ea typeface="游ゴシック Medium" panose="020B0500000000000000" pitchFamily="50" charset="-128"/>
                </a:rPr>
                <a:t>案件会社</a:t>
              </a:r>
              <a:endParaRPr kumimoji="1" lang="ja-JP" altLang="en-US" sz="140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10" name="グループ化 9">
            <a:extLst>
              <a:ext uri="{FF2B5EF4-FFF2-40B4-BE49-F238E27FC236}">
                <a16:creationId xmlns:a16="http://schemas.microsoft.com/office/drawing/2014/main" id="{4C1C3B8D-2A7D-6161-319A-C741F0D0107F}"/>
              </a:ext>
            </a:extLst>
          </p:cNvPr>
          <p:cNvGrpSpPr/>
          <p:nvPr/>
        </p:nvGrpSpPr>
        <p:grpSpPr>
          <a:xfrm>
            <a:off x="8381219" y="1586653"/>
            <a:ext cx="929005" cy="1103033"/>
            <a:chOff x="10600548" y="5216994"/>
            <a:chExt cx="817622" cy="970784"/>
          </a:xfrm>
        </p:grpSpPr>
        <p:pic>
          <p:nvPicPr>
            <p:cNvPr id="11" name="グラフィックス 10" descr="プログラマー男性 単色塗りつぶし">
              <a:extLst>
                <a:ext uri="{FF2B5EF4-FFF2-40B4-BE49-F238E27FC236}">
                  <a16:creationId xmlns:a16="http://schemas.microsoft.com/office/drawing/2014/main" id="{47446C85-7F70-603D-0753-49350F162D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12" name="四角形: 角を丸くする 11">
              <a:extLst>
                <a:ext uri="{FF2B5EF4-FFF2-40B4-BE49-F238E27FC236}">
                  <a16:creationId xmlns:a16="http://schemas.microsoft.com/office/drawing/2014/main" id="{D8AA541D-01CD-C4A8-F773-277DCA03D224}"/>
                </a:ext>
              </a:extLst>
            </p:cNvPr>
            <p:cNvSpPr/>
            <p:nvPr/>
          </p:nvSpPr>
          <p:spPr>
            <a:xfrm>
              <a:off x="10600548" y="5888086"/>
              <a:ext cx="817622" cy="29969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r>
                <a:rPr kumimoji="1" lang="ja-JP" altLang="en-US" sz="1400">
                  <a:solidFill>
                    <a:schemeClr val="tx1"/>
                  </a:solidFill>
                  <a:latin typeface="游ゴシック Medium" panose="020B0500000000000000" pitchFamily="50" charset="-128"/>
                  <a:ea typeface="游ゴシック Medium" panose="020B0500000000000000" pitchFamily="50" charset="-128"/>
                </a:rPr>
                <a:t>要員会社</a:t>
              </a:r>
            </a:p>
          </p:txBody>
        </p:sp>
      </p:grpSp>
      <p:sp>
        <p:nvSpPr>
          <p:cNvPr id="16" name="吹き出し: 角を丸めた四角形 15">
            <a:extLst>
              <a:ext uri="{FF2B5EF4-FFF2-40B4-BE49-F238E27FC236}">
                <a16:creationId xmlns:a16="http://schemas.microsoft.com/office/drawing/2014/main" id="{F02F1C6D-FB36-11C4-CF02-2591FF98EE7C}"/>
              </a:ext>
            </a:extLst>
          </p:cNvPr>
          <p:cNvSpPr/>
          <p:nvPr/>
        </p:nvSpPr>
        <p:spPr>
          <a:xfrm>
            <a:off x="3926996" y="1590545"/>
            <a:ext cx="2892972" cy="340519"/>
          </a:xfrm>
          <a:prstGeom prst="wedgeRoundRectCallout">
            <a:avLst>
              <a:gd name="adj1" fmla="val -40997"/>
              <a:gd name="adj2" fmla="val 104940"/>
              <a:gd name="adj3" fmla="val 16667"/>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kumimoji="1" lang="ja-JP" altLang="en-US" sz="1400">
                <a:latin typeface="游ゴシック Medium" panose="020B0500000000000000" pitchFamily="50" charset="-128"/>
                <a:ea typeface="游ゴシック Medium" panose="020B0500000000000000" pitchFamily="50" charset="-128"/>
              </a:rPr>
              <a:t>良い要員が見つからない</a:t>
            </a:r>
          </a:p>
        </p:txBody>
      </p:sp>
      <p:sp>
        <p:nvSpPr>
          <p:cNvPr id="17" name="吹き出し: 角を丸めた四角形 16">
            <a:extLst>
              <a:ext uri="{FF2B5EF4-FFF2-40B4-BE49-F238E27FC236}">
                <a16:creationId xmlns:a16="http://schemas.microsoft.com/office/drawing/2014/main" id="{FD8275E0-931D-6700-68C9-583BB1F4B046}"/>
              </a:ext>
            </a:extLst>
          </p:cNvPr>
          <p:cNvSpPr/>
          <p:nvPr/>
        </p:nvSpPr>
        <p:spPr>
          <a:xfrm>
            <a:off x="5373482" y="2283483"/>
            <a:ext cx="2892972" cy="340519"/>
          </a:xfrm>
          <a:prstGeom prst="wedgeRoundRectCallout">
            <a:avLst>
              <a:gd name="adj1" fmla="val 39929"/>
              <a:gd name="adj2" fmla="val -89900"/>
              <a:gd name="adj3" fmla="val 16667"/>
            </a:avLst>
          </a:prstGeom>
        </p:spPr>
        <p:style>
          <a:lnRef idx="2">
            <a:schemeClr val="dk1"/>
          </a:lnRef>
          <a:fillRef idx="1">
            <a:schemeClr val="lt1"/>
          </a:fillRef>
          <a:effectRef idx="0">
            <a:schemeClr val="dk1"/>
          </a:effectRef>
          <a:fontRef idx="minor">
            <a:schemeClr val="dk1"/>
          </a:fontRef>
        </p:style>
        <p:txBody>
          <a:bodyPr wrap="square" rtlCol="0" anchor="ctr">
            <a:spAutoFit/>
          </a:bodyPr>
          <a:lstStyle/>
          <a:p>
            <a:pPr algn="ctr"/>
            <a:r>
              <a:rPr kumimoji="1" lang="ja-JP" altLang="en-US" sz="1400">
                <a:latin typeface="游ゴシック Medium" panose="020B0500000000000000" pitchFamily="50" charset="-128"/>
                <a:ea typeface="游ゴシック Medium" panose="020B0500000000000000" pitchFamily="50" charset="-128"/>
              </a:rPr>
              <a:t>良い案件が見つからない</a:t>
            </a:r>
          </a:p>
        </p:txBody>
      </p:sp>
      <p:sp>
        <p:nvSpPr>
          <p:cNvPr id="19" name="Content Placeholder 2">
            <a:extLst>
              <a:ext uri="{FF2B5EF4-FFF2-40B4-BE49-F238E27FC236}">
                <a16:creationId xmlns:a16="http://schemas.microsoft.com/office/drawing/2014/main" id="{88B8B792-02DA-52B9-A1C8-1E5E48C89EF1}"/>
              </a:ext>
            </a:extLst>
          </p:cNvPr>
          <p:cNvSpPr txBox="1">
            <a:spLocks/>
          </p:cNvSpPr>
          <p:nvPr/>
        </p:nvSpPr>
        <p:spPr>
          <a:xfrm>
            <a:off x="1837253" y="5047415"/>
            <a:ext cx="4179485" cy="1081289"/>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0" lang="en-US" altLang="ja-JP" sz="1400">
                <a:latin typeface="游ゴシック Medium" panose="020B0500000000000000" pitchFamily="50" charset="-128"/>
                <a:ea typeface="游ゴシック Medium" panose="020B0500000000000000" pitchFamily="50" charset="-128"/>
              </a:rPr>
              <a:t>* SES</a:t>
            </a:r>
            <a:r>
              <a:rPr kumimoji="0" lang="ja-JP" altLang="en-US" sz="1400">
                <a:latin typeface="游ゴシック Medium" panose="020B0500000000000000" pitchFamily="50" charset="-128"/>
                <a:ea typeface="游ゴシック Medium" panose="020B0500000000000000" pitchFamily="50" charset="-128"/>
              </a:rPr>
              <a:t>ネットワークとは案件</a:t>
            </a:r>
            <a:r>
              <a:rPr kumimoji="0" lang="en-US" altLang="ja-JP" sz="1400">
                <a:latin typeface="游ゴシック Medium" panose="020B0500000000000000" pitchFamily="50" charset="-128"/>
                <a:ea typeface="游ゴシック Medium" panose="020B0500000000000000" pitchFamily="50" charset="-128"/>
              </a:rPr>
              <a:t>/</a:t>
            </a:r>
            <a:r>
              <a:rPr kumimoji="0" lang="ja-JP" altLang="en-US" sz="1400">
                <a:latin typeface="游ゴシック Medium" panose="020B0500000000000000" pitchFamily="50" charset="-128"/>
                <a:ea typeface="游ゴシック Medium" panose="020B0500000000000000" pitchFamily="50" charset="-128"/>
              </a:rPr>
              <a:t>要員の募集</a:t>
            </a:r>
            <a:r>
              <a:rPr kumimoji="0" lang="en-US" altLang="ja-JP" sz="1400">
                <a:latin typeface="游ゴシック Medium" panose="020B0500000000000000" pitchFamily="50" charset="-128"/>
                <a:ea typeface="游ゴシック Medium" panose="020B0500000000000000" pitchFamily="50" charset="-128"/>
              </a:rPr>
              <a:t>/</a:t>
            </a:r>
            <a:r>
              <a:rPr kumimoji="0" lang="ja-JP" altLang="en-US" sz="1400">
                <a:latin typeface="游ゴシック Medium" panose="020B0500000000000000" pitchFamily="50" charset="-128"/>
                <a:ea typeface="游ゴシック Medium" panose="020B0500000000000000" pitchFamily="50" charset="-128"/>
              </a:rPr>
              <a:t>提案を行うための繋がりを指す。多重下請け構造から情報網が複雑化している。</a:t>
            </a:r>
            <a:endParaRPr kumimoji="0" lang="en-US" altLang="ja-JP" sz="1400">
              <a:latin typeface="游ゴシック Medium" panose="020B0500000000000000" pitchFamily="50" charset="-128"/>
              <a:ea typeface="游ゴシック Medium" panose="020B0500000000000000" pitchFamily="50" charset="-128"/>
            </a:endParaRPr>
          </a:p>
        </p:txBody>
      </p:sp>
      <p:grpSp>
        <p:nvGrpSpPr>
          <p:cNvPr id="37" name="グループ化 36">
            <a:extLst>
              <a:ext uri="{FF2B5EF4-FFF2-40B4-BE49-F238E27FC236}">
                <a16:creationId xmlns:a16="http://schemas.microsoft.com/office/drawing/2014/main" id="{F1CF66D3-F4EF-572F-E066-9004CFD7E752}"/>
              </a:ext>
            </a:extLst>
          </p:cNvPr>
          <p:cNvGrpSpPr/>
          <p:nvPr/>
        </p:nvGrpSpPr>
        <p:grpSpPr>
          <a:xfrm>
            <a:off x="6292092" y="4682476"/>
            <a:ext cx="3381051" cy="1749916"/>
            <a:chOff x="6292092" y="4704624"/>
            <a:chExt cx="3381051" cy="1749916"/>
          </a:xfrm>
        </p:grpSpPr>
        <p:sp>
          <p:nvSpPr>
            <p:cNvPr id="35" name="四角形: 角を丸くする 34">
              <a:extLst>
                <a:ext uri="{FF2B5EF4-FFF2-40B4-BE49-F238E27FC236}">
                  <a16:creationId xmlns:a16="http://schemas.microsoft.com/office/drawing/2014/main" id="{2DC7D7A6-0463-696C-DA36-CB771595A1ED}"/>
                </a:ext>
              </a:extLst>
            </p:cNvPr>
            <p:cNvSpPr/>
            <p:nvPr/>
          </p:nvSpPr>
          <p:spPr>
            <a:xfrm>
              <a:off x="6292092" y="4704624"/>
              <a:ext cx="3381051" cy="1749916"/>
            </a:xfrm>
            <a:prstGeom prst="round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latin typeface="游ゴシック Medium" panose="020B0500000000000000" pitchFamily="50" charset="-128"/>
                <a:ea typeface="游ゴシック Medium" panose="020B0500000000000000" pitchFamily="50" charset="-128"/>
              </a:endParaRPr>
            </a:p>
          </p:txBody>
        </p:sp>
        <p:sp>
          <p:nvSpPr>
            <p:cNvPr id="21" name="テキスト ボックス 5">
              <a:extLst>
                <a:ext uri="{FF2B5EF4-FFF2-40B4-BE49-F238E27FC236}">
                  <a16:creationId xmlns:a16="http://schemas.microsoft.com/office/drawing/2014/main" id="{00FA09FF-3A65-DCA3-E4F6-8B51C1AA3E22}"/>
                </a:ext>
              </a:extLst>
            </p:cNvPr>
            <p:cNvSpPr txBox="1"/>
            <p:nvPr/>
          </p:nvSpPr>
          <p:spPr>
            <a:xfrm>
              <a:off x="6523149" y="5290141"/>
              <a:ext cx="596325" cy="578882"/>
            </a:xfrm>
            <a:prstGeom prst="roundRect">
              <a:avLst/>
            </a:prstGeom>
            <a:solidFill>
              <a:schemeClr val="bg1"/>
            </a:solidFill>
            <a:ln w="19050">
              <a:solidFill>
                <a:schemeClr val="bg1">
                  <a:lumMod val="50000"/>
                </a:schemeClr>
              </a:solid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400" b="1" u="sng">
                  <a:latin typeface="游ゴシック Medium" panose="020B0500000000000000" pitchFamily="50" charset="-128"/>
                  <a:ea typeface="游ゴシック Medium" panose="020B0500000000000000" pitchFamily="50" charset="-128"/>
                </a:rPr>
                <a:t>案件</a:t>
              </a:r>
              <a:endParaRPr kumimoji="1" lang="en-US" altLang="ja-JP" sz="1400" b="1" u="sng">
                <a:latin typeface="游ゴシック Medium" panose="020B0500000000000000" pitchFamily="50" charset="-128"/>
                <a:ea typeface="游ゴシック Medium" panose="020B0500000000000000" pitchFamily="50" charset="-128"/>
              </a:endParaRPr>
            </a:p>
            <a:p>
              <a:r>
                <a:rPr kumimoji="1" lang="ja-JP" altLang="en-US" sz="1400">
                  <a:latin typeface="游ゴシック Medium" panose="020B0500000000000000" pitchFamily="50" charset="-128"/>
                  <a:ea typeface="游ゴシック Medium" panose="020B0500000000000000" pitchFamily="50" charset="-128"/>
                </a:rPr>
                <a:t>会社</a:t>
              </a:r>
            </a:p>
          </p:txBody>
        </p:sp>
        <p:sp>
          <p:nvSpPr>
            <p:cNvPr id="22" name="テキスト ボックス 7">
              <a:extLst>
                <a:ext uri="{FF2B5EF4-FFF2-40B4-BE49-F238E27FC236}">
                  <a16:creationId xmlns:a16="http://schemas.microsoft.com/office/drawing/2014/main" id="{4B0575A3-1E65-B56D-C469-C087E999581B}"/>
                </a:ext>
              </a:extLst>
            </p:cNvPr>
            <p:cNvSpPr txBox="1"/>
            <p:nvPr/>
          </p:nvSpPr>
          <p:spPr>
            <a:xfrm>
              <a:off x="8845762" y="5290465"/>
              <a:ext cx="596325" cy="578882"/>
            </a:xfrm>
            <a:prstGeom prst="roundRect">
              <a:avLst/>
            </a:prstGeom>
            <a:solidFill>
              <a:schemeClr val="bg1"/>
            </a:solidFill>
            <a:ln w="19050">
              <a:solidFill>
                <a:schemeClr val="bg1">
                  <a:lumMod val="50000"/>
                </a:schemeClr>
              </a:solid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400" b="1" u="sng">
                  <a:latin typeface="游ゴシック Medium" panose="020B0500000000000000" pitchFamily="50" charset="-128"/>
                  <a:ea typeface="游ゴシック Medium" panose="020B0500000000000000" pitchFamily="50" charset="-128"/>
                </a:rPr>
                <a:t>要員</a:t>
              </a:r>
              <a:endParaRPr kumimoji="1" lang="en-US" altLang="ja-JP" sz="1400" b="1" u="sng">
                <a:latin typeface="游ゴシック Medium" panose="020B0500000000000000" pitchFamily="50" charset="-128"/>
                <a:ea typeface="游ゴシック Medium" panose="020B0500000000000000" pitchFamily="50" charset="-128"/>
              </a:endParaRPr>
            </a:p>
            <a:p>
              <a:r>
                <a:rPr kumimoji="1" lang="ja-JP" altLang="en-US" sz="1400">
                  <a:latin typeface="游ゴシック Medium" panose="020B0500000000000000" pitchFamily="50" charset="-128"/>
                  <a:ea typeface="游ゴシック Medium" panose="020B0500000000000000" pitchFamily="50" charset="-128"/>
                </a:rPr>
                <a:t>会社</a:t>
              </a:r>
            </a:p>
          </p:txBody>
        </p:sp>
        <p:sp>
          <p:nvSpPr>
            <p:cNvPr id="23" name="テキスト ボックス 8">
              <a:extLst>
                <a:ext uri="{FF2B5EF4-FFF2-40B4-BE49-F238E27FC236}">
                  <a16:creationId xmlns:a16="http://schemas.microsoft.com/office/drawing/2014/main" id="{955C70DA-3283-53B3-587D-810FF96B4A33}"/>
                </a:ext>
              </a:extLst>
            </p:cNvPr>
            <p:cNvSpPr txBox="1"/>
            <p:nvPr/>
          </p:nvSpPr>
          <p:spPr>
            <a:xfrm>
              <a:off x="7304914" y="4886606"/>
              <a:ext cx="596325" cy="578882"/>
            </a:xfrm>
            <a:prstGeom prst="roundRect">
              <a:avLst/>
            </a:prstGeom>
            <a:solidFill>
              <a:schemeClr val="bg1"/>
            </a:solidFill>
            <a:ln w="19050">
              <a:solidFill>
                <a:schemeClr val="bg1">
                  <a:lumMod val="50000"/>
                </a:schemeClr>
              </a:solid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400">
                  <a:latin typeface="游ゴシック Medium" panose="020B0500000000000000" pitchFamily="50" charset="-128"/>
                  <a:ea typeface="游ゴシック Medium" panose="020B0500000000000000" pitchFamily="50" charset="-128"/>
                </a:rPr>
                <a:t>仲介</a:t>
              </a:r>
              <a:endParaRPr kumimoji="1" lang="en-US" altLang="ja-JP" sz="1400">
                <a:latin typeface="游ゴシック Medium" panose="020B0500000000000000" pitchFamily="50" charset="-128"/>
                <a:ea typeface="游ゴシック Medium" panose="020B0500000000000000" pitchFamily="50" charset="-128"/>
              </a:endParaRPr>
            </a:p>
            <a:p>
              <a:r>
                <a:rPr kumimoji="1" lang="ja-JP" altLang="en-US" sz="1400">
                  <a:latin typeface="游ゴシック Medium" panose="020B0500000000000000" pitchFamily="50" charset="-128"/>
                  <a:ea typeface="游ゴシック Medium" panose="020B0500000000000000" pitchFamily="50" charset="-128"/>
                </a:rPr>
                <a:t>会社</a:t>
              </a:r>
            </a:p>
          </p:txBody>
        </p:sp>
        <p:sp>
          <p:nvSpPr>
            <p:cNvPr id="24" name="テキスト ボックス 10">
              <a:extLst>
                <a:ext uri="{FF2B5EF4-FFF2-40B4-BE49-F238E27FC236}">
                  <a16:creationId xmlns:a16="http://schemas.microsoft.com/office/drawing/2014/main" id="{F56EFC31-56A4-2B2F-7898-E3FCD10F2D86}"/>
                </a:ext>
              </a:extLst>
            </p:cNvPr>
            <p:cNvSpPr txBox="1"/>
            <p:nvPr/>
          </p:nvSpPr>
          <p:spPr>
            <a:xfrm>
              <a:off x="8075338" y="4886606"/>
              <a:ext cx="596325" cy="578882"/>
            </a:xfrm>
            <a:prstGeom prst="roundRect">
              <a:avLst/>
            </a:prstGeom>
            <a:solidFill>
              <a:schemeClr val="bg1"/>
            </a:solidFill>
            <a:ln w="19050">
              <a:solidFill>
                <a:schemeClr val="bg1">
                  <a:lumMod val="50000"/>
                </a:schemeClr>
              </a:solid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400">
                  <a:latin typeface="游ゴシック Medium" panose="020B0500000000000000" pitchFamily="50" charset="-128"/>
                  <a:ea typeface="游ゴシック Medium" panose="020B0500000000000000" pitchFamily="50" charset="-128"/>
                </a:rPr>
                <a:t>仲介</a:t>
              </a:r>
              <a:endParaRPr kumimoji="1" lang="en-US" altLang="ja-JP" sz="1400">
                <a:latin typeface="游ゴシック Medium" panose="020B0500000000000000" pitchFamily="50" charset="-128"/>
                <a:ea typeface="游ゴシック Medium" panose="020B0500000000000000" pitchFamily="50" charset="-128"/>
              </a:endParaRPr>
            </a:p>
            <a:p>
              <a:r>
                <a:rPr kumimoji="1" lang="ja-JP" altLang="en-US" sz="1400">
                  <a:latin typeface="游ゴシック Medium" panose="020B0500000000000000" pitchFamily="50" charset="-128"/>
                  <a:ea typeface="游ゴシック Medium" panose="020B0500000000000000" pitchFamily="50" charset="-128"/>
                </a:rPr>
                <a:t>会社</a:t>
              </a:r>
            </a:p>
          </p:txBody>
        </p:sp>
        <p:sp>
          <p:nvSpPr>
            <p:cNvPr id="25" name="テキスト ボックス 11">
              <a:extLst>
                <a:ext uri="{FF2B5EF4-FFF2-40B4-BE49-F238E27FC236}">
                  <a16:creationId xmlns:a16="http://schemas.microsoft.com/office/drawing/2014/main" id="{D52C2A25-950B-453C-4BBE-12BBEDF75580}"/>
                </a:ext>
              </a:extLst>
            </p:cNvPr>
            <p:cNvSpPr txBox="1"/>
            <p:nvPr/>
          </p:nvSpPr>
          <p:spPr>
            <a:xfrm>
              <a:off x="8075338" y="5754929"/>
              <a:ext cx="596325" cy="578882"/>
            </a:xfrm>
            <a:prstGeom prst="roundRect">
              <a:avLst/>
            </a:prstGeom>
            <a:solidFill>
              <a:schemeClr val="bg1"/>
            </a:solidFill>
            <a:ln w="19050">
              <a:solidFill>
                <a:schemeClr val="bg1">
                  <a:lumMod val="50000"/>
                </a:schemeClr>
              </a:solid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400">
                  <a:latin typeface="游ゴシック Medium" panose="020B0500000000000000" pitchFamily="50" charset="-128"/>
                  <a:ea typeface="游ゴシック Medium" panose="020B0500000000000000" pitchFamily="50" charset="-128"/>
                </a:rPr>
                <a:t>仲介</a:t>
              </a:r>
              <a:endParaRPr kumimoji="1" lang="en-US" altLang="ja-JP" sz="1400">
                <a:latin typeface="游ゴシック Medium" panose="020B0500000000000000" pitchFamily="50" charset="-128"/>
                <a:ea typeface="游ゴシック Medium" panose="020B0500000000000000" pitchFamily="50" charset="-128"/>
              </a:endParaRPr>
            </a:p>
            <a:p>
              <a:r>
                <a:rPr kumimoji="1" lang="ja-JP" altLang="en-US" sz="1400">
                  <a:latin typeface="游ゴシック Medium" panose="020B0500000000000000" pitchFamily="50" charset="-128"/>
                  <a:ea typeface="游ゴシック Medium" panose="020B0500000000000000" pitchFamily="50" charset="-128"/>
                </a:rPr>
                <a:t>会社</a:t>
              </a:r>
            </a:p>
          </p:txBody>
        </p:sp>
        <p:cxnSp>
          <p:nvCxnSpPr>
            <p:cNvPr id="26" name="直線コネクタ 25">
              <a:extLst>
                <a:ext uri="{FF2B5EF4-FFF2-40B4-BE49-F238E27FC236}">
                  <a16:creationId xmlns:a16="http://schemas.microsoft.com/office/drawing/2014/main" id="{B91B93EB-D05A-75DE-4A60-E6B1A28B31F4}"/>
                </a:ext>
              </a:extLst>
            </p:cNvPr>
            <p:cNvCxnSpPr>
              <a:cxnSpLocks/>
              <a:stCxn id="21" idx="3"/>
              <a:endCxn id="30" idx="1"/>
            </p:cNvCxnSpPr>
            <p:nvPr/>
          </p:nvCxnSpPr>
          <p:spPr>
            <a:xfrm>
              <a:off x="7119474" y="5579582"/>
              <a:ext cx="174099" cy="469597"/>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7" name="直線コネクタ 26">
              <a:extLst>
                <a:ext uri="{FF2B5EF4-FFF2-40B4-BE49-F238E27FC236}">
                  <a16:creationId xmlns:a16="http://schemas.microsoft.com/office/drawing/2014/main" id="{021B24E8-352A-ED50-0029-4FE44AB354E7}"/>
                </a:ext>
              </a:extLst>
            </p:cNvPr>
            <p:cNvCxnSpPr>
              <a:cxnSpLocks/>
              <a:stCxn id="21" idx="3"/>
              <a:endCxn id="23" idx="1"/>
            </p:cNvCxnSpPr>
            <p:nvPr/>
          </p:nvCxnSpPr>
          <p:spPr>
            <a:xfrm flipV="1">
              <a:off x="7119474" y="5176047"/>
              <a:ext cx="185440" cy="403535"/>
            </a:xfrm>
            <a:prstGeom prst="line">
              <a:avLst/>
            </a:prstGeom>
            <a:ln w="127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8" name="直線コネクタ 27">
              <a:extLst>
                <a:ext uri="{FF2B5EF4-FFF2-40B4-BE49-F238E27FC236}">
                  <a16:creationId xmlns:a16="http://schemas.microsoft.com/office/drawing/2014/main" id="{2668B9DB-4D9D-8298-ADC3-5EEF9C0F3A16}"/>
                </a:ext>
              </a:extLst>
            </p:cNvPr>
            <p:cNvCxnSpPr>
              <a:cxnSpLocks/>
              <a:stCxn id="24" idx="3"/>
              <a:endCxn id="22" idx="1"/>
            </p:cNvCxnSpPr>
            <p:nvPr/>
          </p:nvCxnSpPr>
          <p:spPr>
            <a:xfrm>
              <a:off x="8671663" y="5176047"/>
              <a:ext cx="174099" cy="403859"/>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29" name="直線コネクタ 28">
              <a:extLst>
                <a:ext uri="{FF2B5EF4-FFF2-40B4-BE49-F238E27FC236}">
                  <a16:creationId xmlns:a16="http://schemas.microsoft.com/office/drawing/2014/main" id="{DF4D34DD-F1C4-FFFE-ECBC-2837E007E9A7}"/>
                </a:ext>
              </a:extLst>
            </p:cNvPr>
            <p:cNvCxnSpPr>
              <a:cxnSpLocks/>
              <a:stCxn id="25" idx="3"/>
              <a:endCxn id="22" idx="1"/>
            </p:cNvCxnSpPr>
            <p:nvPr/>
          </p:nvCxnSpPr>
          <p:spPr>
            <a:xfrm flipV="1">
              <a:off x="8671663" y="5579906"/>
              <a:ext cx="174099" cy="464464"/>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30" name="テキスト ボックス 11">
              <a:extLst>
                <a:ext uri="{FF2B5EF4-FFF2-40B4-BE49-F238E27FC236}">
                  <a16:creationId xmlns:a16="http://schemas.microsoft.com/office/drawing/2014/main" id="{E60C59B6-1E87-8986-8E83-AADD2AC9D3E5}"/>
                </a:ext>
              </a:extLst>
            </p:cNvPr>
            <p:cNvSpPr txBox="1"/>
            <p:nvPr/>
          </p:nvSpPr>
          <p:spPr>
            <a:xfrm>
              <a:off x="7293573" y="5759738"/>
              <a:ext cx="596325" cy="578882"/>
            </a:xfrm>
            <a:prstGeom prst="roundRect">
              <a:avLst/>
            </a:prstGeom>
            <a:solidFill>
              <a:schemeClr val="bg1"/>
            </a:solidFill>
            <a:ln w="19050">
              <a:solidFill>
                <a:schemeClr val="bg1">
                  <a:lumMod val="50000"/>
                </a:schemeClr>
              </a:solid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400">
                  <a:latin typeface="游ゴシック Medium" panose="020B0500000000000000" pitchFamily="50" charset="-128"/>
                  <a:ea typeface="游ゴシック Medium" panose="020B0500000000000000" pitchFamily="50" charset="-128"/>
                </a:rPr>
                <a:t>仲介</a:t>
              </a:r>
              <a:endParaRPr kumimoji="1" lang="en-US" altLang="ja-JP" sz="1400">
                <a:latin typeface="游ゴシック Medium" panose="020B0500000000000000" pitchFamily="50" charset="-128"/>
                <a:ea typeface="游ゴシック Medium" panose="020B0500000000000000" pitchFamily="50" charset="-128"/>
              </a:endParaRPr>
            </a:p>
            <a:p>
              <a:r>
                <a:rPr kumimoji="1" lang="ja-JP" altLang="en-US" sz="1400">
                  <a:latin typeface="游ゴシック Medium" panose="020B0500000000000000" pitchFamily="50" charset="-128"/>
                  <a:ea typeface="游ゴシック Medium" panose="020B0500000000000000" pitchFamily="50" charset="-128"/>
                </a:rPr>
                <a:t>会社</a:t>
              </a:r>
            </a:p>
          </p:txBody>
        </p:sp>
        <p:cxnSp>
          <p:nvCxnSpPr>
            <p:cNvPr id="31" name="直線コネクタ 30">
              <a:extLst>
                <a:ext uri="{FF2B5EF4-FFF2-40B4-BE49-F238E27FC236}">
                  <a16:creationId xmlns:a16="http://schemas.microsoft.com/office/drawing/2014/main" id="{DFC14C1D-C6C6-D5BD-9CE3-06CCCEFA9E16}"/>
                </a:ext>
              </a:extLst>
            </p:cNvPr>
            <p:cNvCxnSpPr>
              <a:cxnSpLocks/>
              <a:stCxn id="30" idx="3"/>
              <a:endCxn id="24" idx="1"/>
            </p:cNvCxnSpPr>
            <p:nvPr/>
          </p:nvCxnSpPr>
          <p:spPr>
            <a:xfrm flipV="1">
              <a:off x="7889898" y="5176047"/>
              <a:ext cx="185440" cy="873132"/>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32" name="直線コネクタ 31">
              <a:extLst>
                <a:ext uri="{FF2B5EF4-FFF2-40B4-BE49-F238E27FC236}">
                  <a16:creationId xmlns:a16="http://schemas.microsoft.com/office/drawing/2014/main" id="{4C6866B5-B7F6-9162-2E54-10DD16F0407C}"/>
                </a:ext>
              </a:extLst>
            </p:cNvPr>
            <p:cNvCxnSpPr>
              <a:cxnSpLocks/>
              <a:stCxn id="25" idx="1"/>
              <a:endCxn id="23" idx="3"/>
            </p:cNvCxnSpPr>
            <p:nvPr/>
          </p:nvCxnSpPr>
          <p:spPr>
            <a:xfrm flipH="1" flipV="1">
              <a:off x="7901239" y="5176047"/>
              <a:ext cx="174099" cy="868323"/>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33" name="直線コネクタ 32">
              <a:extLst>
                <a:ext uri="{FF2B5EF4-FFF2-40B4-BE49-F238E27FC236}">
                  <a16:creationId xmlns:a16="http://schemas.microsoft.com/office/drawing/2014/main" id="{F9AE5C89-C57E-DA3A-2998-E3F956C36E3C}"/>
                </a:ext>
              </a:extLst>
            </p:cNvPr>
            <p:cNvCxnSpPr>
              <a:cxnSpLocks/>
              <a:stCxn id="24" idx="1"/>
              <a:endCxn id="23" idx="3"/>
            </p:cNvCxnSpPr>
            <p:nvPr/>
          </p:nvCxnSpPr>
          <p:spPr>
            <a:xfrm flipH="1">
              <a:off x="7901239" y="5176047"/>
              <a:ext cx="174099" cy="0"/>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34" name="直線コネクタ 33">
              <a:extLst>
                <a:ext uri="{FF2B5EF4-FFF2-40B4-BE49-F238E27FC236}">
                  <a16:creationId xmlns:a16="http://schemas.microsoft.com/office/drawing/2014/main" id="{F9C64961-ADD4-7D1F-57A8-D84E9FC9473B}"/>
                </a:ext>
              </a:extLst>
            </p:cNvPr>
            <p:cNvCxnSpPr>
              <a:cxnSpLocks/>
              <a:stCxn id="25" idx="1"/>
              <a:endCxn id="30" idx="3"/>
            </p:cNvCxnSpPr>
            <p:nvPr/>
          </p:nvCxnSpPr>
          <p:spPr>
            <a:xfrm flipH="1">
              <a:off x="7889898" y="6044370"/>
              <a:ext cx="185440" cy="4809"/>
            </a:xfrm>
            <a:prstGeom prst="line">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grpSp>
      <p:sp>
        <p:nvSpPr>
          <p:cNvPr id="36" name="コンテンツ プレースホルダー 2">
            <a:extLst>
              <a:ext uri="{FF2B5EF4-FFF2-40B4-BE49-F238E27FC236}">
                <a16:creationId xmlns:a16="http://schemas.microsoft.com/office/drawing/2014/main" id="{9DC4B75C-E46B-1719-630D-318C10BE7F6B}"/>
              </a:ext>
            </a:extLst>
          </p:cNvPr>
          <p:cNvSpPr txBox="1">
            <a:spLocks/>
          </p:cNvSpPr>
          <p:nvPr/>
        </p:nvSpPr>
        <p:spPr>
          <a:xfrm>
            <a:off x="3759404" y="6100196"/>
            <a:ext cx="2494593" cy="336823"/>
          </a:xfrm>
          <a:prstGeom prst="rect">
            <a:avLst/>
          </a:prstGeom>
        </p:spPr>
        <p:txBody>
          <a:bodyPr vert="horz" wrap="none" lIns="91440" tIns="45720" rIns="91440" bIns="45720" rtlCol="0" anchor="t">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sz="1400">
                <a:solidFill>
                  <a:schemeClr val="accent5"/>
                </a:solidFill>
                <a:latin typeface="游ゴシック"/>
                <a:ea typeface="游ゴシック"/>
              </a:rPr>
              <a:t>SES</a:t>
            </a:r>
            <a:r>
              <a:rPr lang="ja-JP" altLang="en-US" sz="1400">
                <a:solidFill>
                  <a:schemeClr val="accent5"/>
                </a:solidFill>
                <a:latin typeface="游ゴシック"/>
                <a:ea typeface="游ゴシック"/>
              </a:rPr>
              <a:t>ネットワークのイメージ</a:t>
            </a:r>
            <a:endParaRPr lang="en-US" altLang="ja-JP" sz="1400">
              <a:solidFill>
                <a:schemeClr val="accent5"/>
              </a:solidFill>
              <a:latin typeface="游ゴシック"/>
              <a:ea typeface="游ゴシック"/>
            </a:endParaRPr>
          </a:p>
        </p:txBody>
      </p:sp>
      <p:sp>
        <p:nvSpPr>
          <p:cNvPr id="18" name="Title 1">
            <a:extLst>
              <a:ext uri="{FF2B5EF4-FFF2-40B4-BE49-F238E27FC236}">
                <a16:creationId xmlns:a16="http://schemas.microsoft.com/office/drawing/2014/main" id="{4CE57BE0-2745-00CA-CE4E-ED501D4AFD9C}"/>
              </a:ext>
            </a:extLst>
          </p:cNvPr>
          <p:cNvSpPr>
            <a:spLocks noGrp="1"/>
          </p:cNvSpPr>
          <p:nvPr>
            <p:ph type="title"/>
          </p:nvPr>
        </p:nvSpPr>
        <p:spPr>
          <a:xfrm>
            <a:off x="612648" y="281870"/>
            <a:ext cx="10653578" cy="533540"/>
          </a:xfrm>
        </p:spPr>
        <p:txBody>
          <a:bodyPr>
            <a:normAutofit fontScale="90000"/>
          </a:bodyPr>
          <a:lstStyle/>
          <a:p>
            <a:r>
              <a:rPr lang="ja-JP" altLang="en-US"/>
              <a:t>課題</a:t>
            </a:r>
            <a:endParaRPr kumimoji="1" lang="ja-JP" altLang="en-US"/>
          </a:p>
        </p:txBody>
      </p:sp>
    </p:spTree>
    <p:extLst>
      <p:ext uri="{BB962C8B-B14F-4D97-AF65-F5344CB8AC3E}">
        <p14:creationId xmlns:p14="http://schemas.microsoft.com/office/powerpoint/2010/main" val="2510905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C6EB1-30D0-8E96-C053-C5F56B04C99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1C5748EC-4CE9-A491-47C2-7B61B95D12C2}"/>
              </a:ext>
            </a:extLst>
          </p:cNvPr>
          <p:cNvSpPr>
            <a:spLocks noGrp="1"/>
          </p:cNvSpPr>
          <p:nvPr>
            <p:ph type="dt" sz="half" idx="10"/>
          </p:nvPr>
        </p:nvSpPr>
        <p:spPr/>
        <p:txBody>
          <a:bodyPr/>
          <a:lstStyle/>
          <a:p>
            <a:fld id="{7598ACA5-9250-4720-BC2E-DB7A7966E012}" type="datetime1">
              <a:rPr lang="ja-JP" altLang="en-US"/>
              <a:t>2026/3/9</a:t>
            </a:fld>
            <a:endParaRPr lang="en-US" dirty="0"/>
          </a:p>
        </p:txBody>
      </p:sp>
      <p:sp>
        <p:nvSpPr>
          <p:cNvPr id="5" name="Footer Placeholder 4">
            <a:extLst>
              <a:ext uri="{FF2B5EF4-FFF2-40B4-BE49-F238E27FC236}">
                <a16:creationId xmlns:a16="http://schemas.microsoft.com/office/drawing/2014/main" id="{28ECC454-6472-1D48-347D-D622601CEB4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019D83A-F86A-CDCE-866C-A719FD724CC3}"/>
              </a:ext>
            </a:extLst>
          </p:cNvPr>
          <p:cNvSpPr>
            <a:spLocks noGrp="1"/>
          </p:cNvSpPr>
          <p:nvPr>
            <p:ph type="sldNum" sz="quarter" idx="12"/>
          </p:nvPr>
        </p:nvSpPr>
        <p:spPr/>
        <p:txBody>
          <a:bodyPr/>
          <a:lstStyle/>
          <a:p>
            <a:fld id="{CC057153-B650-4DEB-B370-79DDCFDCE934}" type="slidenum">
              <a:rPr lang="en-US" dirty="0"/>
              <a:t>3</a:t>
            </a:fld>
            <a:endParaRPr lang="en-US"/>
          </a:p>
        </p:txBody>
      </p:sp>
      <p:sp>
        <p:nvSpPr>
          <p:cNvPr id="18" name="Title 1">
            <a:extLst>
              <a:ext uri="{FF2B5EF4-FFF2-40B4-BE49-F238E27FC236}">
                <a16:creationId xmlns:a16="http://schemas.microsoft.com/office/drawing/2014/main" id="{2043A3C8-D216-6E56-F63A-4E9A64210EA2}"/>
              </a:ext>
            </a:extLst>
          </p:cNvPr>
          <p:cNvSpPr>
            <a:spLocks noGrp="1"/>
          </p:cNvSpPr>
          <p:nvPr>
            <p:ph type="title"/>
          </p:nvPr>
        </p:nvSpPr>
        <p:spPr>
          <a:xfrm>
            <a:off x="612648" y="281870"/>
            <a:ext cx="10653578" cy="533540"/>
          </a:xfrm>
        </p:spPr>
        <p:txBody>
          <a:bodyPr>
            <a:normAutofit fontScale="90000"/>
          </a:bodyPr>
          <a:lstStyle/>
          <a:p>
            <a:r>
              <a:rPr kumimoji="1" lang="ja-JP" altLang="en-US"/>
              <a:t>ソリューション</a:t>
            </a:r>
          </a:p>
        </p:txBody>
      </p:sp>
      <p:grpSp>
        <p:nvGrpSpPr>
          <p:cNvPr id="1032" name="グループ化 1031">
            <a:extLst>
              <a:ext uri="{FF2B5EF4-FFF2-40B4-BE49-F238E27FC236}">
                <a16:creationId xmlns:a16="http://schemas.microsoft.com/office/drawing/2014/main" id="{6058D67D-D2EF-8046-CDAE-AA1E843721D8}"/>
              </a:ext>
            </a:extLst>
          </p:cNvPr>
          <p:cNvGrpSpPr/>
          <p:nvPr/>
        </p:nvGrpSpPr>
        <p:grpSpPr>
          <a:xfrm>
            <a:off x="6179258" y="719217"/>
            <a:ext cx="5086968" cy="2152694"/>
            <a:chOff x="2050432" y="2642137"/>
            <a:chExt cx="7803579" cy="3302305"/>
          </a:xfrm>
        </p:grpSpPr>
        <p:cxnSp>
          <p:nvCxnSpPr>
            <p:cNvPr id="15" name="直線コネクタ 14">
              <a:extLst>
                <a:ext uri="{FF2B5EF4-FFF2-40B4-BE49-F238E27FC236}">
                  <a16:creationId xmlns:a16="http://schemas.microsoft.com/office/drawing/2014/main" id="{B1584484-DFCE-CF4D-44F6-2E6A38C6ABF6}"/>
                </a:ext>
              </a:extLst>
            </p:cNvPr>
            <p:cNvCxnSpPr>
              <a:cxnSpLocks/>
              <a:stCxn id="45" idx="1"/>
              <a:endCxn id="39" idx="3"/>
            </p:cNvCxnSpPr>
            <p:nvPr/>
          </p:nvCxnSpPr>
          <p:spPr>
            <a:xfrm flipH="1">
              <a:off x="3627857" y="4308770"/>
              <a:ext cx="1527657" cy="0"/>
            </a:xfrm>
            <a:prstGeom prst="line">
              <a:avLst/>
            </a:prstGeom>
            <a:ln w="762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20" name="コンテンツ プレースホルダー 2">
              <a:extLst>
                <a:ext uri="{FF2B5EF4-FFF2-40B4-BE49-F238E27FC236}">
                  <a16:creationId xmlns:a16="http://schemas.microsoft.com/office/drawing/2014/main" id="{E0F917FF-32D1-6C12-6C0E-C8A2407B9FC4}"/>
                </a:ext>
              </a:extLst>
            </p:cNvPr>
            <p:cNvSpPr txBox="1">
              <a:spLocks/>
            </p:cNvSpPr>
            <p:nvPr/>
          </p:nvSpPr>
          <p:spPr>
            <a:xfrm>
              <a:off x="3940709" y="3755743"/>
              <a:ext cx="1148873" cy="436336"/>
            </a:xfrm>
            <a:prstGeom prst="rect">
              <a:avLst/>
            </a:prstGeom>
          </p:spPr>
          <p:txBody>
            <a:bodyPr vert="horz" wrap="none" lIns="91440" tIns="45720" rIns="91440" bIns="45720" rtlCol="0" anchor="ctr">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100">
                  <a:latin typeface="游ゴシック"/>
                  <a:ea typeface="游ゴシック"/>
                </a:rPr>
                <a:t>契約関係</a:t>
              </a:r>
              <a:endParaRPr lang="en-US" altLang="ja-JP" sz="1100">
                <a:latin typeface="游ゴシック"/>
                <a:ea typeface="游ゴシック"/>
              </a:endParaRPr>
            </a:p>
          </p:txBody>
        </p:sp>
        <p:grpSp>
          <p:nvGrpSpPr>
            <p:cNvPr id="38" name="グループ化 37">
              <a:extLst>
                <a:ext uri="{FF2B5EF4-FFF2-40B4-BE49-F238E27FC236}">
                  <a16:creationId xmlns:a16="http://schemas.microsoft.com/office/drawing/2014/main" id="{269C7A20-A062-49DC-C84F-D55A4AD2CD3D}"/>
                </a:ext>
              </a:extLst>
            </p:cNvPr>
            <p:cNvGrpSpPr/>
            <p:nvPr/>
          </p:nvGrpSpPr>
          <p:grpSpPr>
            <a:xfrm>
              <a:off x="2060013" y="2673097"/>
              <a:ext cx="1567844" cy="3271345"/>
              <a:chOff x="2060013" y="2673097"/>
              <a:chExt cx="1567844" cy="3271345"/>
            </a:xfrm>
          </p:grpSpPr>
          <p:sp>
            <p:nvSpPr>
              <p:cNvPr id="39" name="テキスト ボックス 5">
                <a:extLst>
                  <a:ext uri="{FF2B5EF4-FFF2-40B4-BE49-F238E27FC236}">
                    <a16:creationId xmlns:a16="http://schemas.microsoft.com/office/drawing/2014/main" id="{8A2B369F-A166-12B2-7627-BA432C765681}"/>
                  </a:ext>
                </a:extLst>
              </p:cNvPr>
              <p:cNvSpPr txBox="1"/>
              <p:nvPr/>
            </p:nvSpPr>
            <p:spPr>
              <a:xfrm>
                <a:off x="2060013" y="2673097"/>
                <a:ext cx="1567844" cy="3271345"/>
              </a:xfrm>
              <a:prstGeom prst="roundRect">
                <a:avLst/>
              </a:prstGeom>
              <a:solidFill>
                <a:schemeClr val="bg1"/>
              </a:solidFill>
              <a:ln w="19050">
                <a:solidFill>
                  <a:schemeClr val="bg1">
                    <a:lumMod val="50000"/>
                  </a:schemeClr>
                </a:solidFill>
              </a:ln>
            </p:spPr>
            <p:txBody>
              <a:bodyPr wrap="square" rtlCol="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100" b="1" u="sng"/>
                  <a:t>案件</a:t>
                </a:r>
                <a:r>
                  <a:rPr kumimoji="1" lang="ja-JP" altLang="en-US" sz="1100"/>
                  <a:t>会社</a:t>
                </a:r>
              </a:p>
            </p:txBody>
          </p:sp>
          <p:pic>
            <p:nvPicPr>
              <p:cNvPr id="40" name="グラフィックス 39" descr="オフィス ワーカー (男性) 単色塗りつぶし">
                <a:extLst>
                  <a:ext uri="{FF2B5EF4-FFF2-40B4-BE49-F238E27FC236}">
                    <a16:creationId xmlns:a16="http://schemas.microsoft.com/office/drawing/2014/main" id="{09363DA5-2A47-10D8-01A5-06E3DC5D67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4493" y="3267426"/>
                <a:ext cx="578881" cy="578882"/>
              </a:xfrm>
              <a:prstGeom prst="rect">
                <a:avLst/>
              </a:prstGeom>
            </p:spPr>
          </p:pic>
          <p:sp>
            <p:nvSpPr>
              <p:cNvPr id="41" name="テキスト ボックス 40">
                <a:extLst>
                  <a:ext uri="{FF2B5EF4-FFF2-40B4-BE49-F238E27FC236}">
                    <a16:creationId xmlns:a16="http://schemas.microsoft.com/office/drawing/2014/main" id="{FC4F25CA-92CB-B9A2-0466-BE26496731CB}"/>
                  </a:ext>
                </a:extLst>
              </p:cNvPr>
              <p:cNvSpPr txBox="1"/>
              <p:nvPr/>
            </p:nvSpPr>
            <p:spPr>
              <a:xfrm>
                <a:off x="2485896" y="3852134"/>
                <a:ext cx="716079" cy="401319"/>
              </a:xfrm>
              <a:prstGeom prst="rect">
                <a:avLst/>
              </a:prstGeom>
              <a:noFill/>
            </p:spPr>
            <p:txBody>
              <a:bodyPr wrap="none" rtlCol="0">
                <a:spAutoFit/>
              </a:bodyPr>
              <a:lstStyle/>
              <a:p>
                <a:pPr algn="ctr"/>
                <a:r>
                  <a:rPr kumimoji="1" lang="ja-JP" altLang="en-US" sz="1100"/>
                  <a:t>営業</a:t>
                </a:r>
              </a:p>
            </p:txBody>
          </p:sp>
          <p:pic>
            <p:nvPicPr>
              <p:cNvPr id="42" name="グラフィックス 41" descr="プログラマー男性 単色塗りつぶし">
                <a:extLst>
                  <a:ext uri="{FF2B5EF4-FFF2-40B4-BE49-F238E27FC236}">
                    <a16:creationId xmlns:a16="http://schemas.microsoft.com/office/drawing/2014/main" id="{F023ACDB-D907-92B2-4FC4-AEAAA73F587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54494" y="4586860"/>
                <a:ext cx="578880" cy="578881"/>
              </a:xfrm>
              <a:prstGeom prst="rect">
                <a:avLst/>
              </a:prstGeom>
            </p:spPr>
          </p:pic>
          <p:sp>
            <p:nvSpPr>
              <p:cNvPr id="43" name="テキスト ボックス 42">
                <a:extLst>
                  <a:ext uri="{FF2B5EF4-FFF2-40B4-BE49-F238E27FC236}">
                    <a16:creationId xmlns:a16="http://schemas.microsoft.com/office/drawing/2014/main" id="{439AB153-5604-05DA-C5B5-883B53A1D65C}"/>
                  </a:ext>
                </a:extLst>
              </p:cNvPr>
              <p:cNvSpPr txBox="1"/>
              <p:nvPr/>
            </p:nvSpPr>
            <p:spPr>
              <a:xfrm>
                <a:off x="2536308" y="5165740"/>
                <a:ext cx="615258" cy="401319"/>
              </a:xfrm>
              <a:prstGeom prst="rect">
                <a:avLst/>
              </a:prstGeom>
              <a:noFill/>
            </p:spPr>
            <p:txBody>
              <a:bodyPr wrap="none" rtlCol="0">
                <a:spAutoFit/>
              </a:bodyPr>
              <a:lstStyle/>
              <a:p>
                <a:pPr algn="ctr"/>
                <a:r>
                  <a:rPr lang="en-US" altLang="ja-JP" sz="1100"/>
                  <a:t>PM</a:t>
                </a:r>
                <a:endParaRPr kumimoji="1" lang="ja-JP" altLang="en-US" sz="1100"/>
              </a:p>
            </p:txBody>
          </p:sp>
        </p:grpSp>
        <p:grpSp>
          <p:nvGrpSpPr>
            <p:cNvPr id="44" name="グループ化 43">
              <a:extLst>
                <a:ext uri="{FF2B5EF4-FFF2-40B4-BE49-F238E27FC236}">
                  <a16:creationId xmlns:a16="http://schemas.microsoft.com/office/drawing/2014/main" id="{79B91D2A-75FD-1C10-40F5-008FB08C6FDD}"/>
                </a:ext>
              </a:extLst>
            </p:cNvPr>
            <p:cNvGrpSpPr/>
            <p:nvPr/>
          </p:nvGrpSpPr>
          <p:grpSpPr>
            <a:xfrm>
              <a:off x="5155514" y="2673097"/>
              <a:ext cx="1567844" cy="3271345"/>
              <a:chOff x="2060013" y="2673097"/>
              <a:chExt cx="1567844" cy="3271345"/>
            </a:xfrm>
          </p:grpSpPr>
          <p:sp>
            <p:nvSpPr>
              <p:cNvPr id="45" name="テキスト ボックス 5">
                <a:extLst>
                  <a:ext uri="{FF2B5EF4-FFF2-40B4-BE49-F238E27FC236}">
                    <a16:creationId xmlns:a16="http://schemas.microsoft.com/office/drawing/2014/main" id="{6992A44A-0F49-E0F0-E8AE-6B08164820F7}"/>
                  </a:ext>
                </a:extLst>
              </p:cNvPr>
              <p:cNvSpPr txBox="1"/>
              <p:nvPr/>
            </p:nvSpPr>
            <p:spPr>
              <a:xfrm>
                <a:off x="2060013" y="2673097"/>
                <a:ext cx="1567844" cy="3271345"/>
              </a:xfrm>
              <a:prstGeom prst="roundRect">
                <a:avLst/>
              </a:prstGeom>
              <a:solidFill>
                <a:schemeClr val="bg1"/>
              </a:solidFill>
              <a:ln w="19050">
                <a:solidFill>
                  <a:schemeClr val="bg1">
                    <a:lumMod val="50000"/>
                  </a:schemeClr>
                </a:solidFill>
              </a:ln>
            </p:spPr>
            <p:txBody>
              <a:bodyPr wrap="square" rtlCol="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100"/>
                  <a:t>仲介会社</a:t>
                </a:r>
              </a:p>
            </p:txBody>
          </p:sp>
          <p:pic>
            <p:nvPicPr>
              <p:cNvPr id="46" name="グラフィックス 45" descr="オフィス ワーカー (男性) 単色塗りつぶし">
                <a:extLst>
                  <a:ext uri="{FF2B5EF4-FFF2-40B4-BE49-F238E27FC236}">
                    <a16:creationId xmlns:a16="http://schemas.microsoft.com/office/drawing/2014/main" id="{4347F86C-B0EA-0F88-B2BB-0D2779758D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4493" y="3267426"/>
                <a:ext cx="578881" cy="578882"/>
              </a:xfrm>
              <a:prstGeom prst="rect">
                <a:avLst/>
              </a:prstGeom>
            </p:spPr>
          </p:pic>
          <p:sp>
            <p:nvSpPr>
              <p:cNvPr id="47" name="テキスト ボックス 46">
                <a:extLst>
                  <a:ext uri="{FF2B5EF4-FFF2-40B4-BE49-F238E27FC236}">
                    <a16:creationId xmlns:a16="http://schemas.microsoft.com/office/drawing/2014/main" id="{04515CFD-93FB-EDE0-0B0C-B6DEB875A758}"/>
                  </a:ext>
                </a:extLst>
              </p:cNvPr>
              <p:cNvSpPr txBox="1"/>
              <p:nvPr/>
            </p:nvSpPr>
            <p:spPr>
              <a:xfrm>
                <a:off x="2485896" y="3852134"/>
                <a:ext cx="716079" cy="401319"/>
              </a:xfrm>
              <a:prstGeom prst="rect">
                <a:avLst/>
              </a:prstGeom>
              <a:noFill/>
            </p:spPr>
            <p:txBody>
              <a:bodyPr wrap="none" rtlCol="0">
                <a:spAutoFit/>
              </a:bodyPr>
              <a:lstStyle/>
              <a:p>
                <a:pPr algn="ctr"/>
                <a:r>
                  <a:rPr kumimoji="1" lang="ja-JP" altLang="en-US" sz="1100"/>
                  <a:t>営業</a:t>
                </a:r>
              </a:p>
            </p:txBody>
          </p:sp>
        </p:grpSp>
        <p:grpSp>
          <p:nvGrpSpPr>
            <p:cNvPr id="48" name="グループ化 47">
              <a:extLst>
                <a:ext uri="{FF2B5EF4-FFF2-40B4-BE49-F238E27FC236}">
                  <a16:creationId xmlns:a16="http://schemas.microsoft.com/office/drawing/2014/main" id="{96AA59EC-6962-31A7-4656-8E1F11A5E855}"/>
                </a:ext>
              </a:extLst>
            </p:cNvPr>
            <p:cNvGrpSpPr/>
            <p:nvPr/>
          </p:nvGrpSpPr>
          <p:grpSpPr>
            <a:xfrm>
              <a:off x="8252060" y="2673097"/>
              <a:ext cx="1567844" cy="3271345"/>
              <a:chOff x="2060013" y="2673097"/>
              <a:chExt cx="1567844" cy="3271345"/>
            </a:xfrm>
          </p:grpSpPr>
          <p:sp>
            <p:nvSpPr>
              <p:cNvPr id="49" name="テキスト ボックス 5">
                <a:extLst>
                  <a:ext uri="{FF2B5EF4-FFF2-40B4-BE49-F238E27FC236}">
                    <a16:creationId xmlns:a16="http://schemas.microsoft.com/office/drawing/2014/main" id="{BF6EDD97-C2F2-21FC-ADAC-59609DA19DFA}"/>
                  </a:ext>
                </a:extLst>
              </p:cNvPr>
              <p:cNvSpPr txBox="1"/>
              <p:nvPr/>
            </p:nvSpPr>
            <p:spPr>
              <a:xfrm>
                <a:off x="2060013" y="2673097"/>
                <a:ext cx="1567844" cy="3271345"/>
              </a:xfrm>
              <a:prstGeom prst="roundRect">
                <a:avLst/>
              </a:prstGeom>
              <a:solidFill>
                <a:schemeClr val="bg1"/>
              </a:solidFill>
              <a:ln w="19050">
                <a:solidFill>
                  <a:schemeClr val="bg1">
                    <a:lumMod val="50000"/>
                  </a:schemeClr>
                </a:solidFill>
              </a:ln>
            </p:spPr>
            <p:txBody>
              <a:bodyPr wrap="square" rtlCol="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100" b="1" u="sng"/>
                  <a:t>要員</a:t>
                </a:r>
                <a:r>
                  <a:rPr kumimoji="1" lang="ja-JP" altLang="en-US" sz="1100"/>
                  <a:t>会社</a:t>
                </a:r>
              </a:p>
            </p:txBody>
          </p:sp>
          <p:pic>
            <p:nvPicPr>
              <p:cNvPr id="50" name="グラフィックス 49" descr="オフィス ワーカー (男性) 単色塗りつぶし">
                <a:extLst>
                  <a:ext uri="{FF2B5EF4-FFF2-40B4-BE49-F238E27FC236}">
                    <a16:creationId xmlns:a16="http://schemas.microsoft.com/office/drawing/2014/main" id="{9A8B5170-72D9-2221-B16A-B512E9A82D5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4493" y="3267426"/>
                <a:ext cx="578881" cy="578882"/>
              </a:xfrm>
              <a:prstGeom prst="rect">
                <a:avLst/>
              </a:prstGeom>
            </p:spPr>
          </p:pic>
          <p:sp>
            <p:nvSpPr>
              <p:cNvPr id="51" name="テキスト ボックス 50">
                <a:extLst>
                  <a:ext uri="{FF2B5EF4-FFF2-40B4-BE49-F238E27FC236}">
                    <a16:creationId xmlns:a16="http://schemas.microsoft.com/office/drawing/2014/main" id="{4F8B9A62-D241-9ED5-E4AB-22CA779F86D5}"/>
                  </a:ext>
                </a:extLst>
              </p:cNvPr>
              <p:cNvSpPr txBox="1"/>
              <p:nvPr/>
            </p:nvSpPr>
            <p:spPr>
              <a:xfrm>
                <a:off x="2485896" y="3852134"/>
                <a:ext cx="716079" cy="401319"/>
              </a:xfrm>
              <a:prstGeom prst="rect">
                <a:avLst/>
              </a:prstGeom>
              <a:noFill/>
            </p:spPr>
            <p:txBody>
              <a:bodyPr wrap="none" rtlCol="0">
                <a:spAutoFit/>
              </a:bodyPr>
              <a:lstStyle/>
              <a:p>
                <a:pPr algn="ctr"/>
                <a:r>
                  <a:rPr kumimoji="1" lang="ja-JP" altLang="en-US" sz="1100"/>
                  <a:t>営業</a:t>
                </a:r>
              </a:p>
            </p:txBody>
          </p:sp>
          <p:pic>
            <p:nvPicPr>
              <p:cNvPr id="52" name="グラフィックス 51" descr="プログラマー男性 単色塗りつぶし">
                <a:extLst>
                  <a:ext uri="{FF2B5EF4-FFF2-40B4-BE49-F238E27FC236}">
                    <a16:creationId xmlns:a16="http://schemas.microsoft.com/office/drawing/2014/main" id="{2C75AC78-AC73-168C-CF03-9562635F505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54494" y="4586860"/>
                <a:ext cx="578880" cy="578881"/>
              </a:xfrm>
              <a:prstGeom prst="rect">
                <a:avLst/>
              </a:prstGeom>
            </p:spPr>
          </p:pic>
          <p:sp>
            <p:nvSpPr>
              <p:cNvPr id="53" name="テキスト ボックス 52">
                <a:extLst>
                  <a:ext uri="{FF2B5EF4-FFF2-40B4-BE49-F238E27FC236}">
                    <a16:creationId xmlns:a16="http://schemas.microsoft.com/office/drawing/2014/main" id="{C8F54054-0DCB-2973-737D-E6D3B0FFB3DB}"/>
                  </a:ext>
                </a:extLst>
              </p:cNvPr>
              <p:cNvSpPr txBox="1"/>
              <p:nvPr/>
            </p:nvSpPr>
            <p:spPr>
              <a:xfrm>
                <a:off x="2557210" y="5165740"/>
                <a:ext cx="573454" cy="401319"/>
              </a:xfrm>
              <a:prstGeom prst="rect">
                <a:avLst/>
              </a:prstGeom>
              <a:noFill/>
            </p:spPr>
            <p:txBody>
              <a:bodyPr wrap="none" rtlCol="0">
                <a:spAutoFit/>
              </a:bodyPr>
              <a:lstStyle/>
              <a:p>
                <a:pPr algn="ctr"/>
                <a:r>
                  <a:rPr kumimoji="1" lang="en-US" altLang="ja-JP" sz="1100"/>
                  <a:t>SE</a:t>
                </a:r>
                <a:endParaRPr kumimoji="1" lang="ja-JP" altLang="en-US" sz="1100"/>
              </a:p>
            </p:txBody>
          </p:sp>
        </p:grpSp>
        <p:pic>
          <p:nvPicPr>
            <p:cNvPr id="54" name="グラフィックス 53" descr="握手 単色塗りつぶし">
              <a:extLst>
                <a:ext uri="{FF2B5EF4-FFF2-40B4-BE49-F238E27FC236}">
                  <a16:creationId xmlns:a16="http://schemas.microsoft.com/office/drawing/2014/main" id="{812ED634-6F34-BF51-47F5-05DB557EBC0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047743" y="3973910"/>
              <a:ext cx="665284" cy="665284"/>
            </a:xfrm>
            <a:prstGeom prst="rect">
              <a:avLst/>
            </a:prstGeom>
          </p:spPr>
        </p:pic>
        <p:sp>
          <p:nvSpPr>
            <p:cNvPr id="55" name="矢印: 右 54">
              <a:extLst>
                <a:ext uri="{FF2B5EF4-FFF2-40B4-BE49-F238E27FC236}">
                  <a16:creationId xmlns:a16="http://schemas.microsoft.com/office/drawing/2014/main" id="{31A69526-9480-1B8B-9EF4-5A788C2E30C9}"/>
                </a:ext>
              </a:extLst>
            </p:cNvPr>
            <p:cNvSpPr/>
            <p:nvPr/>
          </p:nvSpPr>
          <p:spPr>
            <a:xfrm rot="16200000">
              <a:off x="1758212" y="4038476"/>
              <a:ext cx="1165205" cy="580765"/>
            </a:xfrm>
            <a:prstGeom prst="rightArrow">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rPr>
                <a:t>募集</a:t>
              </a:r>
              <a:endParaRPr kumimoji="1" lang="ja-JP" altLang="en-US" sz="1400">
                <a:solidFill>
                  <a:schemeClr val="tx1"/>
                </a:solidFill>
              </a:endParaRPr>
            </a:p>
          </p:txBody>
        </p:sp>
        <p:sp>
          <p:nvSpPr>
            <p:cNvPr id="56" name="矢印: 右 55">
              <a:extLst>
                <a:ext uri="{FF2B5EF4-FFF2-40B4-BE49-F238E27FC236}">
                  <a16:creationId xmlns:a16="http://schemas.microsoft.com/office/drawing/2014/main" id="{C892113A-6FB5-1A0D-3943-AF927BB31B9C}"/>
                </a:ext>
              </a:extLst>
            </p:cNvPr>
            <p:cNvSpPr/>
            <p:nvPr/>
          </p:nvSpPr>
          <p:spPr>
            <a:xfrm rot="5400000">
              <a:off x="2780443" y="4038476"/>
              <a:ext cx="1165205" cy="580765"/>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ja-JP" altLang="en-US" sz="1100">
                  <a:solidFill>
                    <a:schemeClr val="tx1"/>
                  </a:solidFill>
                </a:rPr>
                <a:t>提案</a:t>
              </a:r>
              <a:endParaRPr kumimoji="1" lang="ja-JP" altLang="en-US" sz="1400">
                <a:solidFill>
                  <a:schemeClr val="tx1"/>
                </a:solidFill>
              </a:endParaRPr>
            </a:p>
          </p:txBody>
        </p:sp>
        <p:sp>
          <p:nvSpPr>
            <p:cNvPr id="57" name="矢印: 右 56">
              <a:extLst>
                <a:ext uri="{FF2B5EF4-FFF2-40B4-BE49-F238E27FC236}">
                  <a16:creationId xmlns:a16="http://schemas.microsoft.com/office/drawing/2014/main" id="{5F88B2FD-FC39-23FF-10FB-2E0166D03C2A}"/>
                </a:ext>
              </a:extLst>
            </p:cNvPr>
            <p:cNvSpPr/>
            <p:nvPr/>
          </p:nvSpPr>
          <p:spPr>
            <a:xfrm>
              <a:off x="3867135" y="2642137"/>
              <a:ext cx="1165205" cy="580765"/>
            </a:xfrm>
            <a:prstGeom prst="rightArrow">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ja-JP" altLang="en-US" sz="1100">
                  <a:solidFill>
                    <a:schemeClr val="tx1"/>
                  </a:solidFill>
                </a:rPr>
                <a:t>募集</a:t>
              </a:r>
              <a:endParaRPr kumimoji="1" lang="ja-JP" altLang="en-US" sz="1400">
                <a:solidFill>
                  <a:schemeClr val="tx1"/>
                </a:solidFill>
              </a:endParaRPr>
            </a:p>
          </p:txBody>
        </p:sp>
        <p:sp>
          <p:nvSpPr>
            <p:cNvPr id="58" name="矢印: 左 57">
              <a:extLst>
                <a:ext uri="{FF2B5EF4-FFF2-40B4-BE49-F238E27FC236}">
                  <a16:creationId xmlns:a16="http://schemas.microsoft.com/office/drawing/2014/main" id="{66A7A1FC-1C67-D0A3-345C-4525790CA7AE}"/>
                </a:ext>
              </a:extLst>
            </p:cNvPr>
            <p:cNvSpPr/>
            <p:nvPr/>
          </p:nvSpPr>
          <p:spPr>
            <a:xfrm>
              <a:off x="3797782" y="3124000"/>
              <a:ext cx="1165205" cy="580764"/>
            </a:xfrm>
            <a:prstGeom prst="lef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ja-JP" altLang="en-US" sz="1100">
                  <a:solidFill>
                    <a:schemeClr val="tx1"/>
                  </a:solidFill>
                </a:rPr>
                <a:t>提案</a:t>
              </a:r>
            </a:p>
          </p:txBody>
        </p:sp>
        <p:sp>
          <p:nvSpPr>
            <p:cNvPr id="59" name="矢印: 右 58">
              <a:extLst>
                <a:ext uri="{FF2B5EF4-FFF2-40B4-BE49-F238E27FC236}">
                  <a16:creationId xmlns:a16="http://schemas.microsoft.com/office/drawing/2014/main" id="{55B287FA-988D-A00E-3AEE-578E75014387}"/>
                </a:ext>
              </a:extLst>
            </p:cNvPr>
            <p:cNvSpPr/>
            <p:nvPr/>
          </p:nvSpPr>
          <p:spPr>
            <a:xfrm rot="16200000">
              <a:off x="7956606" y="4038476"/>
              <a:ext cx="1165205" cy="580765"/>
            </a:xfrm>
            <a:prstGeom prst="righ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eaVert" rtlCol="0" anchor="ctr"/>
            <a:lstStyle/>
            <a:p>
              <a:pPr algn="ctr"/>
              <a:r>
                <a:rPr lang="ja-JP" altLang="en-US" sz="1100">
                  <a:solidFill>
                    <a:schemeClr val="tx1"/>
                  </a:solidFill>
                </a:rPr>
                <a:t>承諾</a:t>
              </a:r>
              <a:endParaRPr kumimoji="1" lang="ja-JP" altLang="en-US" sz="1400">
                <a:solidFill>
                  <a:schemeClr val="tx1"/>
                </a:solidFill>
              </a:endParaRPr>
            </a:p>
          </p:txBody>
        </p:sp>
        <p:cxnSp>
          <p:nvCxnSpPr>
            <p:cNvPr id="60" name="直線コネクタ 59">
              <a:extLst>
                <a:ext uri="{FF2B5EF4-FFF2-40B4-BE49-F238E27FC236}">
                  <a16:creationId xmlns:a16="http://schemas.microsoft.com/office/drawing/2014/main" id="{45DC2A2B-8808-ADA9-9C16-BAC6205308AE}"/>
                </a:ext>
              </a:extLst>
            </p:cNvPr>
            <p:cNvCxnSpPr>
              <a:cxnSpLocks/>
              <a:stCxn id="49" idx="1"/>
              <a:endCxn id="45" idx="3"/>
            </p:cNvCxnSpPr>
            <p:nvPr/>
          </p:nvCxnSpPr>
          <p:spPr>
            <a:xfrm flipH="1">
              <a:off x="6723358" y="4308770"/>
              <a:ext cx="1528702" cy="0"/>
            </a:xfrm>
            <a:prstGeom prst="line">
              <a:avLst/>
            </a:prstGeom>
            <a:ln w="76200">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61" name="コンテンツ プレースホルダー 2">
              <a:extLst>
                <a:ext uri="{FF2B5EF4-FFF2-40B4-BE49-F238E27FC236}">
                  <a16:creationId xmlns:a16="http://schemas.microsoft.com/office/drawing/2014/main" id="{B58E259B-68E6-A645-C903-A7C38008A90D}"/>
                </a:ext>
              </a:extLst>
            </p:cNvPr>
            <p:cNvSpPr txBox="1">
              <a:spLocks/>
            </p:cNvSpPr>
            <p:nvPr/>
          </p:nvSpPr>
          <p:spPr>
            <a:xfrm>
              <a:off x="7046415" y="3755743"/>
              <a:ext cx="1148873" cy="436336"/>
            </a:xfrm>
            <a:prstGeom prst="rect">
              <a:avLst/>
            </a:prstGeom>
          </p:spPr>
          <p:txBody>
            <a:bodyPr vert="horz" wrap="none" lIns="91440" tIns="45720" rIns="91440" bIns="45720" rtlCol="0" anchor="ctr">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ja-JP" altLang="en-US" sz="1100">
                  <a:latin typeface="游ゴシック"/>
                  <a:ea typeface="游ゴシック"/>
                </a:rPr>
                <a:t>契約関係</a:t>
              </a:r>
              <a:endParaRPr lang="en-US" altLang="ja-JP" sz="1100">
                <a:latin typeface="游ゴシック"/>
                <a:ea typeface="游ゴシック"/>
              </a:endParaRPr>
            </a:p>
          </p:txBody>
        </p:sp>
        <p:pic>
          <p:nvPicPr>
            <p:cNvPr id="62" name="グラフィックス 61" descr="握手 単色塗りつぶし">
              <a:extLst>
                <a:ext uri="{FF2B5EF4-FFF2-40B4-BE49-F238E27FC236}">
                  <a16:creationId xmlns:a16="http://schemas.microsoft.com/office/drawing/2014/main" id="{769D38E4-94CE-B199-A464-41EB7955D22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153450" y="3973910"/>
              <a:ext cx="665284" cy="665284"/>
            </a:xfrm>
            <a:prstGeom prst="rect">
              <a:avLst/>
            </a:prstGeom>
          </p:spPr>
        </p:pic>
        <p:sp>
          <p:nvSpPr>
            <p:cNvPr id="63" name="矢印: 右 62">
              <a:extLst>
                <a:ext uri="{FF2B5EF4-FFF2-40B4-BE49-F238E27FC236}">
                  <a16:creationId xmlns:a16="http://schemas.microsoft.com/office/drawing/2014/main" id="{A50C3594-968B-1BDB-B5D0-63D2BEAB00E3}"/>
                </a:ext>
              </a:extLst>
            </p:cNvPr>
            <p:cNvSpPr/>
            <p:nvPr/>
          </p:nvSpPr>
          <p:spPr>
            <a:xfrm>
              <a:off x="6972842" y="2642137"/>
              <a:ext cx="1165205" cy="580765"/>
            </a:xfrm>
            <a:prstGeom prst="rightArrow">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kumimoji="1" lang="ja-JP" altLang="en-US" sz="1100">
                  <a:solidFill>
                    <a:schemeClr val="tx1"/>
                  </a:solidFill>
                </a:rPr>
                <a:t>募集</a:t>
              </a:r>
              <a:endParaRPr kumimoji="1" lang="ja-JP" altLang="en-US" sz="1400">
                <a:solidFill>
                  <a:schemeClr val="tx1"/>
                </a:solidFill>
              </a:endParaRPr>
            </a:p>
          </p:txBody>
        </p:sp>
        <p:sp>
          <p:nvSpPr>
            <p:cNvPr id="1024" name="矢印: 左 1023">
              <a:extLst>
                <a:ext uri="{FF2B5EF4-FFF2-40B4-BE49-F238E27FC236}">
                  <a16:creationId xmlns:a16="http://schemas.microsoft.com/office/drawing/2014/main" id="{816A9BB0-DBE0-8DBD-D01B-25981C76C4ED}"/>
                </a:ext>
              </a:extLst>
            </p:cNvPr>
            <p:cNvSpPr/>
            <p:nvPr/>
          </p:nvSpPr>
          <p:spPr>
            <a:xfrm>
              <a:off x="6903489" y="3124000"/>
              <a:ext cx="1165205" cy="580764"/>
            </a:xfrm>
            <a:prstGeom prst="lef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ja-JP" altLang="en-US" sz="1100">
                  <a:solidFill>
                    <a:schemeClr val="tx1"/>
                  </a:solidFill>
                </a:rPr>
                <a:t>提案</a:t>
              </a:r>
            </a:p>
          </p:txBody>
        </p:sp>
        <p:sp>
          <p:nvSpPr>
            <p:cNvPr id="1025" name="正方形/長方形 1024">
              <a:extLst>
                <a:ext uri="{FF2B5EF4-FFF2-40B4-BE49-F238E27FC236}">
                  <a16:creationId xmlns:a16="http://schemas.microsoft.com/office/drawing/2014/main" id="{5B4AC535-5BE8-C7D2-AB33-1877012B3B8F}"/>
                </a:ext>
              </a:extLst>
            </p:cNvPr>
            <p:cNvSpPr/>
            <p:nvPr/>
          </p:nvSpPr>
          <p:spPr>
            <a:xfrm>
              <a:off x="3074550" y="4960984"/>
              <a:ext cx="792586" cy="358646"/>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ja-JP" altLang="en-US" sz="1100">
                  <a:solidFill>
                    <a:schemeClr val="tx1"/>
                  </a:solidFill>
                </a:rPr>
                <a:t>面談</a:t>
              </a:r>
            </a:p>
          </p:txBody>
        </p:sp>
        <p:sp>
          <p:nvSpPr>
            <p:cNvPr id="1028" name="正方形/長方形 1027">
              <a:extLst>
                <a:ext uri="{FF2B5EF4-FFF2-40B4-BE49-F238E27FC236}">
                  <a16:creationId xmlns:a16="http://schemas.microsoft.com/office/drawing/2014/main" id="{3176CF9F-07E1-DA50-BC25-EF1A7C998078}"/>
                </a:ext>
              </a:extLst>
            </p:cNvPr>
            <p:cNvSpPr/>
            <p:nvPr/>
          </p:nvSpPr>
          <p:spPr>
            <a:xfrm>
              <a:off x="3074550" y="5369152"/>
              <a:ext cx="792586" cy="358646"/>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horz" rtlCol="0" anchor="ctr"/>
            <a:lstStyle/>
            <a:p>
              <a:pPr algn="ctr"/>
              <a:r>
                <a:rPr lang="ja-JP" altLang="en-US" sz="1100">
                  <a:solidFill>
                    <a:schemeClr val="tx1"/>
                  </a:solidFill>
                </a:rPr>
                <a:t>承諾</a:t>
              </a:r>
            </a:p>
          </p:txBody>
        </p:sp>
        <p:sp>
          <p:nvSpPr>
            <p:cNvPr id="1031" name="矢印: 右 1030">
              <a:extLst>
                <a:ext uri="{FF2B5EF4-FFF2-40B4-BE49-F238E27FC236}">
                  <a16:creationId xmlns:a16="http://schemas.microsoft.com/office/drawing/2014/main" id="{D02A882C-CD0D-A0FB-D66D-0B10A0D0A498}"/>
                </a:ext>
              </a:extLst>
            </p:cNvPr>
            <p:cNvSpPr/>
            <p:nvPr/>
          </p:nvSpPr>
          <p:spPr>
            <a:xfrm rot="5400000">
              <a:off x="8981026" y="4038476"/>
              <a:ext cx="1165205" cy="580765"/>
            </a:xfrm>
            <a:prstGeom prst="rightArrow">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ja-JP" altLang="en-US" sz="1100">
                  <a:solidFill>
                    <a:schemeClr val="tx1"/>
                  </a:solidFill>
                </a:rPr>
                <a:t>推薦</a:t>
              </a:r>
              <a:endParaRPr kumimoji="1" lang="ja-JP" altLang="en-US" sz="1400">
                <a:solidFill>
                  <a:schemeClr val="tx1"/>
                </a:solidFill>
              </a:endParaRPr>
            </a:p>
          </p:txBody>
        </p:sp>
      </p:grpSp>
      <p:cxnSp>
        <p:nvCxnSpPr>
          <p:cNvPr id="1034" name="直線コネクタ 1033">
            <a:extLst>
              <a:ext uri="{FF2B5EF4-FFF2-40B4-BE49-F238E27FC236}">
                <a16:creationId xmlns:a16="http://schemas.microsoft.com/office/drawing/2014/main" id="{4A0761DF-9983-116C-E12F-0D8FE73A07E5}"/>
              </a:ext>
            </a:extLst>
          </p:cNvPr>
          <p:cNvCxnSpPr>
            <a:cxnSpLocks/>
            <a:stCxn id="1053" idx="1"/>
            <a:endCxn id="1056" idx="3"/>
          </p:cNvCxnSpPr>
          <p:nvPr/>
        </p:nvCxnSpPr>
        <p:spPr>
          <a:xfrm flipH="1">
            <a:off x="7234178" y="4902270"/>
            <a:ext cx="1035351" cy="0"/>
          </a:xfrm>
          <a:prstGeom prst="line">
            <a:avLst/>
          </a:prstGeom>
          <a:ln w="76200">
            <a:solidFill>
              <a:schemeClr val="accent5"/>
            </a:solidFill>
          </a:ln>
        </p:spPr>
        <p:style>
          <a:lnRef idx="2">
            <a:schemeClr val="accent1"/>
          </a:lnRef>
          <a:fillRef idx="0">
            <a:schemeClr val="accent1"/>
          </a:fillRef>
          <a:effectRef idx="1">
            <a:schemeClr val="accent1"/>
          </a:effectRef>
          <a:fontRef idx="minor">
            <a:schemeClr val="tx1"/>
          </a:fontRef>
        </p:style>
      </p:cxnSp>
      <p:sp>
        <p:nvSpPr>
          <p:cNvPr id="1035" name="コンテンツ プレースホルダー 2">
            <a:extLst>
              <a:ext uri="{FF2B5EF4-FFF2-40B4-BE49-F238E27FC236}">
                <a16:creationId xmlns:a16="http://schemas.microsoft.com/office/drawing/2014/main" id="{E19DBE94-9736-0627-2936-4F24FA3B77A6}"/>
              </a:ext>
            </a:extLst>
          </p:cNvPr>
          <p:cNvSpPr txBox="1">
            <a:spLocks/>
          </p:cNvSpPr>
          <p:nvPr/>
        </p:nvSpPr>
        <p:spPr>
          <a:xfrm>
            <a:off x="7236618" y="4542681"/>
            <a:ext cx="1031051" cy="277058"/>
          </a:xfrm>
          <a:prstGeom prst="rect">
            <a:avLst/>
          </a:prstGeom>
        </p:spPr>
        <p:txBody>
          <a:bodyPr vert="horz" wrap="none" lIns="91440" tIns="45720" rIns="91440" bIns="45720" rtlCol="0" anchor="ctr">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100">
                <a:solidFill>
                  <a:schemeClr val="accent5"/>
                </a:solidFill>
                <a:latin typeface="游ゴシック"/>
                <a:ea typeface="游ゴシック"/>
              </a:rPr>
              <a:t>フォロー関係</a:t>
            </a:r>
            <a:endParaRPr lang="en-US" altLang="ja-JP" sz="1100">
              <a:solidFill>
                <a:schemeClr val="accent5"/>
              </a:solidFill>
              <a:latin typeface="游ゴシック"/>
              <a:ea typeface="游ゴシック"/>
            </a:endParaRPr>
          </a:p>
        </p:txBody>
      </p:sp>
      <p:grpSp>
        <p:nvGrpSpPr>
          <p:cNvPr id="1036" name="グループ化 1035">
            <a:extLst>
              <a:ext uri="{FF2B5EF4-FFF2-40B4-BE49-F238E27FC236}">
                <a16:creationId xmlns:a16="http://schemas.microsoft.com/office/drawing/2014/main" id="{DC4A159F-58C0-3BB8-34C1-C0FCBFC8F3B6}"/>
              </a:ext>
            </a:extLst>
          </p:cNvPr>
          <p:cNvGrpSpPr/>
          <p:nvPr/>
        </p:nvGrpSpPr>
        <p:grpSpPr>
          <a:xfrm>
            <a:off x="6171591" y="3822472"/>
            <a:ext cx="1062587" cy="2159596"/>
            <a:chOff x="2060013" y="2673097"/>
            <a:chExt cx="1567844" cy="3271345"/>
          </a:xfrm>
        </p:grpSpPr>
        <p:sp>
          <p:nvSpPr>
            <p:cNvPr id="1056" name="テキスト ボックス 5">
              <a:extLst>
                <a:ext uri="{FF2B5EF4-FFF2-40B4-BE49-F238E27FC236}">
                  <a16:creationId xmlns:a16="http://schemas.microsoft.com/office/drawing/2014/main" id="{0F462996-7916-409F-821E-BA19E5759C32}"/>
                </a:ext>
              </a:extLst>
            </p:cNvPr>
            <p:cNvSpPr txBox="1"/>
            <p:nvPr/>
          </p:nvSpPr>
          <p:spPr>
            <a:xfrm>
              <a:off x="2060013" y="2673097"/>
              <a:ext cx="1567844" cy="3271345"/>
            </a:xfrm>
            <a:prstGeom prst="roundRect">
              <a:avLst/>
            </a:prstGeom>
            <a:solidFill>
              <a:schemeClr val="accent5">
                <a:lumMod val="20000"/>
                <a:lumOff val="80000"/>
              </a:schemeClr>
            </a:solidFill>
            <a:ln w="28575">
              <a:solidFill>
                <a:schemeClr val="accent5"/>
              </a:solidFill>
            </a:ln>
          </p:spPr>
          <p:txBody>
            <a:bodyPr wrap="square" rtlCol="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100" b="1" u="sng"/>
                <a:t>案件</a:t>
              </a:r>
              <a:r>
                <a:rPr kumimoji="1" lang="ja-JP" altLang="en-US" sz="1100"/>
                <a:t>会社</a:t>
              </a:r>
            </a:p>
          </p:txBody>
        </p:sp>
        <p:pic>
          <p:nvPicPr>
            <p:cNvPr id="1057" name="グラフィックス 1056" descr="オフィス ワーカー (男性) 単色塗りつぶし">
              <a:extLst>
                <a:ext uri="{FF2B5EF4-FFF2-40B4-BE49-F238E27FC236}">
                  <a16:creationId xmlns:a16="http://schemas.microsoft.com/office/drawing/2014/main" id="{98906E9A-A445-790D-D893-4000AEF236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4493" y="3267426"/>
              <a:ext cx="578881" cy="578882"/>
            </a:xfrm>
            <a:prstGeom prst="rect">
              <a:avLst/>
            </a:prstGeom>
          </p:spPr>
        </p:pic>
        <p:sp>
          <p:nvSpPr>
            <p:cNvPr id="1058" name="テキスト ボックス 1057">
              <a:extLst>
                <a:ext uri="{FF2B5EF4-FFF2-40B4-BE49-F238E27FC236}">
                  <a16:creationId xmlns:a16="http://schemas.microsoft.com/office/drawing/2014/main" id="{E3951003-2B06-DD8A-40A1-5D69150CA0F5}"/>
                </a:ext>
              </a:extLst>
            </p:cNvPr>
            <p:cNvSpPr txBox="1"/>
            <p:nvPr/>
          </p:nvSpPr>
          <p:spPr>
            <a:xfrm>
              <a:off x="2499558" y="3852133"/>
              <a:ext cx="688753" cy="386005"/>
            </a:xfrm>
            <a:prstGeom prst="rect">
              <a:avLst/>
            </a:prstGeom>
            <a:noFill/>
          </p:spPr>
          <p:txBody>
            <a:bodyPr wrap="none" rtlCol="0">
              <a:spAutoFit/>
            </a:bodyPr>
            <a:lstStyle/>
            <a:p>
              <a:pPr algn="ctr"/>
              <a:r>
                <a:rPr kumimoji="1" lang="ja-JP" altLang="en-US" sz="1100"/>
                <a:t>営業</a:t>
              </a:r>
            </a:p>
          </p:txBody>
        </p:sp>
        <p:pic>
          <p:nvPicPr>
            <p:cNvPr id="1059" name="グラフィックス 1058" descr="プログラマー男性 単色塗りつぶし">
              <a:extLst>
                <a:ext uri="{FF2B5EF4-FFF2-40B4-BE49-F238E27FC236}">
                  <a16:creationId xmlns:a16="http://schemas.microsoft.com/office/drawing/2014/main" id="{8AACB9C9-CCF3-384A-1A5B-4A6A1BA0B0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54494" y="4586860"/>
              <a:ext cx="578880" cy="578881"/>
            </a:xfrm>
            <a:prstGeom prst="rect">
              <a:avLst/>
            </a:prstGeom>
          </p:spPr>
        </p:pic>
        <p:sp>
          <p:nvSpPr>
            <p:cNvPr id="1060" name="テキスト ボックス 1059">
              <a:extLst>
                <a:ext uri="{FF2B5EF4-FFF2-40B4-BE49-F238E27FC236}">
                  <a16:creationId xmlns:a16="http://schemas.microsoft.com/office/drawing/2014/main" id="{2C9F50D6-4958-DDC8-3C82-99A8E71B2AB6}"/>
                </a:ext>
              </a:extLst>
            </p:cNvPr>
            <p:cNvSpPr txBox="1"/>
            <p:nvPr/>
          </p:nvSpPr>
          <p:spPr>
            <a:xfrm>
              <a:off x="2548045" y="5165741"/>
              <a:ext cx="591779" cy="386005"/>
            </a:xfrm>
            <a:prstGeom prst="rect">
              <a:avLst/>
            </a:prstGeom>
            <a:noFill/>
          </p:spPr>
          <p:txBody>
            <a:bodyPr wrap="none" rtlCol="0">
              <a:spAutoFit/>
            </a:bodyPr>
            <a:lstStyle/>
            <a:p>
              <a:pPr algn="ctr"/>
              <a:r>
                <a:rPr lang="en-US" altLang="ja-JP" sz="1100"/>
                <a:t>PM</a:t>
              </a:r>
              <a:endParaRPr kumimoji="1" lang="ja-JP" altLang="en-US" sz="1100"/>
            </a:p>
          </p:txBody>
        </p:sp>
      </p:grpSp>
      <p:grpSp>
        <p:nvGrpSpPr>
          <p:cNvPr id="1037" name="グループ化 1036">
            <a:extLst>
              <a:ext uri="{FF2B5EF4-FFF2-40B4-BE49-F238E27FC236}">
                <a16:creationId xmlns:a16="http://schemas.microsoft.com/office/drawing/2014/main" id="{14F046C2-26E1-EA8E-3B92-41DB69245C88}"/>
              </a:ext>
            </a:extLst>
          </p:cNvPr>
          <p:cNvGrpSpPr/>
          <p:nvPr/>
        </p:nvGrpSpPr>
        <p:grpSpPr>
          <a:xfrm>
            <a:off x="8269529" y="3822472"/>
            <a:ext cx="1062587" cy="2159596"/>
            <a:chOff x="2060013" y="2673097"/>
            <a:chExt cx="1567844" cy="3271345"/>
          </a:xfrm>
        </p:grpSpPr>
        <p:sp>
          <p:nvSpPr>
            <p:cNvPr id="1053" name="テキスト ボックス 5">
              <a:extLst>
                <a:ext uri="{FF2B5EF4-FFF2-40B4-BE49-F238E27FC236}">
                  <a16:creationId xmlns:a16="http://schemas.microsoft.com/office/drawing/2014/main" id="{DDDA1588-92EB-D29B-203B-ADEBD5483369}"/>
                </a:ext>
              </a:extLst>
            </p:cNvPr>
            <p:cNvSpPr txBox="1"/>
            <p:nvPr/>
          </p:nvSpPr>
          <p:spPr>
            <a:xfrm>
              <a:off x="2060013" y="2673097"/>
              <a:ext cx="1567844" cy="3271345"/>
            </a:xfrm>
            <a:prstGeom prst="roundRect">
              <a:avLst/>
            </a:prstGeom>
            <a:solidFill>
              <a:schemeClr val="accent5">
                <a:lumMod val="20000"/>
                <a:lumOff val="80000"/>
              </a:schemeClr>
            </a:solidFill>
            <a:ln w="28575">
              <a:solidFill>
                <a:schemeClr val="accent5"/>
              </a:solidFill>
            </a:ln>
          </p:spPr>
          <p:txBody>
            <a:bodyPr wrap="square" rtlCol="0">
              <a:noAutofit/>
            </a:bodyPr>
            <a:lstStyle>
              <a:defPPr>
                <a:defRPr lang="ja-JP"/>
              </a:defPPr>
              <a:lvl1pPr>
                <a:defRPr sz="1400" b="1" u="sng"/>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100" b="0" u="none"/>
                <a:t>仲介会社</a:t>
              </a:r>
            </a:p>
          </p:txBody>
        </p:sp>
        <p:pic>
          <p:nvPicPr>
            <p:cNvPr id="1054" name="グラフィックス 1053" descr="オフィス ワーカー (男性) 単色塗りつぶし">
              <a:extLst>
                <a:ext uri="{FF2B5EF4-FFF2-40B4-BE49-F238E27FC236}">
                  <a16:creationId xmlns:a16="http://schemas.microsoft.com/office/drawing/2014/main" id="{0A32BBB2-DFFB-5DBF-48D5-7BB01013A4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4493" y="3267426"/>
              <a:ext cx="578881" cy="578882"/>
            </a:xfrm>
            <a:prstGeom prst="rect">
              <a:avLst/>
            </a:prstGeom>
          </p:spPr>
        </p:pic>
        <p:sp>
          <p:nvSpPr>
            <p:cNvPr id="1055" name="テキスト ボックス 1054">
              <a:extLst>
                <a:ext uri="{FF2B5EF4-FFF2-40B4-BE49-F238E27FC236}">
                  <a16:creationId xmlns:a16="http://schemas.microsoft.com/office/drawing/2014/main" id="{3B7185BF-C03D-DAED-7CDB-1886CEF73ACD}"/>
                </a:ext>
              </a:extLst>
            </p:cNvPr>
            <p:cNvSpPr txBox="1"/>
            <p:nvPr/>
          </p:nvSpPr>
          <p:spPr>
            <a:xfrm>
              <a:off x="2499558" y="3852133"/>
              <a:ext cx="688753" cy="386005"/>
            </a:xfrm>
            <a:prstGeom prst="rect">
              <a:avLst/>
            </a:prstGeom>
            <a:noFill/>
          </p:spPr>
          <p:txBody>
            <a:bodyPr wrap="none" rtlCol="0">
              <a:spAutoFit/>
            </a:bodyPr>
            <a:lstStyle/>
            <a:p>
              <a:pPr algn="ctr"/>
              <a:r>
                <a:rPr kumimoji="1" lang="ja-JP" altLang="en-US" sz="1100"/>
                <a:t>営業</a:t>
              </a:r>
            </a:p>
          </p:txBody>
        </p:sp>
      </p:grpSp>
      <p:grpSp>
        <p:nvGrpSpPr>
          <p:cNvPr id="1038" name="グループ化 1037">
            <a:extLst>
              <a:ext uri="{FF2B5EF4-FFF2-40B4-BE49-F238E27FC236}">
                <a16:creationId xmlns:a16="http://schemas.microsoft.com/office/drawing/2014/main" id="{C501A960-C49C-63D4-75EC-6079976571F4}"/>
              </a:ext>
            </a:extLst>
          </p:cNvPr>
          <p:cNvGrpSpPr/>
          <p:nvPr/>
        </p:nvGrpSpPr>
        <p:grpSpPr>
          <a:xfrm>
            <a:off x="10368175" y="3822472"/>
            <a:ext cx="1062587" cy="2159596"/>
            <a:chOff x="2060013" y="2673097"/>
            <a:chExt cx="1567844" cy="3271345"/>
          </a:xfrm>
        </p:grpSpPr>
        <p:sp>
          <p:nvSpPr>
            <p:cNvPr id="1048" name="テキスト ボックス 5">
              <a:extLst>
                <a:ext uri="{FF2B5EF4-FFF2-40B4-BE49-F238E27FC236}">
                  <a16:creationId xmlns:a16="http://schemas.microsoft.com/office/drawing/2014/main" id="{1F7BB6CD-58DE-8F9B-98A6-42A254905DB2}"/>
                </a:ext>
              </a:extLst>
            </p:cNvPr>
            <p:cNvSpPr txBox="1"/>
            <p:nvPr/>
          </p:nvSpPr>
          <p:spPr>
            <a:xfrm>
              <a:off x="2060013" y="2673097"/>
              <a:ext cx="1567844" cy="3271345"/>
            </a:xfrm>
            <a:prstGeom prst="roundRect">
              <a:avLst/>
            </a:prstGeom>
            <a:solidFill>
              <a:schemeClr val="accent5">
                <a:lumMod val="20000"/>
                <a:lumOff val="80000"/>
              </a:schemeClr>
            </a:solidFill>
            <a:ln w="28575">
              <a:solidFill>
                <a:schemeClr val="accent5"/>
              </a:solidFill>
            </a:ln>
          </p:spPr>
          <p:txBody>
            <a:bodyPr wrap="square" rtlCol="0">
              <a:noAutofit/>
            </a:bodyPr>
            <a:lstStyle>
              <a:defPPr>
                <a:defRPr lang="ja-JP"/>
              </a:defPPr>
              <a:lvl1pPr>
                <a:defRPr sz="1400" b="1" u="sng"/>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100" dirty="0"/>
                <a:t>要員</a:t>
              </a:r>
              <a:r>
                <a:rPr lang="ja-JP" altLang="en-US" sz="1100" b="0" u="none" dirty="0"/>
                <a:t>会社</a:t>
              </a:r>
            </a:p>
          </p:txBody>
        </p:sp>
        <p:pic>
          <p:nvPicPr>
            <p:cNvPr id="1049" name="グラフィックス 1048" descr="オフィス ワーカー (男性) 単色塗りつぶし">
              <a:extLst>
                <a:ext uri="{FF2B5EF4-FFF2-40B4-BE49-F238E27FC236}">
                  <a16:creationId xmlns:a16="http://schemas.microsoft.com/office/drawing/2014/main" id="{2F5C2E0A-0121-4F25-EF46-E7819E8BF42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4493" y="3267426"/>
              <a:ext cx="578881" cy="578882"/>
            </a:xfrm>
            <a:prstGeom prst="rect">
              <a:avLst/>
            </a:prstGeom>
          </p:spPr>
        </p:pic>
        <p:sp>
          <p:nvSpPr>
            <p:cNvPr id="1050" name="テキスト ボックス 1049">
              <a:extLst>
                <a:ext uri="{FF2B5EF4-FFF2-40B4-BE49-F238E27FC236}">
                  <a16:creationId xmlns:a16="http://schemas.microsoft.com/office/drawing/2014/main" id="{9AD0B0D7-02DA-F37C-47F6-331A55A7CF0F}"/>
                </a:ext>
              </a:extLst>
            </p:cNvPr>
            <p:cNvSpPr txBox="1"/>
            <p:nvPr/>
          </p:nvSpPr>
          <p:spPr>
            <a:xfrm>
              <a:off x="2499558" y="3852133"/>
              <a:ext cx="688753" cy="386005"/>
            </a:xfrm>
            <a:prstGeom prst="rect">
              <a:avLst/>
            </a:prstGeom>
            <a:noFill/>
          </p:spPr>
          <p:txBody>
            <a:bodyPr wrap="none" rtlCol="0">
              <a:spAutoFit/>
            </a:bodyPr>
            <a:lstStyle/>
            <a:p>
              <a:pPr algn="ctr"/>
              <a:r>
                <a:rPr kumimoji="1" lang="ja-JP" altLang="en-US" sz="1100"/>
                <a:t>営業</a:t>
              </a:r>
            </a:p>
          </p:txBody>
        </p:sp>
        <p:pic>
          <p:nvPicPr>
            <p:cNvPr id="1051" name="グラフィックス 1050" descr="プログラマー男性 単色塗りつぶし">
              <a:extLst>
                <a:ext uri="{FF2B5EF4-FFF2-40B4-BE49-F238E27FC236}">
                  <a16:creationId xmlns:a16="http://schemas.microsoft.com/office/drawing/2014/main" id="{2DC1E9F0-9B26-2099-3C8C-4CC56421FD4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54493" y="4586860"/>
              <a:ext cx="578880" cy="578880"/>
            </a:xfrm>
            <a:prstGeom prst="rect">
              <a:avLst/>
            </a:prstGeom>
          </p:spPr>
        </p:pic>
        <p:sp>
          <p:nvSpPr>
            <p:cNvPr id="1052" name="テキスト ボックス 1051">
              <a:extLst>
                <a:ext uri="{FF2B5EF4-FFF2-40B4-BE49-F238E27FC236}">
                  <a16:creationId xmlns:a16="http://schemas.microsoft.com/office/drawing/2014/main" id="{CB73B0DD-D1B2-7D62-40F2-F245A02F7A56}"/>
                </a:ext>
              </a:extLst>
            </p:cNvPr>
            <p:cNvSpPr txBox="1"/>
            <p:nvPr/>
          </p:nvSpPr>
          <p:spPr>
            <a:xfrm>
              <a:off x="2568151" y="5165740"/>
              <a:ext cx="551570" cy="386005"/>
            </a:xfrm>
            <a:prstGeom prst="rect">
              <a:avLst/>
            </a:prstGeom>
            <a:noFill/>
          </p:spPr>
          <p:txBody>
            <a:bodyPr wrap="none" rtlCol="0">
              <a:spAutoFit/>
            </a:bodyPr>
            <a:lstStyle/>
            <a:p>
              <a:pPr algn="ctr"/>
              <a:r>
                <a:rPr kumimoji="1" lang="en-US" altLang="ja-JP" sz="1100"/>
                <a:t>SE</a:t>
              </a:r>
              <a:endParaRPr kumimoji="1" lang="ja-JP" altLang="en-US" sz="1100"/>
            </a:p>
          </p:txBody>
        </p:sp>
      </p:grpSp>
      <p:pic>
        <p:nvPicPr>
          <p:cNvPr id="1039" name="グラフィックス 1038" descr="握手 単色塗りつぶし">
            <a:extLst>
              <a:ext uri="{FF2B5EF4-FFF2-40B4-BE49-F238E27FC236}">
                <a16:creationId xmlns:a16="http://schemas.microsoft.com/office/drawing/2014/main" id="{2E82B90F-1D3C-F61C-CC53-DDC28F72A49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518751" y="4681211"/>
            <a:ext cx="450888" cy="439191"/>
          </a:xfrm>
          <a:prstGeom prst="rect">
            <a:avLst/>
          </a:prstGeom>
        </p:spPr>
      </p:pic>
      <p:cxnSp>
        <p:nvCxnSpPr>
          <p:cNvPr id="1040" name="直線コネクタ 1039">
            <a:extLst>
              <a:ext uri="{FF2B5EF4-FFF2-40B4-BE49-F238E27FC236}">
                <a16:creationId xmlns:a16="http://schemas.microsoft.com/office/drawing/2014/main" id="{895FAF59-1D6E-F16C-4C32-FC941EFAAF8E}"/>
              </a:ext>
            </a:extLst>
          </p:cNvPr>
          <p:cNvCxnSpPr>
            <a:cxnSpLocks/>
            <a:stCxn id="1048" idx="1"/>
            <a:endCxn id="1053" idx="3"/>
          </p:cNvCxnSpPr>
          <p:nvPr/>
        </p:nvCxnSpPr>
        <p:spPr>
          <a:xfrm flipH="1">
            <a:off x="9332116" y="4902270"/>
            <a:ext cx="1036059" cy="0"/>
          </a:xfrm>
          <a:prstGeom prst="line">
            <a:avLst/>
          </a:prstGeom>
          <a:ln w="76200">
            <a:solidFill>
              <a:schemeClr val="accent5"/>
            </a:solidFill>
          </a:ln>
        </p:spPr>
        <p:style>
          <a:lnRef idx="2">
            <a:schemeClr val="accent1"/>
          </a:lnRef>
          <a:fillRef idx="0">
            <a:schemeClr val="accent1"/>
          </a:fillRef>
          <a:effectRef idx="1">
            <a:schemeClr val="accent1"/>
          </a:effectRef>
          <a:fontRef idx="minor">
            <a:schemeClr val="tx1"/>
          </a:fontRef>
        </p:style>
      </p:cxnSp>
      <p:sp>
        <p:nvSpPr>
          <p:cNvPr id="1041" name="コンテンツ プレースホルダー 2">
            <a:extLst>
              <a:ext uri="{FF2B5EF4-FFF2-40B4-BE49-F238E27FC236}">
                <a16:creationId xmlns:a16="http://schemas.microsoft.com/office/drawing/2014/main" id="{0AC19856-C704-8833-F3B2-C47959AF4C2E}"/>
              </a:ext>
            </a:extLst>
          </p:cNvPr>
          <p:cNvSpPr txBox="1">
            <a:spLocks/>
          </p:cNvSpPr>
          <p:nvPr/>
        </p:nvSpPr>
        <p:spPr>
          <a:xfrm>
            <a:off x="9341472" y="4542681"/>
            <a:ext cx="1031051" cy="277058"/>
          </a:xfrm>
          <a:prstGeom prst="rect">
            <a:avLst/>
          </a:prstGeom>
        </p:spPr>
        <p:txBody>
          <a:bodyPr vert="horz" wrap="none" lIns="91440" tIns="45720" rIns="91440" bIns="45720" rtlCol="0" anchor="ctr">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100">
                <a:solidFill>
                  <a:schemeClr val="accent5"/>
                </a:solidFill>
                <a:latin typeface="游ゴシック"/>
                <a:ea typeface="游ゴシック"/>
              </a:rPr>
              <a:t>フォロー関係</a:t>
            </a:r>
            <a:endParaRPr lang="en-US" altLang="ja-JP" sz="1100">
              <a:solidFill>
                <a:schemeClr val="accent5"/>
              </a:solidFill>
              <a:latin typeface="游ゴシック"/>
              <a:ea typeface="游ゴシック"/>
            </a:endParaRPr>
          </a:p>
        </p:txBody>
      </p:sp>
      <p:pic>
        <p:nvPicPr>
          <p:cNvPr id="1042" name="グラフィックス 1041" descr="握手 単色塗りつぶし">
            <a:extLst>
              <a:ext uri="{FF2B5EF4-FFF2-40B4-BE49-F238E27FC236}">
                <a16:creationId xmlns:a16="http://schemas.microsoft.com/office/drawing/2014/main" id="{D4C66E47-89AF-7D06-27EB-928F33B0A82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9623605" y="4681211"/>
            <a:ext cx="450888" cy="439191"/>
          </a:xfrm>
          <a:prstGeom prst="rect">
            <a:avLst/>
          </a:prstGeom>
        </p:spPr>
      </p:pic>
      <p:sp>
        <p:nvSpPr>
          <p:cNvPr id="1043" name="矢印: 右 1042">
            <a:extLst>
              <a:ext uri="{FF2B5EF4-FFF2-40B4-BE49-F238E27FC236}">
                <a16:creationId xmlns:a16="http://schemas.microsoft.com/office/drawing/2014/main" id="{CAF1C214-4727-F82F-634E-748D959801D1}"/>
              </a:ext>
            </a:extLst>
          </p:cNvPr>
          <p:cNvSpPr/>
          <p:nvPr/>
        </p:nvSpPr>
        <p:spPr>
          <a:xfrm>
            <a:off x="6939747" y="5184125"/>
            <a:ext cx="3797801" cy="383395"/>
          </a:xfrm>
          <a:prstGeom prs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FF0000"/>
                </a:solidFill>
                <a:latin typeface="游ゴシック" panose="020B0400000000000000" pitchFamily="50" charset="-128"/>
                <a:ea typeface="游ゴシック" panose="020B0400000000000000" pitchFamily="50" charset="-128"/>
              </a:rPr>
              <a:t>評価や実績の</a:t>
            </a:r>
            <a:r>
              <a:rPr lang="ja-JP" altLang="en-US" sz="1100" dirty="0">
                <a:solidFill>
                  <a:schemeClr val="tx1"/>
                </a:solidFill>
                <a:latin typeface="游ゴシック" panose="020B0400000000000000" pitchFamily="50" charset="-128"/>
                <a:ea typeface="游ゴシック" panose="020B0400000000000000" pitchFamily="50" charset="-128"/>
              </a:rPr>
              <a:t>確認</a:t>
            </a:r>
            <a:r>
              <a:rPr kumimoji="1" lang="ja-JP" altLang="en-US" sz="1100" dirty="0">
                <a:solidFill>
                  <a:schemeClr val="tx1"/>
                </a:solidFill>
                <a:latin typeface="游ゴシック" panose="020B0400000000000000" pitchFamily="50" charset="-128"/>
                <a:ea typeface="游ゴシック" panose="020B0400000000000000" pitchFamily="50" charset="-128"/>
              </a:rPr>
              <a:t>・直接</a:t>
            </a:r>
            <a:r>
              <a:rPr lang="ja-JP" altLang="en-US" sz="1100" dirty="0">
                <a:solidFill>
                  <a:schemeClr val="tx1"/>
                </a:solidFill>
                <a:latin typeface="游ゴシック" panose="020B0400000000000000" pitchFamily="50" charset="-128"/>
                <a:ea typeface="游ゴシック" panose="020B0400000000000000" pitchFamily="50" charset="-128"/>
              </a:rPr>
              <a:t>オファー・</a:t>
            </a:r>
            <a:r>
              <a:rPr lang="ja-JP" altLang="en-US" sz="1100" dirty="0">
                <a:solidFill>
                  <a:srgbClr val="FF0000"/>
                </a:solidFill>
                <a:latin typeface="游ゴシック" panose="020B0400000000000000" pitchFamily="50" charset="-128"/>
                <a:ea typeface="游ゴシック" panose="020B0400000000000000" pitchFamily="50" charset="-128"/>
              </a:rPr>
              <a:t>評価</a:t>
            </a:r>
            <a:r>
              <a:rPr lang="ja-JP" altLang="en-US" sz="1100" dirty="0">
                <a:solidFill>
                  <a:schemeClr val="tx1"/>
                </a:solidFill>
                <a:latin typeface="游ゴシック" panose="020B0400000000000000" pitchFamily="50" charset="-128"/>
                <a:ea typeface="游ゴシック" panose="020B0400000000000000" pitchFamily="50" charset="-128"/>
              </a:rPr>
              <a:t>が可能</a:t>
            </a:r>
            <a:endParaRPr kumimoji="1"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044" name="コンテンツ プレースホルダー 2">
            <a:extLst>
              <a:ext uri="{FF2B5EF4-FFF2-40B4-BE49-F238E27FC236}">
                <a16:creationId xmlns:a16="http://schemas.microsoft.com/office/drawing/2014/main" id="{DA3DFAF9-3EAC-7D4F-53C1-A9292A7E6283}"/>
              </a:ext>
            </a:extLst>
          </p:cNvPr>
          <p:cNvSpPr txBox="1">
            <a:spLocks/>
          </p:cNvSpPr>
          <p:nvPr/>
        </p:nvSpPr>
        <p:spPr>
          <a:xfrm>
            <a:off x="6239457" y="5998459"/>
            <a:ext cx="926857" cy="277058"/>
          </a:xfrm>
          <a:prstGeom prst="rect">
            <a:avLst/>
          </a:prstGeom>
        </p:spPr>
        <p:txBody>
          <a:bodyPr vert="horz" wrap="none" lIns="91440" tIns="45720" rIns="91440" bIns="45720" rtlCol="0" anchor="t">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100" dirty="0">
                <a:solidFill>
                  <a:schemeClr val="accent5"/>
                </a:solidFill>
                <a:latin typeface="游ゴシック"/>
                <a:ea typeface="游ゴシック"/>
              </a:rPr>
              <a:t>要員管理</a:t>
            </a:r>
            <a:r>
              <a:rPr lang="en-US" altLang="ja-JP" sz="1100" dirty="0">
                <a:solidFill>
                  <a:schemeClr val="accent5"/>
                </a:solidFill>
                <a:latin typeface="游ゴシック"/>
                <a:ea typeface="游ゴシック"/>
              </a:rPr>
              <a:t>PF</a:t>
            </a:r>
          </a:p>
        </p:txBody>
      </p:sp>
      <p:sp>
        <p:nvSpPr>
          <p:cNvPr id="1045" name="コンテンツ プレースホルダー 2">
            <a:extLst>
              <a:ext uri="{FF2B5EF4-FFF2-40B4-BE49-F238E27FC236}">
                <a16:creationId xmlns:a16="http://schemas.microsoft.com/office/drawing/2014/main" id="{AE39203F-CECD-71F1-7889-FB10654371C9}"/>
              </a:ext>
            </a:extLst>
          </p:cNvPr>
          <p:cNvSpPr txBox="1">
            <a:spLocks/>
          </p:cNvSpPr>
          <p:nvPr/>
        </p:nvSpPr>
        <p:spPr>
          <a:xfrm>
            <a:off x="8370948" y="5998460"/>
            <a:ext cx="926857" cy="277058"/>
          </a:xfrm>
          <a:prstGeom prst="rect">
            <a:avLst/>
          </a:prstGeom>
        </p:spPr>
        <p:txBody>
          <a:bodyPr vert="horz" wrap="none" lIns="91440" tIns="45720" rIns="91440" bIns="45720" rtlCol="0" anchor="t">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1100" dirty="0">
                <a:solidFill>
                  <a:schemeClr val="accent5"/>
                </a:solidFill>
                <a:latin typeface="游ゴシック"/>
                <a:ea typeface="游ゴシック"/>
              </a:rPr>
              <a:t>要員管理</a:t>
            </a:r>
            <a:r>
              <a:rPr lang="en-US" altLang="ja-JP" sz="1100" dirty="0">
                <a:solidFill>
                  <a:schemeClr val="accent5"/>
                </a:solidFill>
                <a:latin typeface="游ゴシック"/>
                <a:ea typeface="游ゴシック"/>
              </a:rPr>
              <a:t>PF</a:t>
            </a:r>
          </a:p>
        </p:txBody>
      </p:sp>
      <p:sp>
        <p:nvSpPr>
          <p:cNvPr id="1046" name="コンテンツ プレースホルダー 2">
            <a:extLst>
              <a:ext uri="{FF2B5EF4-FFF2-40B4-BE49-F238E27FC236}">
                <a16:creationId xmlns:a16="http://schemas.microsoft.com/office/drawing/2014/main" id="{91092826-6BD1-4F88-7589-081D15C308D7}"/>
              </a:ext>
            </a:extLst>
          </p:cNvPr>
          <p:cNvSpPr txBox="1">
            <a:spLocks/>
          </p:cNvSpPr>
          <p:nvPr/>
        </p:nvSpPr>
        <p:spPr>
          <a:xfrm>
            <a:off x="10436038" y="5998460"/>
            <a:ext cx="926857" cy="277058"/>
          </a:xfrm>
          <a:prstGeom prst="rect">
            <a:avLst/>
          </a:prstGeom>
        </p:spPr>
        <p:txBody>
          <a:bodyPr vert="horz" wrap="none" lIns="91440" tIns="45720" rIns="91440" bIns="45720" rtlCol="0" anchor="t">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1100" dirty="0">
                <a:solidFill>
                  <a:schemeClr val="accent5"/>
                </a:solidFill>
                <a:latin typeface="游ゴシック"/>
                <a:ea typeface="游ゴシック"/>
              </a:rPr>
              <a:t>要員管理</a:t>
            </a:r>
            <a:r>
              <a:rPr lang="en-US" altLang="ja-JP" sz="1100" dirty="0">
                <a:solidFill>
                  <a:schemeClr val="accent5"/>
                </a:solidFill>
                <a:latin typeface="游ゴシック"/>
                <a:ea typeface="游ゴシック"/>
              </a:rPr>
              <a:t>PF</a:t>
            </a:r>
          </a:p>
        </p:txBody>
      </p:sp>
      <p:sp>
        <p:nvSpPr>
          <p:cNvPr id="1047" name="L 字 1046">
            <a:extLst>
              <a:ext uri="{FF2B5EF4-FFF2-40B4-BE49-F238E27FC236}">
                <a16:creationId xmlns:a16="http://schemas.microsoft.com/office/drawing/2014/main" id="{A38AF3FE-A1C2-2FC7-4D7B-3E1F8716D3D1}"/>
              </a:ext>
            </a:extLst>
          </p:cNvPr>
          <p:cNvSpPr/>
          <p:nvPr/>
        </p:nvSpPr>
        <p:spPr>
          <a:xfrm rot="10800000">
            <a:off x="6939748" y="4354009"/>
            <a:ext cx="366922" cy="964904"/>
          </a:xfrm>
          <a:prstGeom prst="corner">
            <a:avLst>
              <a:gd name="adj1" fmla="val 48433"/>
              <a:gd name="adj2" fmla="val 48106"/>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100">
              <a:solidFill>
                <a:schemeClr val="tx1"/>
              </a:solidFill>
            </a:endParaRPr>
          </a:p>
        </p:txBody>
      </p:sp>
      <p:sp>
        <p:nvSpPr>
          <p:cNvPr id="1061" name="二等辺三角形 1060">
            <a:extLst>
              <a:ext uri="{FF2B5EF4-FFF2-40B4-BE49-F238E27FC236}">
                <a16:creationId xmlns:a16="http://schemas.microsoft.com/office/drawing/2014/main" id="{A7140DE3-897E-2627-A581-6FB472CE99E0}"/>
              </a:ext>
            </a:extLst>
          </p:cNvPr>
          <p:cNvSpPr/>
          <p:nvPr/>
        </p:nvSpPr>
        <p:spPr>
          <a:xfrm rot="10800000">
            <a:off x="8178185" y="3119405"/>
            <a:ext cx="1109133" cy="237067"/>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Content Placeholder 2">
            <a:extLst>
              <a:ext uri="{FF2B5EF4-FFF2-40B4-BE49-F238E27FC236}">
                <a16:creationId xmlns:a16="http://schemas.microsoft.com/office/drawing/2014/main" id="{B5BD85B6-E6CB-DF76-2643-F6AB9CA5D5B1}"/>
              </a:ext>
            </a:extLst>
          </p:cNvPr>
          <p:cNvSpPr txBox="1">
            <a:spLocks/>
          </p:cNvSpPr>
          <p:nvPr/>
        </p:nvSpPr>
        <p:spPr>
          <a:xfrm>
            <a:off x="508000" y="992106"/>
            <a:ext cx="5326874" cy="5364249"/>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0" lang="ja-JP" altLang="en-US" sz="1600" dirty="0">
                <a:latin typeface="游ゴシック Medium" panose="020B0500000000000000" pitchFamily="50" charset="-128"/>
                <a:ea typeface="游ゴシック Medium" panose="020B0500000000000000" pitchFamily="50" charset="-128"/>
              </a:rPr>
              <a:t>要員管理プラットフォームを展開し、</a:t>
            </a:r>
            <a:endParaRPr kumimoji="0" lang="en-US" altLang="ja-JP" sz="1600" dirty="0">
              <a:latin typeface="游ゴシック Medium" panose="020B0500000000000000" pitchFamily="50" charset="-128"/>
              <a:ea typeface="游ゴシック Medium" panose="020B0500000000000000" pitchFamily="50" charset="-128"/>
            </a:endParaRPr>
          </a:p>
          <a:p>
            <a:pPr marL="0" indent="0">
              <a:buNone/>
            </a:pPr>
            <a:r>
              <a:rPr kumimoji="0" lang="ja-JP" altLang="en-US" sz="1600" dirty="0">
                <a:latin typeface="游ゴシック Medium" panose="020B0500000000000000" pitchFamily="50" charset="-128"/>
                <a:ea typeface="游ゴシック Medium" panose="020B0500000000000000" pitchFamily="50" charset="-128"/>
              </a:rPr>
              <a:t>・会社間でのフォロー関係</a:t>
            </a:r>
            <a:br>
              <a:rPr kumimoji="0" lang="en-US" altLang="ja-JP" sz="1600" dirty="0">
                <a:latin typeface="游ゴシック Medium" panose="020B0500000000000000" pitchFamily="50" charset="-128"/>
                <a:ea typeface="游ゴシック Medium" panose="020B0500000000000000" pitchFamily="50" charset="-128"/>
              </a:rPr>
            </a:br>
            <a:r>
              <a:rPr kumimoji="0" lang="ja-JP" altLang="en-US" sz="1600" dirty="0">
                <a:latin typeface="游ゴシック Medium" panose="020B0500000000000000" pitchFamily="50" charset="-128"/>
                <a:ea typeface="游ゴシック Medium" panose="020B0500000000000000" pitchFamily="50" charset="-128"/>
              </a:rPr>
              <a:t>・自社の持つ案件</a:t>
            </a:r>
            <a:r>
              <a:rPr kumimoji="0" lang="en-US" altLang="ja-JP" sz="1600" dirty="0">
                <a:latin typeface="游ゴシック Medium" panose="020B0500000000000000" pitchFamily="50" charset="-128"/>
                <a:ea typeface="游ゴシック Medium" panose="020B0500000000000000" pitchFamily="50" charset="-128"/>
              </a:rPr>
              <a:t>/</a:t>
            </a:r>
            <a:r>
              <a:rPr kumimoji="0" lang="ja-JP" altLang="en-US" sz="1600" dirty="0">
                <a:latin typeface="游ゴシック Medium" panose="020B0500000000000000" pitchFamily="50" charset="-128"/>
                <a:ea typeface="游ゴシック Medium" panose="020B0500000000000000" pitchFamily="50" charset="-128"/>
              </a:rPr>
              <a:t>要員情報の公開</a:t>
            </a:r>
            <a:br>
              <a:rPr kumimoji="0" lang="en-US" altLang="ja-JP" sz="1600" dirty="0">
                <a:latin typeface="游ゴシック Medium" panose="020B0500000000000000" pitchFamily="50" charset="-128"/>
                <a:ea typeface="游ゴシック Medium" panose="020B0500000000000000" pitchFamily="50" charset="-128"/>
              </a:rPr>
            </a:br>
            <a:r>
              <a:rPr kumimoji="0" lang="ja-JP" altLang="en-US" sz="1600" dirty="0">
                <a:solidFill>
                  <a:srgbClr val="FF0000"/>
                </a:solidFill>
                <a:latin typeface="游ゴシック Medium" panose="020B0500000000000000" pitchFamily="50" charset="-128"/>
                <a:ea typeface="游ゴシック Medium" panose="020B0500000000000000" pitchFamily="50" charset="-128"/>
              </a:rPr>
              <a:t>・要員の経歴と評価等実績の記録と閲覧</a:t>
            </a:r>
            <a:br>
              <a:rPr kumimoji="0" lang="en-US" altLang="ja-JP" sz="1600" dirty="0">
                <a:latin typeface="游ゴシック Medium" panose="020B0500000000000000" pitchFamily="50" charset="-128"/>
                <a:ea typeface="游ゴシック Medium" panose="020B0500000000000000" pitchFamily="50" charset="-128"/>
              </a:rPr>
            </a:br>
            <a:r>
              <a:rPr kumimoji="0" lang="ja-JP" altLang="en-US" sz="1600" dirty="0">
                <a:latin typeface="游ゴシック Medium" panose="020B0500000000000000" pitchFamily="50" charset="-128"/>
                <a:ea typeface="游ゴシック Medium" panose="020B0500000000000000" pitchFamily="50" charset="-128"/>
              </a:rPr>
              <a:t>・案件会社からの直接オファー</a:t>
            </a:r>
            <a:endParaRPr kumimoji="0" lang="en-US" altLang="ja-JP" sz="1600" dirty="0">
              <a:latin typeface="游ゴシック Medium" panose="020B0500000000000000" pitchFamily="50" charset="-128"/>
              <a:ea typeface="游ゴシック Medium" panose="020B0500000000000000" pitchFamily="50" charset="-128"/>
            </a:endParaRPr>
          </a:p>
          <a:p>
            <a:pPr marL="0" indent="0">
              <a:buFont typeface="Arial" panose="020B0604020202020204" pitchFamily="34" charset="0"/>
              <a:buNone/>
            </a:pPr>
            <a:r>
              <a:rPr kumimoji="0" lang="ja-JP" altLang="en-US" sz="1600" dirty="0">
                <a:latin typeface="游ゴシック Medium" panose="020B0500000000000000" pitchFamily="50" charset="-128"/>
                <a:ea typeface="游ゴシック Medium" panose="020B0500000000000000" pitchFamily="50" charset="-128"/>
              </a:rPr>
              <a:t>という機能を提供する</a:t>
            </a:r>
            <a:endParaRPr kumimoji="0" lang="en-US" altLang="ja-JP" sz="1600" dirty="0">
              <a:latin typeface="游ゴシック Medium" panose="020B0500000000000000" pitchFamily="50" charset="-128"/>
              <a:ea typeface="游ゴシック Medium" panose="020B0500000000000000" pitchFamily="50" charset="-128"/>
            </a:endParaRPr>
          </a:p>
          <a:p>
            <a:pPr marL="0" indent="0">
              <a:buNone/>
            </a:pPr>
            <a:r>
              <a:rPr kumimoji="0" lang="ja-JP" altLang="en-US" sz="1600" dirty="0">
                <a:latin typeface="游ゴシック Medium" panose="020B0500000000000000" pitchFamily="50" charset="-128"/>
                <a:ea typeface="游ゴシック Medium" panose="020B0500000000000000" pitchFamily="50" charset="-128"/>
              </a:rPr>
              <a:t>各社が本サービスを利用しフォロー関係を結ぶことにより、情報伝達の手間が削減され機会損失が軽減される</a:t>
            </a:r>
            <a:endParaRPr kumimoji="0" lang="en-US" altLang="ja-JP" sz="1600" dirty="0">
              <a:latin typeface="游ゴシック Medium" panose="020B0500000000000000" pitchFamily="50" charset="-128"/>
              <a:ea typeface="游ゴシック Medium" panose="020B0500000000000000" pitchFamily="50" charset="-128"/>
            </a:endParaRPr>
          </a:p>
          <a:p>
            <a:pPr marL="0" indent="0">
              <a:buFont typeface="Arial" panose="020B0604020202020204" pitchFamily="34" charset="0"/>
              <a:buNone/>
            </a:pPr>
            <a:endParaRPr kumimoji="0" lang="en-US" altLang="ja-JP" sz="1600" dirty="0">
              <a:latin typeface="游ゴシック Medium" panose="020B0500000000000000" pitchFamily="50" charset="-128"/>
              <a:ea typeface="游ゴシック Medium" panose="020B0500000000000000" pitchFamily="50" charset="-128"/>
            </a:endParaRPr>
          </a:p>
          <a:p>
            <a:pPr marL="0" indent="0">
              <a:buFont typeface="Arial" panose="020B0604020202020204" pitchFamily="34" charset="0"/>
              <a:buNone/>
            </a:pPr>
            <a:r>
              <a:rPr kumimoji="0" lang="ja-JP" altLang="en-US" sz="1600" dirty="0">
                <a:latin typeface="游ゴシック Medium" panose="020B0500000000000000" pitchFamily="50" charset="-128"/>
                <a:ea typeface="游ゴシック Medium" panose="020B0500000000000000" pitchFamily="50" charset="-128"/>
              </a:rPr>
              <a:t>イメージは右図の通り</a:t>
            </a:r>
            <a:endParaRPr kumimoji="0"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dirty="0">
                <a:latin typeface="游ゴシック Medium" panose="020B0500000000000000" pitchFamily="50" charset="-128"/>
                <a:ea typeface="游ゴシック Medium" panose="020B0500000000000000" pitchFamily="50" charset="-128"/>
              </a:rPr>
              <a:t>導入前）手間が多く</a:t>
            </a:r>
            <a:r>
              <a:rPr lang="ja-JP" altLang="en-US" sz="1600" dirty="0">
                <a:solidFill>
                  <a:srgbClr val="FF0000"/>
                </a:solidFill>
                <a:latin typeface="游ゴシック Medium" panose="020B0500000000000000" pitchFamily="50" charset="-128"/>
                <a:ea typeface="游ゴシック Medium" panose="020B0500000000000000" pitchFamily="50" charset="-128"/>
              </a:rPr>
              <a:t>要員の評価も不明</a:t>
            </a:r>
            <a:br>
              <a:rPr lang="en-US" altLang="ja-JP" sz="1600" dirty="0">
                <a:latin typeface="游ゴシック Medium" panose="020B0500000000000000" pitchFamily="50" charset="-128"/>
                <a:ea typeface="游ゴシック Medium" panose="020B0500000000000000" pitchFamily="50" charset="-128"/>
              </a:rPr>
            </a:br>
            <a:r>
              <a:rPr lang="ja-JP" altLang="en-US" sz="1600" dirty="0">
                <a:latin typeface="游ゴシック Medium" panose="020B0500000000000000" pitchFamily="50" charset="-128"/>
                <a:ea typeface="游ゴシック Medium" panose="020B0500000000000000" pitchFamily="50" charset="-128"/>
              </a:rPr>
              <a:t>導入後）</a:t>
            </a:r>
            <a:r>
              <a:rPr lang="ja-JP" altLang="en-US" sz="1600" dirty="0">
                <a:solidFill>
                  <a:srgbClr val="FF0000"/>
                </a:solidFill>
                <a:latin typeface="游ゴシック Medium" panose="020B0500000000000000" pitchFamily="50" charset="-128"/>
                <a:ea typeface="游ゴシック Medium" panose="020B0500000000000000" pitchFamily="50" charset="-128"/>
              </a:rPr>
              <a:t>要員の評価を見て</a:t>
            </a:r>
            <a:r>
              <a:rPr lang="ja-JP" altLang="en-US" sz="1600" dirty="0">
                <a:latin typeface="游ゴシック Medium" panose="020B0500000000000000" pitchFamily="50" charset="-128"/>
                <a:ea typeface="游ゴシック Medium" panose="020B0500000000000000" pitchFamily="50" charset="-128"/>
              </a:rPr>
              <a:t>直接オファーが可能</a:t>
            </a:r>
            <a:endParaRPr kumimoji="0" lang="en-US" altLang="ja-JP" sz="1600" dirty="0">
              <a:latin typeface="游ゴシック Medium" panose="020B0500000000000000" pitchFamily="50" charset="-128"/>
              <a:ea typeface="游ゴシック Medium" panose="020B0500000000000000" pitchFamily="50" charset="-128"/>
            </a:endParaRPr>
          </a:p>
          <a:p>
            <a:pPr marL="0" indent="0">
              <a:buFont typeface="Arial" panose="020B0604020202020204" pitchFamily="34" charset="0"/>
              <a:buNone/>
            </a:pPr>
            <a:endParaRPr kumimoji="0" lang="en-US" altLang="ja-JP" sz="1600" dirty="0">
              <a:latin typeface="游ゴシック Medium" panose="020B0500000000000000" pitchFamily="50" charset="-128"/>
              <a:ea typeface="游ゴシック Medium" panose="020B0500000000000000" pitchFamily="50" charset="-128"/>
            </a:endParaRPr>
          </a:p>
        </p:txBody>
      </p:sp>
      <p:sp>
        <p:nvSpPr>
          <p:cNvPr id="1068" name="四角形: 角を丸くする 1067">
            <a:extLst>
              <a:ext uri="{FF2B5EF4-FFF2-40B4-BE49-F238E27FC236}">
                <a16:creationId xmlns:a16="http://schemas.microsoft.com/office/drawing/2014/main" id="{73CB671C-0D5B-1FCE-7AFA-9DE154DF0079}"/>
              </a:ext>
            </a:extLst>
          </p:cNvPr>
          <p:cNvSpPr/>
          <p:nvPr/>
        </p:nvSpPr>
        <p:spPr>
          <a:xfrm>
            <a:off x="6096000" y="323117"/>
            <a:ext cx="1817906" cy="340519"/>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r>
              <a:rPr lang="ja-JP" altLang="en-US" sz="1400">
                <a:solidFill>
                  <a:schemeClr val="tx1"/>
                </a:solidFill>
                <a:latin typeface="メイリオ" panose="020B0604030504040204" pitchFamily="50" charset="-128"/>
                <a:ea typeface="メイリオ" panose="020B0604030504040204" pitchFamily="50" charset="-128"/>
              </a:rPr>
              <a:t>↓導入前のイメージ</a:t>
            </a: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1069" name="四角形: 角を丸くする 1068">
            <a:extLst>
              <a:ext uri="{FF2B5EF4-FFF2-40B4-BE49-F238E27FC236}">
                <a16:creationId xmlns:a16="http://schemas.microsoft.com/office/drawing/2014/main" id="{52636E20-402B-4FBC-CC50-BCEFF7A83C01}"/>
              </a:ext>
            </a:extLst>
          </p:cNvPr>
          <p:cNvSpPr/>
          <p:nvPr/>
        </p:nvSpPr>
        <p:spPr>
          <a:xfrm>
            <a:off x="6096000" y="3394870"/>
            <a:ext cx="1817906" cy="340519"/>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r>
              <a:rPr lang="ja-JP" altLang="en-US" sz="1400">
                <a:solidFill>
                  <a:schemeClr val="tx1"/>
                </a:solidFill>
                <a:latin typeface="メイリオ" panose="020B0604030504040204" pitchFamily="50" charset="-128"/>
                <a:ea typeface="メイリオ" panose="020B0604030504040204" pitchFamily="50" charset="-128"/>
              </a:rPr>
              <a:t>↓導入後のイメージ</a:t>
            </a:r>
            <a:endParaRPr kumimoji="1" lang="ja-JP" altLang="en-US" sz="1400">
              <a:solidFill>
                <a:schemeClr val="tx1"/>
              </a:solidFill>
              <a:latin typeface="メイリオ" panose="020B0604030504040204" pitchFamily="50" charset="-128"/>
              <a:ea typeface="メイリオ" panose="020B0604030504040204" pitchFamily="50" charset="-128"/>
            </a:endParaRPr>
          </a:p>
        </p:txBody>
      </p:sp>
      <p:sp>
        <p:nvSpPr>
          <p:cNvPr id="2" name="吹き出し: 角を丸めた四角形 1">
            <a:extLst>
              <a:ext uri="{FF2B5EF4-FFF2-40B4-BE49-F238E27FC236}">
                <a16:creationId xmlns:a16="http://schemas.microsoft.com/office/drawing/2014/main" id="{B2ADB482-8644-CA4F-BEDA-82FF37711195}"/>
              </a:ext>
            </a:extLst>
          </p:cNvPr>
          <p:cNvSpPr/>
          <p:nvPr/>
        </p:nvSpPr>
        <p:spPr>
          <a:xfrm>
            <a:off x="9151443" y="3585859"/>
            <a:ext cx="738108" cy="442674"/>
          </a:xfrm>
          <a:prstGeom prst="wedgeRoundRectCallout">
            <a:avLst>
              <a:gd name="adj1" fmla="val -68406"/>
              <a:gd name="adj2" fmla="val 44270"/>
              <a:gd name="adj3" fmla="val 16667"/>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kumimoji="1" lang="ja-JP" altLang="en-US" sz="1000">
                <a:solidFill>
                  <a:schemeClr val="tx1"/>
                </a:solidFill>
                <a:latin typeface="游ゴシック Medium" panose="020B0500000000000000" pitchFamily="50" charset="-128"/>
                <a:ea typeface="游ゴシック Medium" panose="020B0500000000000000" pitchFamily="50" charset="-128"/>
              </a:rPr>
              <a:t>協力要員</a:t>
            </a:r>
            <a:endParaRPr kumimoji="1" lang="en-US" altLang="ja-JP" sz="1000">
              <a:solidFill>
                <a:schemeClr val="tx1"/>
              </a:solidFill>
              <a:latin typeface="游ゴシック Medium" panose="020B0500000000000000" pitchFamily="50" charset="-128"/>
              <a:ea typeface="游ゴシック Medium" panose="020B0500000000000000" pitchFamily="50" charset="-128"/>
            </a:endParaRPr>
          </a:p>
          <a:p>
            <a:pPr algn="ctr"/>
            <a:r>
              <a:rPr kumimoji="1" lang="ja-JP" altLang="en-US" sz="1000">
                <a:solidFill>
                  <a:schemeClr val="tx1"/>
                </a:solidFill>
                <a:latin typeface="游ゴシック Medium" panose="020B0500000000000000" pitchFamily="50" charset="-128"/>
                <a:ea typeface="游ゴシック Medium" panose="020B0500000000000000" pitchFamily="50" charset="-128"/>
              </a:rPr>
              <a:t>公開</a:t>
            </a:r>
          </a:p>
        </p:txBody>
      </p:sp>
      <p:sp>
        <p:nvSpPr>
          <p:cNvPr id="3" name="吹き出し: 角を丸めた四角形 2">
            <a:extLst>
              <a:ext uri="{FF2B5EF4-FFF2-40B4-BE49-F238E27FC236}">
                <a16:creationId xmlns:a16="http://schemas.microsoft.com/office/drawing/2014/main" id="{3F83AA3B-AE47-CCD6-2D15-754EBDB36E1B}"/>
              </a:ext>
            </a:extLst>
          </p:cNvPr>
          <p:cNvSpPr/>
          <p:nvPr/>
        </p:nvSpPr>
        <p:spPr>
          <a:xfrm>
            <a:off x="11268727" y="3585859"/>
            <a:ext cx="738108" cy="442674"/>
          </a:xfrm>
          <a:prstGeom prst="wedgeRoundRectCallout">
            <a:avLst>
              <a:gd name="adj1" fmla="val -66972"/>
              <a:gd name="adj2" fmla="val 41879"/>
              <a:gd name="adj3" fmla="val 16667"/>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ja-JP" altLang="en-US" sz="1000" dirty="0">
                <a:solidFill>
                  <a:schemeClr val="tx1"/>
                </a:solidFill>
                <a:latin typeface="游ゴシック Medium" panose="020B0500000000000000" pitchFamily="50" charset="-128"/>
                <a:ea typeface="游ゴシック Medium" panose="020B0500000000000000" pitchFamily="50" charset="-128"/>
              </a:rPr>
              <a:t>自社</a:t>
            </a:r>
            <a:r>
              <a:rPr kumimoji="1" lang="ja-JP" altLang="en-US" sz="1000" dirty="0">
                <a:solidFill>
                  <a:schemeClr val="tx1"/>
                </a:solidFill>
                <a:latin typeface="游ゴシック Medium" panose="020B0500000000000000" pitchFamily="50" charset="-128"/>
                <a:ea typeface="游ゴシック Medium" panose="020B0500000000000000" pitchFamily="50" charset="-128"/>
              </a:rPr>
              <a:t>要員</a:t>
            </a:r>
            <a:endParaRPr kumimoji="1" lang="en-US" altLang="ja-JP" sz="1000" dirty="0">
              <a:solidFill>
                <a:schemeClr val="tx1"/>
              </a:solidFill>
              <a:latin typeface="游ゴシック Medium" panose="020B0500000000000000" pitchFamily="50" charset="-128"/>
              <a:ea typeface="游ゴシック Medium" panose="020B0500000000000000" pitchFamily="50" charset="-128"/>
            </a:endParaRPr>
          </a:p>
          <a:p>
            <a:pPr algn="ctr"/>
            <a:r>
              <a:rPr kumimoji="1" lang="ja-JP" altLang="en-US" sz="1000" dirty="0">
                <a:solidFill>
                  <a:schemeClr val="tx1"/>
                </a:solidFill>
                <a:latin typeface="游ゴシック Medium" panose="020B0500000000000000" pitchFamily="50" charset="-128"/>
                <a:ea typeface="游ゴシック Medium" panose="020B0500000000000000" pitchFamily="50" charset="-128"/>
              </a:rPr>
              <a:t>公開</a:t>
            </a:r>
          </a:p>
        </p:txBody>
      </p:sp>
      <p:sp>
        <p:nvSpPr>
          <p:cNvPr id="13" name="吹き出し: 円形 12">
            <a:extLst>
              <a:ext uri="{FF2B5EF4-FFF2-40B4-BE49-F238E27FC236}">
                <a16:creationId xmlns:a16="http://schemas.microsoft.com/office/drawing/2014/main" id="{58B57F29-EE4C-A7E0-E898-6C7AF51F1E56}"/>
              </a:ext>
            </a:extLst>
          </p:cNvPr>
          <p:cNvSpPr/>
          <p:nvPr/>
        </p:nvSpPr>
        <p:spPr>
          <a:xfrm>
            <a:off x="11048455" y="4833586"/>
            <a:ext cx="535451" cy="450800"/>
          </a:xfrm>
          <a:prstGeom prst="wedgeEllipseCallout">
            <a:avLst>
              <a:gd name="adj1" fmla="val -48025"/>
              <a:gd name="adj2" fmla="val 47409"/>
            </a:avLst>
          </a:prstGeom>
          <a:solidFill>
            <a:schemeClr val="bg1"/>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kumimoji="1" lang="ja-JP" altLang="en-US" sz="1000" dirty="0">
                <a:solidFill>
                  <a:schemeClr val="accent4"/>
                </a:solidFill>
                <a:latin typeface="游ゴシック Medium" panose="020B0500000000000000" pitchFamily="50" charset="-128"/>
                <a:ea typeface="游ゴシック Medium" panose="020B0500000000000000" pitchFamily="50" charset="-128"/>
              </a:rPr>
              <a:t>★★★</a:t>
            </a:r>
          </a:p>
        </p:txBody>
      </p:sp>
    </p:spTree>
    <p:extLst>
      <p:ext uri="{BB962C8B-B14F-4D97-AF65-F5344CB8AC3E}">
        <p14:creationId xmlns:p14="http://schemas.microsoft.com/office/powerpoint/2010/main" val="2145776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6A19E-A56B-0E2E-E68D-37EDC453DDA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1406565-F4D8-12A6-F4DE-3E190A98C96B}"/>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6" name="Slide Number Placeholder 5">
            <a:extLst>
              <a:ext uri="{FF2B5EF4-FFF2-40B4-BE49-F238E27FC236}">
                <a16:creationId xmlns:a16="http://schemas.microsoft.com/office/drawing/2014/main" id="{13F0169D-68CD-B61A-52C3-64EA7E6DC5EF}"/>
              </a:ext>
            </a:extLst>
          </p:cNvPr>
          <p:cNvSpPr>
            <a:spLocks noGrp="1"/>
          </p:cNvSpPr>
          <p:nvPr>
            <p:ph type="sldNum" sz="quarter" idx="12"/>
          </p:nvPr>
        </p:nvSpPr>
        <p:spPr/>
        <p:txBody>
          <a:bodyPr/>
          <a:lstStyle/>
          <a:p>
            <a:fld id="{CC057153-B650-4DEB-B370-79DDCFDCE934}" type="slidenum">
              <a:rPr lang="en-US" dirty="0"/>
              <a:t>4</a:t>
            </a:fld>
            <a:endParaRPr lang="en-US"/>
          </a:p>
        </p:txBody>
      </p:sp>
      <p:sp>
        <p:nvSpPr>
          <p:cNvPr id="18" name="Title 1">
            <a:extLst>
              <a:ext uri="{FF2B5EF4-FFF2-40B4-BE49-F238E27FC236}">
                <a16:creationId xmlns:a16="http://schemas.microsoft.com/office/drawing/2014/main" id="{881FDB98-9570-AD3E-9F2A-1174191F5A57}"/>
              </a:ext>
            </a:extLst>
          </p:cNvPr>
          <p:cNvSpPr>
            <a:spLocks noGrp="1"/>
          </p:cNvSpPr>
          <p:nvPr>
            <p:ph type="title"/>
          </p:nvPr>
        </p:nvSpPr>
        <p:spPr>
          <a:xfrm>
            <a:off x="612648" y="281870"/>
            <a:ext cx="10653578" cy="533540"/>
          </a:xfrm>
        </p:spPr>
        <p:txBody>
          <a:bodyPr>
            <a:normAutofit fontScale="90000"/>
          </a:bodyPr>
          <a:lstStyle/>
          <a:p>
            <a:r>
              <a:rPr kumimoji="1" lang="ja-JP" altLang="en-US" dirty="0"/>
              <a:t>下請け構造とターゲット</a:t>
            </a:r>
          </a:p>
        </p:txBody>
      </p:sp>
      <p:sp>
        <p:nvSpPr>
          <p:cNvPr id="1065" name="Content Placeholder 2">
            <a:extLst>
              <a:ext uri="{FF2B5EF4-FFF2-40B4-BE49-F238E27FC236}">
                <a16:creationId xmlns:a16="http://schemas.microsoft.com/office/drawing/2014/main" id="{41A157A9-424D-0D0C-7D1A-DEBE163795A8}"/>
              </a:ext>
            </a:extLst>
          </p:cNvPr>
          <p:cNvSpPr txBox="1">
            <a:spLocks/>
          </p:cNvSpPr>
          <p:nvPr/>
        </p:nvSpPr>
        <p:spPr>
          <a:xfrm>
            <a:off x="508000" y="992107"/>
            <a:ext cx="11124162" cy="3651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0" lang="ja-JP" altLang="en-US" sz="1600" dirty="0">
                <a:latin typeface="游ゴシック Medium" panose="020B0500000000000000" pitchFamily="50" charset="-128"/>
                <a:ea typeface="游ゴシック Medium" panose="020B0500000000000000" pitchFamily="50" charset="-128"/>
              </a:rPr>
              <a:t>以下の下請け構造をモデルとした場合、</a:t>
            </a:r>
            <a:r>
              <a:rPr kumimoji="0" lang="ja-JP" altLang="en-US" sz="1600" b="1" u="sng" dirty="0">
                <a:latin typeface="游ゴシック Medium" panose="020B0500000000000000" pitchFamily="50" charset="-128"/>
                <a:ea typeface="游ゴシック Medium" panose="020B0500000000000000" pitchFamily="50" charset="-128"/>
              </a:rPr>
              <a:t>二次請け会社、仲介会社、要員会社</a:t>
            </a:r>
            <a:r>
              <a:rPr kumimoji="0" lang="ja-JP" altLang="en-US" sz="1600" dirty="0">
                <a:latin typeface="游ゴシック Medium" panose="020B0500000000000000" pitchFamily="50" charset="-128"/>
                <a:ea typeface="游ゴシック Medium" panose="020B0500000000000000" pitchFamily="50" charset="-128"/>
              </a:rPr>
              <a:t>がターゲットとなる</a:t>
            </a:r>
            <a:endParaRPr kumimoji="0" lang="en-US" altLang="ja-JP" sz="1600" dirty="0">
              <a:latin typeface="游ゴシック Medium" panose="020B0500000000000000" pitchFamily="50" charset="-128"/>
              <a:ea typeface="游ゴシック Medium" panose="020B0500000000000000" pitchFamily="50" charset="-128"/>
            </a:endParaRPr>
          </a:p>
        </p:txBody>
      </p:sp>
      <p:graphicFrame>
        <p:nvGraphicFramePr>
          <p:cNvPr id="2" name="図表 1">
            <a:extLst>
              <a:ext uri="{FF2B5EF4-FFF2-40B4-BE49-F238E27FC236}">
                <a16:creationId xmlns:a16="http://schemas.microsoft.com/office/drawing/2014/main" id="{09CFD41D-9126-1E0B-6B71-D04C0D3C79B0}"/>
              </a:ext>
            </a:extLst>
          </p:cNvPr>
          <p:cNvGraphicFramePr/>
          <p:nvPr>
            <p:extLst>
              <p:ext uri="{D42A27DB-BD31-4B8C-83A1-F6EECF244321}">
                <p14:modId xmlns:p14="http://schemas.microsoft.com/office/powerpoint/2010/main" val="983549233"/>
              </p:ext>
            </p:extLst>
          </p:nvPr>
        </p:nvGraphicFramePr>
        <p:xfrm>
          <a:off x="347134" y="1557384"/>
          <a:ext cx="5748866" cy="4503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図表 2">
            <a:extLst>
              <a:ext uri="{FF2B5EF4-FFF2-40B4-BE49-F238E27FC236}">
                <a16:creationId xmlns:a16="http://schemas.microsoft.com/office/drawing/2014/main" id="{23DAFA4E-CE6E-E47E-B46D-50FCF6E38593}"/>
              </a:ext>
            </a:extLst>
          </p:cNvPr>
          <p:cNvGraphicFramePr/>
          <p:nvPr>
            <p:extLst>
              <p:ext uri="{D42A27DB-BD31-4B8C-83A1-F6EECF244321}">
                <p14:modId xmlns:p14="http://schemas.microsoft.com/office/powerpoint/2010/main" val="4033298945"/>
              </p:ext>
            </p:extLst>
          </p:nvPr>
        </p:nvGraphicFramePr>
        <p:xfrm>
          <a:off x="3786000" y="2458720"/>
          <a:ext cx="2443350" cy="361232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7" name="図表 6">
            <a:extLst>
              <a:ext uri="{FF2B5EF4-FFF2-40B4-BE49-F238E27FC236}">
                <a16:creationId xmlns:a16="http://schemas.microsoft.com/office/drawing/2014/main" id="{26892C44-953D-6865-B3DA-AA61A1B94254}"/>
              </a:ext>
            </a:extLst>
          </p:cNvPr>
          <p:cNvGraphicFramePr/>
          <p:nvPr>
            <p:extLst>
              <p:ext uri="{D42A27DB-BD31-4B8C-83A1-F6EECF244321}">
                <p14:modId xmlns:p14="http://schemas.microsoft.com/office/powerpoint/2010/main" val="1164845479"/>
              </p:ext>
            </p:extLst>
          </p:nvPr>
        </p:nvGraphicFramePr>
        <p:xfrm>
          <a:off x="6229350" y="2458720"/>
          <a:ext cx="5615516" cy="3612325"/>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
        <p:nvSpPr>
          <p:cNvPr id="9" name="矢印: 五方向 8">
            <a:extLst>
              <a:ext uri="{FF2B5EF4-FFF2-40B4-BE49-F238E27FC236}">
                <a16:creationId xmlns:a16="http://schemas.microsoft.com/office/drawing/2014/main" id="{D720B003-FD88-E743-922E-730E5671BD55}"/>
              </a:ext>
            </a:extLst>
          </p:cNvPr>
          <p:cNvSpPr/>
          <p:nvPr/>
        </p:nvSpPr>
        <p:spPr>
          <a:xfrm rot="5400000">
            <a:off x="4457137" y="1839911"/>
            <a:ext cx="443085" cy="126491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ja-JP" altLang="en-US" sz="1400" dirty="0">
                <a:solidFill>
                  <a:schemeClr val="bg1"/>
                </a:solidFill>
                <a:latin typeface="游ゴシック Medium" panose="020B0500000000000000" pitchFamily="50" charset="-128"/>
                <a:ea typeface="游ゴシック Medium" panose="020B0500000000000000" pitchFamily="50" charset="-128"/>
              </a:rPr>
              <a:t>請負</a:t>
            </a:r>
          </a:p>
        </p:txBody>
      </p:sp>
      <p:sp>
        <p:nvSpPr>
          <p:cNvPr id="10" name="矢印: 五方向 9">
            <a:extLst>
              <a:ext uri="{FF2B5EF4-FFF2-40B4-BE49-F238E27FC236}">
                <a16:creationId xmlns:a16="http://schemas.microsoft.com/office/drawing/2014/main" id="{91BA6D14-1997-44B3-AC5D-5A1B6298865F}"/>
              </a:ext>
            </a:extLst>
          </p:cNvPr>
          <p:cNvSpPr/>
          <p:nvPr/>
        </p:nvSpPr>
        <p:spPr>
          <a:xfrm rot="5400000">
            <a:off x="4457138" y="2742640"/>
            <a:ext cx="443085" cy="126491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en-US" altLang="ja-JP" sz="1400">
                <a:solidFill>
                  <a:schemeClr val="bg1"/>
                </a:solidFill>
                <a:latin typeface="游ゴシック Medium" panose="020B0500000000000000" pitchFamily="50" charset="-128"/>
                <a:ea typeface="游ゴシック Medium" panose="020B0500000000000000" pitchFamily="50" charset="-128"/>
              </a:rPr>
              <a:t>SES(</a:t>
            </a:r>
            <a:r>
              <a:rPr kumimoji="1" lang="ja-JP" altLang="en-US" sz="1400">
                <a:solidFill>
                  <a:schemeClr val="bg1"/>
                </a:solidFill>
                <a:latin typeface="游ゴシック Medium" panose="020B0500000000000000" pitchFamily="50" charset="-128"/>
                <a:ea typeface="游ゴシック Medium" panose="020B0500000000000000" pitchFamily="50" charset="-128"/>
              </a:rPr>
              <a:t>体制</a:t>
            </a:r>
            <a:r>
              <a:rPr kumimoji="1" lang="en-US" altLang="ja-JP" sz="1400">
                <a:solidFill>
                  <a:schemeClr val="bg1"/>
                </a:solidFill>
                <a:latin typeface="游ゴシック Medium" panose="020B0500000000000000" pitchFamily="50" charset="-128"/>
                <a:ea typeface="游ゴシック Medium" panose="020B0500000000000000" pitchFamily="50" charset="-128"/>
              </a:rPr>
              <a:t>)</a:t>
            </a:r>
            <a:endParaRPr kumimoji="1" lang="ja-JP" altLang="en-US" sz="1400">
              <a:solidFill>
                <a:schemeClr val="bg1"/>
              </a:solidFill>
              <a:latin typeface="游ゴシック Medium" panose="020B0500000000000000" pitchFamily="50" charset="-128"/>
              <a:ea typeface="游ゴシック Medium" panose="020B0500000000000000" pitchFamily="50" charset="-128"/>
            </a:endParaRPr>
          </a:p>
        </p:txBody>
      </p:sp>
      <p:sp>
        <p:nvSpPr>
          <p:cNvPr id="11" name="矢印: 五方向 10">
            <a:extLst>
              <a:ext uri="{FF2B5EF4-FFF2-40B4-BE49-F238E27FC236}">
                <a16:creationId xmlns:a16="http://schemas.microsoft.com/office/drawing/2014/main" id="{5637BE06-CEC7-B8A3-DE69-799045164D56}"/>
              </a:ext>
            </a:extLst>
          </p:cNvPr>
          <p:cNvSpPr/>
          <p:nvPr/>
        </p:nvSpPr>
        <p:spPr>
          <a:xfrm rot="5400000">
            <a:off x="4457138" y="3645369"/>
            <a:ext cx="443085" cy="126491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en-US" altLang="ja-JP" sz="1400">
                <a:solidFill>
                  <a:schemeClr val="bg1"/>
                </a:solidFill>
                <a:latin typeface="游ゴシック Medium" panose="020B0500000000000000" pitchFamily="50" charset="-128"/>
                <a:ea typeface="游ゴシック Medium" panose="020B0500000000000000" pitchFamily="50" charset="-128"/>
              </a:rPr>
              <a:t>SES(</a:t>
            </a:r>
            <a:r>
              <a:rPr lang="ja-JP" altLang="en-US" sz="1400">
                <a:solidFill>
                  <a:schemeClr val="bg1"/>
                </a:solidFill>
                <a:latin typeface="游ゴシック Medium" panose="020B0500000000000000" pitchFamily="50" charset="-128"/>
                <a:ea typeface="游ゴシック Medium" panose="020B0500000000000000" pitchFamily="50" charset="-128"/>
              </a:rPr>
              <a:t>個別</a:t>
            </a:r>
            <a:r>
              <a:rPr kumimoji="1" lang="en-US" altLang="ja-JP" sz="1400">
                <a:solidFill>
                  <a:schemeClr val="bg1"/>
                </a:solidFill>
                <a:latin typeface="游ゴシック Medium" panose="020B0500000000000000" pitchFamily="50" charset="-128"/>
                <a:ea typeface="游ゴシック Medium" panose="020B0500000000000000" pitchFamily="50" charset="-128"/>
              </a:rPr>
              <a:t>)</a:t>
            </a:r>
            <a:endParaRPr kumimoji="1" lang="ja-JP" altLang="en-US" sz="1400">
              <a:solidFill>
                <a:schemeClr val="bg1"/>
              </a:solidFill>
              <a:latin typeface="游ゴシック Medium" panose="020B0500000000000000" pitchFamily="50" charset="-128"/>
              <a:ea typeface="游ゴシック Medium" panose="020B0500000000000000" pitchFamily="50" charset="-128"/>
            </a:endParaRPr>
          </a:p>
        </p:txBody>
      </p:sp>
      <p:sp>
        <p:nvSpPr>
          <p:cNvPr id="12" name="矢印: 五方向 11">
            <a:extLst>
              <a:ext uri="{FF2B5EF4-FFF2-40B4-BE49-F238E27FC236}">
                <a16:creationId xmlns:a16="http://schemas.microsoft.com/office/drawing/2014/main" id="{4135F762-7AA6-97ED-E26A-537117329E5D}"/>
              </a:ext>
            </a:extLst>
          </p:cNvPr>
          <p:cNvSpPr/>
          <p:nvPr/>
        </p:nvSpPr>
        <p:spPr>
          <a:xfrm rot="5400000">
            <a:off x="4457138" y="4548098"/>
            <a:ext cx="443085" cy="126491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kumimoji="1" lang="en-US" altLang="ja-JP" sz="1400">
                <a:solidFill>
                  <a:schemeClr val="bg1"/>
                </a:solidFill>
                <a:latin typeface="游ゴシック Medium" panose="020B0500000000000000" pitchFamily="50" charset="-128"/>
                <a:ea typeface="游ゴシック Medium" panose="020B0500000000000000" pitchFamily="50" charset="-128"/>
              </a:rPr>
              <a:t>SES(</a:t>
            </a:r>
            <a:r>
              <a:rPr lang="ja-JP" altLang="en-US" sz="1400">
                <a:solidFill>
                  <a:schemeClr val="bg1"/>
                </a:solidFill>
                <a:latin typeface="游ゴシック Medium" panose="020B0500000000000000" pitchFamily="50" charset="-128"/>
                <a:ea typeface="游ゴシック Medium" panose="020B0500000000000000" pitchFamily="50" charset="-128"/>
              </a:rPr>
              <a:t>個別</a:t>
            </a:r>
            <a:r>
              <a:rPr kumimoji="1" lang="en-US" altLang="ja-JP" sz="1400">
                <a:solidFill>
                  <a:schemeClr val="bg1"/>
                </a:solidFill>
                <a:latin typeface="游ゴシック Medium" panose="020B0500000000000000" pitchFamily="50" charset="-128"/>
                <a:ea typeface="游ゴシック Medium" panose="020B0500000000000000" pitchFamily="50" charset="-128"/>
              </a:rPr>
              <a:t>)</a:t>
            </a:r>
            <a:endParaRPr kumimoji="1" lang="ja-JP" altLang="en-US" sz="1400">
              <a:solidFill>
                <a:schemeClr val="bg1"/>
              </a:solidFill>
              <a:latin typeface="游ゴシック Medium" panose="020B0500000000000000" pitchFamily="50" charset="-128"/>
              <a:ea typeface="游ゴシック Medium" panose="020B0500000000000000" pitchFamily="50" charset="-128"/>
            </a:endParaRPr>
          </a:p>
        </p:txBody>
      </p:sp>
      <p:sp>
        <p:nvSpPr>
          <p:cNvPr id="13" name="テキスト ボックス 12">
            <a:extLst>
              <a:ext uri="{FF2B5EF4-FFF2-40B4-BE49-F238E27FC236}">
                <a16:creationId xmlns:a16="http://schemas.microsoft.com/office/drawing/2014/main" id="{B4356F2A-D62B-D2D9-F619-5C1C2667B1E2}"/>
              </a:ext>
            </a:extLst>
          </p:cNvPr>
          <p:cNvSpPr txBox="1"/>
          <p:nvPr/>
        </p:nvSpPr>
        <p:spPr>
          <a:xfrm>
            <a:off x="4024741" y="1732376"/>
            <a:ext cx="1399743" cy="307777"/>
          </a:xfrm>
          <a:prstGeom prst="rect">
            <a:avLst/>
          </a:prstGeom>
          <a:noFill/>
        </p:spPr>
        <p:txBody>
          <a:bodyPr wrap="none" rtlCol="0">
            <a:spAutoFit/>
          </a:bodyPr>
          <a:lstStyle/>
          <a:p>
            <a:pPr algn="ctr"/>
            <a:r>
              <a:rPr lang="ja-JP" altLang="en-US" sz="1400">
                <a:solidFill>
                  <a:schemeClr val="accent1"/>
                </a:solidFill>
                <a:latin typeface="游ゴシック Medium" panose="020B0500000000000000" pitchFamily="50" charset="-128"/>
                <a:ea typeface="游ゴシック Medium" panose="020B0500000000000000" pitchFamily="50" charset="-128"/>
              </a:rPr>
              <a:t>発注</a:t>
            </a:r>
            <a:r>
              <a:rPr kumimoji="1" lang="ja-JP" altLang="en-US" sz="1400">
                <a:solidFill>
                  <a:schemeClr val="accent1"/>
                </a:solidFill>
                <a:latin typeface="游ゴシック Medium" panose="020B0500000000000000" pitchFamily="50" charset="-128"/>
                <a:ea typeface="游ゴシック Medium" panose="020B0500000000000000" pitchFamily="50" charset="-128"/>
              </a:rPr>
              <a:t>の流れ</a:t>
            </a:r>
            <a:r>
              <a:rPr kumimoji="1" lang="en-US" altLang="ja-JP" sz="1400">
                <a:solidFill>
                  <a:schemeClr val="accent1"/>
                </a:solidFill>
                <a:latin typeface="游ゴシック Medium" panose="020B0500000000000000" pitchFamily="50" charset="-128"/>
                <a:ea typeface="游ゴシック Medium" panose="020B0500000000000000" pitchFamily="50" charset="-128"/>
              </a:rPr>
              <a:t>(</a:t>
            </a:r>
            <a:r>
              <a:rPr kumimoji="1" lang="ja-JP" altLang="en-US" sz="1400">
                <a:solidFill>
                  <a:schemeClr val="accent1"/>
                </a:solidFill>
                <a:latin typeface="游ゴシック Medium" panose="020B0500000000000000" pitchFamily="50" charset="-128"/>
                <a:ea typeface="游ゴシック Medium" panose="020B0500000000000000" pitchFamily="50" charset="-128"/>
              </a:rPr>
              <a:t>例</a:t>
            </a:r>
            <a:r>
              <a:rPr kumimoji="1" lang="en-US" altLang="ja-JP" sz="1400">
                <a:solidFill>
                  <a:schemeClr val="accent1"/>
                </a:solidFill>
                <a:latin typeface="游ゴシック Medium" panose="020B0500000000000000" pitchFamily="50" charset="-128"/>
                <a:ea typeface="游ゴシック Medium" panose="020B0500000000000000" pitchFamily="50" charset="-128"/>
              </a:rPr>
              <a:t>)</a:t>
            </a:r>
            <a:endParaRPr kumimoji="1" lang="ja-JP" altLang="en-US" sz="1400">
              <a:solidFill>
                <a:schemeClr val="accent1"/>
              </a:solidFill>
              <a:latin typeface="游ゴシック Medium" panose="020B0500000000000000" pitchFamily="50" charset="-128"/>
              <a:ea typeface="游ゴシック Medium" panose="020B0500000000000000" pitchFamily="50" charset="-128"/>
            </a:endParaRPr>
          </a:p>
        </p:txBody>
      </p:sp>
      <p:sp>
        <p:nvSpPr>
          <p:cNvPr id="16" name="正方形/長方形 15">
            <a:extLst>
              <a:ext uri="{FF2B5EF4-FFF2-40B4-BE49-F238E27FC236}">
                <a16:creationId xmlns:a16="http://schemas.microsoft.com/office/drawing/2014/main" id="{80D4ED71-ED98-EF96-7725-43A691C69A22}"/>
              </a:ext>
            </a:extLst>
          </p:cNvPr>
          <p:cNvSpPr/>
          <p:nvPr/>
        </p:nvSpPr>
        <p:spPr>
          <a:xfrm>
            <a:off x="2390418" y="3914868"/>
            <a:ext cx="1656504" cy="100341"/>
          </a:xfrm>
          <a:prstGeom prst="rect">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6768B059-20B1-61BC-0EB9-A0621E9BC657}"/>
              </a:ext>
            </a:extLst>
          </p:cNvPr>
          <p:cNvSpPr/>
          <p:nvPr/>
        </p:nvSpPr>
        <p:spPr>
          <a:xfrm>
            <a:off x="2784374" y="5704022"/>
            <a:ext cx="868276" cy="100341"/>
          </a:xfrm>
          <a:prstGeom prst="rect">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正方形/長方形 4">
            <a:extLst>
              <a:ext uri="{FF2B5EF4-FFF2-40B4-BE49-F238E27FC236}">
                <a16:creationId xmlns:a16="http://schemas.microsoft.com/office/drawing/2014/main" id="{35EA64C3-FD0C-8349-A323-D52010767238}"/>
              </a:ext>
            </a:extLst>
          </p:cNvPr>
          <p:cNvSpPr/>
          <p:nvPr/>
        </p:nvSpPr>
        <p:spPr>
          <a:xfrm>
            <a:off x="2784374" y="4809445"/>
            <a:ext cx="868276" cy="100341"/>
          </a:xfrm>
          <a:prstGeom prst="rect">
            <a:avLst/>
          </a:prstGeom>
          <a:solidFill>
            <a:srgbClr val="FF000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467552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95A8F-1E03-3B16-5129-834B71B88071}"/>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3DFD0AFD-6F67-ECFE-A3BF-93C173AE4C6A}"/>
              </a:ext>
            </a:extLst>
          </p:cNvPr>
          <p:cNvSpPr/>
          <p:nvPr/>
        </p:nvSpPr>
        <p:spPr>
          <a:xfrm>
            <a:off x="795867" y="5614483"/>
            <a:ext cx="10557933" cy="900617"/>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3" name="楕円 82">
            <a:extLst>
              <a:ext uri="{FF2B5EF4-FFF2-40B4-BE49-F238E27FC236}">
                <a16:creationId xmlns:a16="http://schemas.microsoft.com/office/drawing/2014/main" id="{6D350F91-8D94-BEC0-1415-2B3CF174F9C5}"/>
              </a:ext>
            </a:extLst>
          </p:cNvPr>
          <p:cNvSpPr/>
          <p:nvPr/>
        </p:nvSpPr>
        <p:spPr>
          <a:xfrm>
            <a:off x="2430093" y="2299037"/>
            <a:ext cx="761895" cy="761895"/>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t>大</a:t>
            </a:r>
            <a:endParaRPr kumimoji="1" lang="ja-JP" altLang="en-US" dirty="0"/>
          </a:p>
        </p:txBody>
      </p:sp>
      <p:sp>
        <p:nvSpPr>
          <p:cNvPr id="93" name="正方形/長方形 92">
            <a:extLst>
              <a:ext uri="{FF2B5EF4-FFF2-40B4-BE49-F238E27FC236}">
                <a16:creationId xmlns:a16="http://schemas.microsoft.com/office/drawing/2014/main" id="{50F43DEF-6D7D-BC8E-5440-67122F1638EF}"/>
              </a:ext>
            </a:extLst>
          </p:cNvPr>
          <p:cNvSpPr/>
          <p:nvPr/>
        </p:nvSpPr>
        <p:spPr>
          <a:xfrm>
            <a:off x="795867" y="3869789"/>
            <a:ext cx="10557933" cy="1693494"/>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Content Placeholder 2">
            <a:extLst>
              <a:ext uri="{FF2B5EF4-FFF2-40B4-BE49-F238E27FC236}">
                <a16:creationId xmlns:a16="http://schemas.microsoft.com/office/drawing/2014/main" id="{23A34875-DEFB-A36B-9B42-9625D5A3AF6C}"/>
              </a:ext>
            </a:extLst>
          </p:cNvPr>
          <p:cNvSpPr>
            <a:spLocks noGrp="1"/>
          </p:cNvSpPr>
          <p:nvPr>
            <p:ph idx="1"/>
          </p:nvPr>
        </p:nvSpPr>
        <p:spPr>
          <a:xfrm>
            <a:off x="612647" y="931741"/>
            <a:ext cx="10653579" cy="1278152"/>
          </a:xfrm>
        </p:spPr>
        <p:txBody>
          <a:bodyPr vert="horz" lIns="91440" tIns="45720" rIns="91440" bIns="45720" rtlCol="0" anchor="t">
            <a:normAutofit/>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市場価値の高い「二次請け</a:t>
            </a:r>
            <a:r>
              <a:rPr lang="en-US" altLang="ja-JP" sz="1600" dirty="0">
                <a:latin typeface="游ゴシック Medium" panose="020B0500000000000000" pitchFamily="50" charset="-128"/>
                <a:ea typeface="游ゴシック Medium" panose="020B0500000000000000" pitchFamily="50" charset="-128"/>
              </a:rPr>
              <a:t>(</a:t>
            </a:r>
            <a:r>
              <a:rPr lang="ja-JP" altLang="en-US" sz="1600" dirty="0">
                <a:latin typeface="游ゴシック Medium" panose="020B0500000000000000" pitchFamily="50" charset="-128"/>
                <a:ea typeface="游ゴシック Medium" panose="020B0500000000000000" pitchFamily="50" charset="-128"/>
              </a:rPr>
              <a:t>案件</a:t>
            </a:r>
            <a:r>
              <a:rPr lang="en-US" altLang="ja-JP" sz="1600" dirty="0">
                <a:latin typeface="游ゴシック Medium" panose="020B0500000000000000" pitchFamily="50" charset="-128"/>
                <a:ea typeface="游ゴシック Medium" panose="020B0500000000000000" pitchFamily="50" charset="-128"/>
              </a:rPr>
              <a:t>)</a:t>
            </a:r>
            <a:r>
              <a:rPr lang="ja-JP" altLang="en-US" sz="1600" dirty="0">
                <a:latin typeface="游ゴシック Medium" panose="020B0500000000000000" pitchFamily="50" charset="-128"/>
                <a:ea typeface="游ゴシック Medium" panose="020B0500000000000000" pitchFamily="50" charset="-128"/>
              </a:rPr>
              <a:t>会社」にマッチングコストと</a:t>
            </a:r>
            <a:r>
              <a:rPr lang="ja-JP" altLang="en-US" sz="1600" dirty="0">
                <a:solidFill>
                  <a:srgbClr val="FF0000"/>
                </a:solidFill>
                <a:latin typeface="游ゴシック Medium" panose="020B0500000000000000" pitchFamily="50" charset="-128"/>
                <a:ea typeface="游ゴシック Medium" panose="020B0500000000000000" pitchFamily="50" charset="-128"/>
              </a:rPr>
              <a:t>マッチングリスク</a:t>
            </a:r>
            <a:r>
              <a:rPr lang="ja-JP" altLang="en-US" sz="1600" dirty="0">
                <a:latin typeface="游ゴシック Medium" panose="020B0500000000000000" pitchFamily="50" charset="-128"/>
                <a:ea typeface="游ゴシック Medium" panose="020B0500000000000000" pitchFamily="50" charset="-128"/>
              </a:rPr>
              <a:t>が集中する構造になっている</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u="sng" dirty="0">
                <a:latin typeface="游ゴシック Medium" panose="020B0500000000000000" pitchFamily="50" charset="-128"/>
                <a:ea typeface="游ゴシック Medium" panose="020B0500000000000000" pitchFamily="50" charset="-128"/>
              </a:rPr>
              <a:t>バリュー効率</a:t>
            </a:r>
            <a:r>
              <a:rPr lang="en-US" altLang="ja-JP" sz="1600" u="sng" dirty="0">
                <a:latin typeface="游ゴシック Medium" panose="020B0500000000000000" pitchFamily="50" charset="-128"/>
                <a:ea typeface="游ゴシック Medium" panose="020B0500000000000000" pitchFamily="50" charset="-128"/>
              </a:rPr>
              <a:t>(*1)</a:t>
            </a:r>
            <a:r>
              <a:rPr lang="ja-JP" altLang="en-US" sz="1600" dirty="0">
                <a:latin typeface="游ゴシック Medium" panose="020B0500000000000000" pitchFamily="50" charset="-128"/>
                <a:ea typeface="游ゴシック Medium" panose="020B0500000000000000" pitchFamily="50" charset="-128"/>
              </a:rPr>
              <a:t>・</a:t>
            </a:r>
            <a:r>
              <a:rPr lang="ja-JP" altLang="en-US" sz="1600" u="sng" dirty="0">
                <a:latin typeface="游ゴシック Medium" panose="020B0500000000000000" pitchFamily="50" charset="-128"/>
                <a:ea typeface="游ゴシック Medium" panose="020B0500000000000000" pitchFamily="50" charset="-128"/>
              </a:rPr>
              <a:t>ネットワーク効果</a:t>
            </a:r>
            <a:r>
              <a:rPr lang="en-US" altLang="ja-JP" sz="1600" u="sng" dirty="0">
                <a:latin typeface="游ゴシック Medium" panose="020B0500000000000000" pitchFamily="50" charset="-128"/>
                <a:ea typeface="游ゴシック Medium" panose="020B0500000000000000" pitchFamily="50" charset="-128"/>
              </a:rPr>
              <a:t>(*2)</a:t>
            </a:r>
            <a:r>
              <a:rPr lang="ja-JP" altLang="en-US" sz="1600" dirty="0">
                <a:latin typeface="游ゴシック Medium" panose="020B0500000000000000" pitchFamily="50" charset="-128"/>
                <a:ea typeface="游ゴシック Medium" panose="020B0500000000000000" pitchFamily="50" charset="-128"/>
              </a:rPr>
              <a:t>の両面で「二次請け</a:t>
            </a:r>
            <a:r>
              <a:rPr lang="en-US" altLang="ja-JP" sz="1600" dirty="0">
                <a:latin typeface="游ゴシック Medium" panose="020B0500000000000000" pitchFamily="50" charset="-128"/>
                <a:ea typeface="游ゴシック Medium" panose="020B0500000000000000" pitchFamily="50" charset="-128"/>
              </a:rPr>
              <a:t>(</a:t>
            </a:r>
            <a:r>
              <a:rPr lang="ja-JP" altLang="en-US" sz="1600" dirty="0">
                <a:latin typeface="游ゴシック Medium" panose="020B0500000000000000" pitchFamily="50" charset="-128"/>
                <a:ea typeface="游ゴシック Medium" panose="020B0500000000000000" pitchFamily="50" charset="-128"/>
              </a:rPr>
              <a:t>案件</a:t>
            </a:r>
            <a:r>
              <a:rPr lang="en-US" altLang="ja-JP" sz="1600" dirty="0">
                <a:latin typeface="游ゴシック Medium" panose="020B0500000000000000" pitchFamily="50" charset="-128"/>
                <a:ea typeface="游ゴシック Medium" panose="020B0500000000000000" pitchFamily="50" charset="-128"/>
              </a:rPr>
              <a:t>)</a:t>
            </a:r>
            <a:r>
              <a:rPr lang="ja-JP" altLang="en-US" sz="1600" dirty="0">
                <a:latin typeface="游ゴシック Medium" panose="020B0500000000000000" pitchFamily="50" charset="-128"/>
                <a:ea typeface="游ゴシック Medium" panose="020B0500000000000000" pitchFamily="50" charset="-128"/>
              </a:rPr>
              <a:t>会社」が本プロダクトの</a:t>
            </a:r>
            <a:r>
              <a:rPr lang="ja-JP" altLang="en-US" sz="1600" u="sng" dirty="0">
                <a:latin typeface="游ゴシック Medium" panose="020B0500000000000000" pitchFamily="50" charset="-128"/>
                <a:ea typeface="游ゴシック Medium" panose="020B0500000000000000" pitchFamily="50" charset="-128"/>
              </a:rPr>
              <a:t>要石</a:t>
            </a:r>
            <a:r>
              <a:rPr lang="en-US" altLang="ja-JP" sz="1600" u="sng" dirty="0">
                <a:latin typeface="游ゴシック Medium" panose="020B0500000000000000" pitchFamily="50" charset="-128"/>
                <a:ea typeface="游ゴシック Medium" panose="020B0500000000000000" pitchFamily="50" charset="-128"/>
              </a:rPr>
              <a:t>(*3)</a:t>
            </a:r>
            <a:r>
              <a:rPr lang="ja-JP" altLang="en-US" sz="1600" dirty="0">
                <a:latin typeface="游ゴシック Medium" panose="020B0500000000000000" pitchFamily="50" charset="-128"/>
                <a:ea typeface="游ゴシック Medium" panose="020B0500000000000000" pitchFamily="50" charset="-128"/>
              </a:rPr>
              <a:t>である</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dirty="0">
                <a:latin typeface="游ゴシック Medium" panose="020B0500000000000000" pitchFamily="50" charset="-128"/>
                <a:ea typeface="游ゴシック Medium" panose="020B0500000000000000" pitchFamily="50" charset="-128"/>
              </a:rPr>
              <a:t>＝</a:t>
            </a:r>
            <a:r>
              <a:rPr lang="en-US" altLang="ja-JP" sz="1600" dirty="0">
                <a:latin typeface="游ゴシック Medium" panose="020B0500000000000000" pitchFamily="50" charset="-128"/>
                <a:ea typeface="游ゴシック Medium" panose="020B0500000000000000" pitchFamily="50" charset="-128"/>
              </a:rPr>
              <a:t>(</a:t>
            </a:r>
            <a:r>
              <a:rPr lang="en-US" altLang="ja-JP" sz="1600" u="sng" dirty="0">
                <a:latin typeface="游ゴシック Medium" panose="020B0500000000000000" pitchFamily="50" charset="-128"/>
                <a:ea typeface="游ゴシック Medium" panose="020B0500000000000000" pitchFamily="50" charset="-128"/>
              </a:rPr>
              <a:t>*1)</a:t>
            </a:r>
            <a:r>
              <a:rPr lang="ja-JP" altLang="en-US" sz="1600" u="sng" dirty="0">
                <a:latin typeface="游ゴシック Medium" panose="020B0500000000000000" pitchFamily="50" charset="-128"/>
                <a:ea typeface="游ゴシック Medium" panose="020B0500000000000000" pitchFamily="50" charset="-128"/>
              </a:rPr>
              <a:t>ソリューションが響きやすい</a:t>
            </a:r>
            <a:r>
              <a:rPr lang="ja-JP" altLang="en-US" sz="1600" dirty="0">
                <a:latin typeface="游ゴシック Medium" panose="020B0500000000000000" pitchFamily="50" charset="-128"/>
                <a:ea typeface="游ゴシック Medium" panose="020B0500000000000000" pitchFamily="50" charset="-128"/>
              </a:rPr>
              <a:t>かつ</a:t>
            </a:r>
            <a:r>
              <a:rPr lang="en-US" altLang="ja-JP" sz="1600" dirty="0">
                <a:latin typeface="游ゴシック Medium" panose="020B0500000000000000" pitchFamily="50" charset="-128"/>
                <a:ea typeface="游ゴシック Medium" panose="020B0500000000000000" pitchFamily="50" charset="-128"/>
              </a:rPr>
              <a:t>(</a:t>
            </a:r>
            <a:r>
              <a:rPr lang="en-US" altLang="ja-JP" sz="1600" u="sng" dirty="0">
                <a:latin typeface="游ゴシック Medium" panose="020B0500000000000000" pitchFamily="50" charset="-128"/>
                <a:ea typeface="游ゴシック Medium" panose="020B0500000000000000" pitchFamily="50" charset="-128"/>
              </a:rPr>
              <a:t>*2)</a:t>
            </a:r>
            <a:r>
              <a:rPr lang="ja-JP" altLang="en-US" sz="1600" u="sng" dirty="0">
                <a:latin typeface="游ゴシック Medium" panose="020B0500000000000000" pitchFamily="50" charset="-128"/>
                <a:ea typeface="游ゴシック Medium" panose="020B0500000000000000" pitchFamily="50" charset="-128"/>
              </a:rPr>
              <a:t>集客性の高いユーザー群</a:t>
            </a:r>
            <a:r>
              <a:rPr lang="ja-JP" altLang="en-US" sz="1600" dirty="0">
                <a:latin typeface="游ゴシック Medium" panose="020B0500000000000000" pitchFamily="50" charset="-128"/>
                <a:ea typeface="游ゴシック Medium" panose="020B0500000000000000" pitchFamily="50" charset="-128"/>
              </a:rPr>
              <a:t>なので、</a:t>
            </a:r>
            <a:r>
              <a:rPr lang="en-US" altLang="ja-JP" sz="1600" dirty="0">
                <a:latin typeface="游ゴシック Medium" panose="020B0500000000000000" pitchFamily="50" charset="-128"/>
                <a:ea typeface="游ゴシック Medium" panose="020B0500000000000000" pitchFamily="50" charset="-128"/>
              </a:rPr>
              <a:t>(</a:t>
            </a:r>
            <a:r>
              <a:rPr lang="en-US" altLang="ja-JP" sz="1600" u="sng" dirty="0">
                <a:latin typeface="游ゴシック Medium" panose="020B0500000000000000" pitchFamily="50" charset="-128"/>
                <a:ea typeface="游ゴシック Medium" panose="020B0500000000000000" pitchFamily="50" charset="-128"/>
              </a:rPr>
              <a:t>*3)</a:t>
            </a:r>
            <a:r>
              <a:rPr lang="ja-JP" altLang="en-US" sz="1600" u="sng" dirty="0">
                <a:latin typeface="游ゴシック Medium" panose="020B0500000000000000" pitchFamily="50" charset="-128"/>
                <a:ea typeface="游ゴシック Medium" panose="020B0500000000000000" pitchFamily="50" charset="-128"/>
              </a:rPr>
              <a:t>ここにリソース集中</a:t>
            </a:r>
            <a:r>
              <a:rPr lang="ja-JP" altLang="en-US" sz="1600" dirty="0">
                <a:latin typeface="游ゴシック Medium" panose="020B0500000000000000" pitchFamily="50" charset="-128"/>
                <a:ea typeface="游ゴシック Medium" panose="020B0500000000000000" pitchFamily="50" charset="-128"/>
              </a:rPr>
              <a:t>すべき</a:t>
            </a:r>
            <a:endParaRPr lang="en-US" altLang="ja-JP" sz="1600" dirty="0">
              <a:latin typeface="游ゴシック Medium" panose="020B0500000000000000" pitchFamily="50" charset="-128"/>
              <a:ea typeface="游ゴシック Medium" panose="020B0500000000000000" pitchFamily="50" charset="-128"/>
            </a:endParaRPr>
          </a:p>
        </p:txBody>
      </p:sp>
      <p:sp>
        <p:nvSpPr>
          <p:cNvPr id="4" name="Date Placeholder 3">
            <a:extLst>
              <a:ext uri="{FF2B5EF4-FFF2-40B4-BE49-F238E27FC236}">
                <a16:creationId xmlns:a16="http://schemas.microsoft.com/office/drawing/2014/main" id="{B63A7994-6059-1B86-9D4B-265A7168D95B}"/>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3FCE6D10-7F75-C598-E32F-D51928857377}"/>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AE6F94D-B50B-2F66-D0BA-BB38DF197738}"/>
              </a:ext>
            </a:extLst>
          </p:cNvPr>
          <p:cNvSpPr>
            <a:spLocks noGrp="1"/>
          </p:cNvSpPr>
          <p:nvPr>
            <p:ph type="sldNum" sz="quarter" idx="12"/>
          </p:nvPr>
        </p:nvSpPr>
        <p:spPr/>
        <p:txBody>
          <a:bodyPr/>
          <a:lstStyle/>
          <a:p>
            <a:fld id="{CC057153-B650-4DEB-B370-79DDCFDCE934}" type="slidenum">
              <a:rPr lang="en-US" dirty="0"/>
              <a:t>5</a:t>
            </a:fld>
            <a:endParaRPr lang="en-US"/>
          </a:p>
        </p:txBody>
      </p:sp>
      <p:sp>
        <p:nvSpPr>
          <p:cNvPr id="18" name="Title 1">
            <a:extLst>
              <a:ext uri="{FF2B5EF4-FFF2-40B4-BE49-F238E27FC236}">
                <a16:creationId xmlns:a16="http://schemas.microsoft.com/office/drawing/2014/main" id="{71FF4E69-0933-E418-66AA-29E442285D13}"/>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マッチング構造と要石</a:t>
            </a:r>
          </a:p>
        </p:txBody>
      </p:sp>
      <p:grpSp>
        <p:nvGrpSpPr>
          <p:cNvPr id="40" name="グループ化 39">
            <a:extLst>
              <a:ext uri="{FF2B5EF4-FFF2-40B4-BE49-F238E27FC236}">
                <a16:creationId xmlns:a16="http://schemas.microsoft.com/office/drawing/2014/main" id="{0F87F9B3-FF44-52B4-3A6F-ED32607CE7FB}"/>
              </a:ext>
            </a:extLst>
          </p:cNvPr>
          <p:cNvGrpSpPr/>
          <p:nvPr/>
        </p:nvGrpSpPr>
        <p:grpSpPr>
          <a:xfrm>
            <a:off x="2353137" y="2965498"/>
            <a:ext cx="915809" cy="877353"/>
            <a:chOff x="2119732" y="1963356"/>
            <a:chExt cx="1017727" cy="974992"/>
          </a:xfrm>
        </p:grpSpPr>
        <p:pic>
          <p:nvPicPr>
            <p:cNvPr id="41" name="グラフィックス 40" descr="オフィス ワーカー (男性) 単色塗りつぶし">
              <a:extLst>
                <a:ext uri="{FF2B5EF4-FFF2-40B4-BE49-F238E27FC236}">
                  <a16:creationId xmlns:a16="http://schemas.microsoft.com/office/drawing/2014/main" id="{7759F440-06C8-38A8-A57F-86F655B47A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5463" y="1963356"/>
              <a:ext cx="666267" cy="666267"/>
            </a:xfrm>
            <a:prstGeom prst="rect">
              <a:avLst/>
            </a:prstGeom>
          </p:spPr>
        </p:pic>
        <p:sp>
          <p:nvSpPr>
            <p:cNvPr id="42" name="四角形: 角を丸くする 41">
              <a:extLst>
                <a:ext uri="{FF2B5EF4-FFF2-40B4-BE49-F238E27FC236}">
                  <a16:creationId xmlns:a16="http://schemas.microsoft.com/office/drawing/2014/main" id="{3228A71D-83BB-0697-94DA-BEA0866FCB47}"/>
                </a:ext>
              </a:extLst>
            </p:cNvPr>
            <p:cNvSpPr/>
            <p:nvPr/>
          </p:nvSpPr>
          <p:spPr>
            <a:xfrm>
              <a:off x="2119732" y="2616696"/>
              <a:ext cx="1017727"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a:solidFill>
                    <a:schemeClr val="tx1"/>
                  </a:solidFill>
                  <a:latin typeface="游ゴシック Medium" panose="020B0500000000000000" pitchFamily="50" charset="-128"/>
                  <a:ea typeface="游ゴシック Medium" panose="020B0500000000000000" pitchFamily="50" charset="-128"/>
                </a:rPr>
                <a:t>元請け会社</a:t>
              </a:r>
              <a:endParaRPr kumimoji="1" lang="ja-JP" altLang="en-US" sz="110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43" name="グループ化 42">
            <a:extLst>
              <a:ext uri="{FF2B5EF4-FFF2-40B4-BE49-F238E27FC236}">
                <a16:creationId xmlns:a16="http://schemas.microsoft.com/office/drawing/2014/main" id="{93573F16-4E89-B474-CC08-48E43B65F394}"/>
              </a:ext>
            </a:extLst>
          </p:cNvPr>
          <p:cNvGrpSpPr/>
          <p:nvPr/>
        </p:nvGrpSpPr>
        <p:grpSpPr>
          <a:xfrm>
            <a:off x="4283098" y="2957795"/>
            <a:ext cx="1385967" cy="883449"/>
            <a:chOff x="10239253" y="5216994"/>
            <a:chExt cx="1540206" cy="981767"/>
          </a:xfrm>
        </p:grpSpPr>
        <p:pic>
          <p:nvPicPr>
            <p:cNvPr id="44" name="グラフィックス 43" descr="プログラマー男性 単色塗りつぶし">
              <a:extLst>
                <a:ext uri="{FF2B5EF4-FFF2-40B4-BE49-F238E27FC236}">
                  <a16:creationId xmlns:a16="http://schemas.microsoft.com/office/drawing/2014/main" id="{3932B338-82F4-535F-83D6-67362B49BCD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45" name="四角形: 角を丸くする 44">
              <a:extLst>
                <a:ext uri="{FF2B5EF4-FFF2-40B4-BE49-F238E27FC236}">
                  <a16:creationId xmlns:a16="http://schemas.microsoft.com/office/drawing/2014/main" id="{212D162C-7FE2-8314-43C0-FC628D25E49E}"/>
                </a:ext>
              </a:extLst>
            </p:cNvPr>
            <p:cNvSpPr/>
            <p:nvPr/>
          </p:nvSpPr>
          <p:spPr>
            <a:xfrm>
              <a:off x="10239253" y="5877109"/>
              <a:ext cx="1540206"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a:solidFill>
                    <a:schemeClr val="tx1"/>
                  </a:solidFill>
                  <a:latin typeface="游ゴシック Medium" panose="020B0500000000000000" pitchFamily="50" charset="-128"/>
                  <a:ea typeface="游ゴシック Medium" panose="020B0500000000000000" pitchFamily="50" charset="-128"/>
                </a:rPr>
                <a:t>二次請け会社</a:t>
              </a:r>
              <a:r>
                <a:rPr kumimoji="1" lang="en-US" altLang="ja-JP" sz="1100">
                  <a:solidFill>
                    <a:schemeClr val="tx1"/>
                  </a:solidFill>
                  <a:latin typeface="游ゴシック Medium" panose="020B0500000000000000" pitchFamily="50" charset="-128"/>
                  <a:ea typeface="游ゴシック Medium" panose="020B0500000000000000" pitchFamily="50" charset="-128"/>
                </a:rPr>
                <a:t>(PM)</a:t>
              </a:r>
              <a:endParaRPr kumimoji="1" lang="ja-JP" altLang="en-US" sz="110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46" name="グループ化 45">
            <a:extLst>
              <a:ext uri="{FF2B5EF4-FFF2-40B4-BE49-F238E27FC236}">
                <a16:creationId xmlns:a16="http://schemas.microsoft.com/office/drawing/2014/main" id="{5447841C-3BEA-7547-F000-2FBF9DD2C048}"/>
              </a:ext>
            </a:extLst>
          </p:cNvPr>
          <p:cNvGrpSpPr/>
          <p:nvPr/>
        </p:nvGrpSpPr>
        <p:grpSpPr>
          <a:xfrm>
            <a:off x="6804761" y="2965501"/>
            <a:ext cx="770652" cy="877356"/>
            <a:chOff x="2200390" y="1963356"/>
            <a:chExt cx="856416" cy="974993"/>
          </a:xfrm>
        </p:grpSpPr>
        <p:pic>
          <p:nvPicPr>
            <p:cNvPr id="47" name="グラフィックス 46" descr="オフィス ワーカー (男性) 単色塗りつぶし">
              <a:extLst>
                <a:ext uri="{FF2B5EF4-FFF2-40B4-BE49-F238E27FC236}">
                  <a16:creationId xmlns:a16="http://schemas.microsoft.com/office/drawing/2014/main" id="{A1F5932B-7E94-A062-BD76-89272FB547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95463" y="1963356"/>
              <a:ext cx="666267" cy="666267"/>
            </a:xfrm>
            <a:prstGeom prst="rect">
              <a:avLst/>
            </a:prstGeom>
          </p:spPr>
        </p:pic>
        <p:sp>
          <p:nvSpPr>
            <p:cNvPr id="48" name="四角形: 角を丸くする 47">
              <a:extLst>
                <a:ext uri="{FF2B5EF4-FFF2-40B4-BE49-F238E27FC236}">
                  <a16:creationId xmlns:a16="http://schemas.microsoft.com/office/drawing/2014/main" id="{EB9F62D1-F7F8-CBDB-063C-C764EF4AFB69}"/>
                </a:ext>
              </a:extLst>
            </p:cNvPr>
            <p:cNvSpPr/>
            <p:nvPr/>
          </p:nvSpPr>
          <p:spPr>
            <a:xfrm>
              <a:off x="2200390" y="2616697"/>
              <a:ext cx="856416"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仲介会社</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49" name="グループ化 48">
            <a:extLst>
              <a:ext uri="{FF2B5EF4-FFF2-40B4-BE49-F238E27FC236}">
                <a16:creationId xmlns:a16="http://schemas.microsoft.com/office/drawing/2014/main" id="{7366F378-BB8F-0C60-A51C-080F3F601A0C}"/>
              </a:ext>
            </a:extLst>
          </p:cNvPr>
          <p:cNvGrpSpPr/>
          <p:nvPr/>
        </p:nvGrpSpPr>
        <p:grpSpPr>
          <a:xfrm>
            <a:off x="8884875" y="2957803"/>
            <a:ext cx="1049360" cy="883449"/>
            <a:chOff x="10426287" y="5216994"/>
            <a:chExt cx="1166142" cy="981765"/>
          </a:xfrm>
        </p:grpSpPr>
        <p:pic>
          <p:nvPicPr>
            <p:cNvPr id="50" name="グラフィックス 49" descr="プログラマー男性 単色塗りつぶし">
              <a:extLst>
                <a:ext uri="{FF2B5EF4-FFF2-40B4-BE49-F238E27FC236}">
                  <a16:creationId xmlns:a16="http://schemas.microsoft.com/office/drawing/2014/main" id="{7787BA1D-C9B4-2E6F-B290-93F56D8141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51" name="四角形: 角を丸くする 50">
              <a:extLst>
                <a:ext uri="{FF2B5EF4-FFF2-40B4-BE49-F238E27FC236}">
                  <a16:creationId xmlns:a16="http://schemas.microsoft.com/office/drawing/2014/main" id="{E8CB3410-36AB-70C6-223C-9EE4E49392A3}"/>
                </a:ext>
              </a:extLst>
            </p:cNvPr>
            <p:cNvSpPr/>
            <p:nvPr/>
          </p:nvSpPr>
          <p:spPr>
            <a:xfrm>
              <a:off x="10426287" y="5877107"/>
              <a:ext cx="1166142"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a:solidFill>
                    <a:schemeClr val="tx1"/>
                  </a:solidFill>
                  <a:latin typeface="游ゴシック Medium" panose="020B0500000000000000" pitchFamily="50" charset="-128"/>
                  <a:ea typeface="游ゴシック Medium" panose="020B0500000000000000" pitchFamily="50" charset="-128"/>
                </a:rPr>
                <a:t>要員会社</a:t>
              </a:r>
              <a:r>
                <a:rPr kumimoji="1" lang="en-US" altLang="ja-JP" sz="110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a:solidFill>
                  <a:schemeClr val="tx1"/>
                </a:solidFill>
                <a:latin typeface="游ゴシック Medium" panose="020B0500000000000000" pitchFamily="50" charset="-128"/>
                <a:ea typeface="游ゴシック Medium" panose="020B0500000000000000" pitchFamily="50" charset="-128"/>
              </a:endParaRPr>
            </a:p>
          </p:txBody>
        </p:sp>
      </p:grpSp>
      <p:sp>
        <p:nvSpPr>
          <p:cNvPr id="52" name="二等辺三角形 51">
            <a:extLst>
              <a:ext uri="{FF2B5EF4-FFF2-40B4-BE49-F238E27FC236}">
                <a16:creationId xmlns:a16="http://schemas.microsoft.com/office/drawing/2014/main" id="{8DE05C3F-8840-E2DA-6DA7-951B98BA567A}"/>
              </a:ext>
            </a:extLst>
          </p:cNvPr>
          <p:cNvSpPr/>
          <p:nvPr/>
        </p:nvSpPr>
        <p:spPr>
          <a:xfrm rot="5400000">
            <a:off x="3707575" y="3291746"/>
            <a:ext cx="510545" cy="160722"/>
          </a:xfrm>
          <a:prstGeom prst="triangl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53" name="二等辺三角形 52">
            <a:extLst>
              <a:ext uri="{FF2B5EF4-FFF2-40B4-BE49-F238E27FC236}">
                <a16:creationId xmlns:a16="http://schemas.microsoft.com/office/drawing/2014/main" id="{95B15B36-BDAE-7B73-ABB5-DEDA45168408}"/>
              </a:ext>
            </a:extLst>
          </p:cNvPr>
          <p:cNvSpPr/>
          <p:nvPr/>
        </p:nvSpPr>
        <p:spPr>
          <a:xfrm rot="16200000">
            <a:off x="5734030" y="3291744"/>
            <a:ext cx="510545" cy="160722"/>
          </a:xfrm>
          <a:prstGeom prst="triangl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54" name="二等辺三角形 53">
            <a:extLst>
              <a:ext uri="{FF2B5EF4-FFF2-40B4-BE49-F238E27FC236}">
                <a16:creationId xmlns:a16="http://schemas.microsoft.com/office/drawing/2014/main" id="{982B0D45-E3AC-FAD8-CE7A-1726028E9A6D}"/>
              </a:ext>
            </a:extLst>
          </p:cNvPr>
          <p:cNvSpPr/>
          <p:nvPr/>
        </p:nvSpPr>
        <p:spPr>
          <a:xfrm rot="16200000">
            <a:off x="7974876" y="3291743"/>
            <a:ext cx="510545" cy="160722"/>
          </a:xfrm>
          <a:prstGeom prst="triangl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a:p>
        </p:txBody>
      </p:sp>
      <p:sp>
        <p:nvSpPr>
          <p:cNvPr id="55" name="吹き出し: 角を丸めた四角形 54">
            <a:extLst>
              <a:ext uri="{FF2B5EF4-FFF2-40B4-BE49-F238E27FC236}">
                <a16:creationId xmlns:a16="http://schemas.microsoft.com/office/drawing/2014/main" id="{8444C45C-45FC-93B0-F161-A38E6CD93CA1}"/>
              </a:ext>
            </a:extLst>
          </p:cNvPr>
          <p:cNvSpPr/>
          <p:nvPr/>
        </p:nvSpPr>
        <p:spPr>
          <a:xfrm>
            <a:off x="1591242" y="4570391"/>
            <a:ext cx="2235427" cy="568018"/>
          </a:xfrm>
          <a:prstGeom prst="wedgeRoundRectCallout">
            <a:avLst>
              <a:gd name="adj1" fmla="val 5109"/>
              <a:gd name="adj2" fmla="val -78449"/>
              <a:gd name="adj3" fmla="val 1666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gn="ct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要員マッチングまでを</a:t>
            </a:r>
            <a:endParaRPr kumimoji="1" lang="en-US" altLang="ja-JP" sz="1100" dirty="0">
              <a:solidFill>
                <a:schemeClr val="tx1"/>
              </a:solidFill>
              <a:latin typeface="游ゴシック Medium" panose="020B0500000000000000" pitchFamily="50" charset="-128"/>
              <a:ea typeface="游ゴシック Medium" panose="020B0500000000000000" pitchFamily="50" charset="-128"/>
            </a:endParaRPr>
          </a:p>
          <a:p>
            <a:pPr algn="ct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サービスとして二次請けに要求</a:t>
            </a:r>
          </a:p>
        </p:txBody>
      </p:sp>
      <p:sp>
        <p:nvSpPr>
          <p:cNvPr id="56" name="吹き出し: 角を丸めた四角形 55">
            <a:extLst>
              <a:ext uri="{FF2B5EF4-FFF2-40B4-BE49-F238E27FC236}">
                <a16:creationId xmlns:a16="http://schemas.microsoft.com/office/drawing/2014/main" id="{DBD2002E-2BC3-02C2-D789-C3AB058F2E1A}"/>
              </a:ext>
            </a:extLst>
          </p:cNvPr>
          <p:cNvSpPr/>
          <p:nvPr/>
        </p:nvSpPr>
        <p:spPr>
          <a:xfrm>
            <a:off x="6243216" y="4570391"/>
            <a:ext cx="1821165" cy="568018"/>
          </a:xfrm>
          <a:prstGeom prst="wedgeRoundRectCallout">
            <a:avLst>
              <a:gd name="adj1" fmla="val 2704"/>
              <a:gd name="adj2" fmla="val -78107"/>
              <a:gd name="adj3" fmla="val 1666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gn="ctr">
              <a:lnSpc>
                <a:spcPct val="120000"/>
              </a:lnSpc>
            </a:pPr>
            <a:r>
              <a:rPr lang="ja-JP" altLang="en-US" sz="1100" dirty="0">
                <a:solidFill>
                  <a:schemeClr val="tx1"/>
                </a:solidFill>
                <a:latin typeface="游ゴシック Medium" panose="020B0500000000000000" pitchFamily="50" charset="-128"/>
                <a:ea typeface="游ゴシック Medium" panose="020B0500000000000000" pitchFamily="50" charset="-128"/>
              </a:rPr>
              <a:t>専門知識を持たないため</a:t>
            </a:r>
            <a:endParaRPr lang="en-US" altLang="ja-JP" sz="1100" dirty="0">
              <a:solidFill>
                <a:schemeClr val="tx1"/>
              </a:solidFill>
              <a:latin typeface="游ゴシック Medium" panose="020B0500000000000000" pitchFamily="50" charset="-128"/>
              <a:ea typeface="游ゴシック Medium" panose="020B0500000000000000" pitchFamily="50" charset="-128"/>
            </a:endParaRPr>
          </a:p>
          <a:p>
            <a:pPr algn="ctr">
              <a:lnSpc>
                <a:spcPct val="120000"/>
              </a:lnSpc>
            </a:pPr>
            <a:r>
              <a:rPr lang="ja-JP" altLang="en-US" sz="1100" dirty="0">
                <a:solidFill>
                  <a:schemeClr val="tx1"/>
                </a:solidFill>
                <a:latin typeface="游ゴシック Medium" panose="020B0500000000000000" pitchFamily="50" charset="-128"/>
                <a:ea typeface="游ゴシック Medium" panose="020B0500000000000000" pitchFamily="50" charset="-128"/>
              </a:rPr>
              <a:t>情報を転送するのみ</a:t>
            </a:r>
          </a:p>
        </p:txBody>
      </p:sp>
      <p:sp>
        <p:nvSpPr>
          <p:cNvPr id="57" name="吹き出し: 角を丸めた四角形 56">
            <a:extLst>
              <a:ext uri="{FF2B5EF4-FFF2-40B4-BE49-F238E27FC236}">
                <a16:creationId xmlns:a16="http://schemas.microsoft.com/office/drawing/2014/main" id="{B929485A-0E57-CAFE-A5F8-62CD157311A0}"/>
              </a:ext>
            </a:extLst>
          </p:cNvPr>
          <p:cNvSpPr/>
          <p:nvPr/>
        </p:nvSpPr>
        <p:spPr>
          <a:xfrm>
            <a:off x="8230148" y="4925615"/>
            <a:ext cx="2379220" cy="568018"/>
          </a:xfrm>
          <a:prstGeom prst="wedgeRoundRectCallout">
            <a:avLst>
              <a:gd name="adj1" fmla="val 2561"/>
              <a:gd name="adj2" fmla="val -77299"/>
              <a:gd name="adj3" fmla="val 16667"/>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gn="ctr">
              <a:lnSpc>
                <a:spcPct val="120000"/>
              </a:lnSpc>
            </a:pPr>
            <a:r>
              <a:rPr lang="ja-JP" altLang="en-US" sz="1100" dirty="0">
                <a:solidFill>
                  <a:schemeClr val="tx1"/>
                </a:solidFill>
                <a:latin typeface="游ゴシック Medium" panose="020B0500000000000000" pitchFamily="50" charset="-128"/>
                <a:ea typeface="游ゴシック Medium" panose="020B0500000000000000" pitchFamily="50" charset="-128"/>
              </a:rPr>
              <a:t>マッチングの権限を持たないため</a:t>
            </a:r>
            <a:endParaRPr lang="en-US" altLang="ja-JP" sz="1100" dirty="0">
              <a:solidFill>
                <a:schemeClr val="tx1"/>
              </a:solidFill>
              <a:latin typeface="游ゴシック Medium" panose="020B0500000000000000" pitchFamily="50" charset="-128"/>
              <a:ea typeface="游ゴシック Medium" panose="020B0500000000000000" pitchFamily="50" charset="-128"/>
            </a:endParaRPr>
          </a:p>
          <a:p>
            <a:pPr algn="ctr">
              <a:lnSpc>
                <a:spcPct val="120000"/>
              </a:lnSpc>
            </a:pPr>
            <a:r>
              <a:rPr lang="ja-JP" altLang="en-US" sz="1100" dirty="0">
                <a:solidFill>
                  <a:schemeClr val="tx1"/>
                </a:solidFill>
                <a:latin typeface="游ゴシック Medium" panose="020B0500000000000000" pitchFamily="50" charset="-128"/>
                <a:ea typeface="游ゴシック Medium" panose="020B0500000000000000" pitchFamily="50" charset="-128"/>
              </a:rPr>
              <a:t>情報を配信するのみ</a:t>
            </a:r>
          </a:p>
        </p:txBody>
      </p:sp>
      <p:sp>
        <p:nvSpPr>
          <p:cNvPr id="60" name="矢印: 五方向 59">
            <a:extLst>
              <a:ext uri="{FF2B5EF4-FFF2-40B4-BE49-F238E27FC236}">
                <a16:creationId xmlns:a16="http://schemas.microsoft.com/office/drawing/2014/main" id="{9860A4EC-92A9-91F9-66FC-8A5A34F78736}"/>
              </a:ext>
            </a:extLst>
          </p:cNvPr>
          <p:cNvSpPr/>
          <p:nvPr/>
        </p:nvSpPr>
        <p:spPr>
          <a:xfrm rot="16200000">
            <a:off x="4819751" y="3658515"/>
            <a:ext cx="342000" cy="1716037"/>
          </a:xfrm>
          <a:prstGeom prst="homePlate">
            <a:avLst>
              <a:gd name="adj" fmla="val 35518"/>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a:solidFill>
                  <a:schemeClr val="tx1"/>
                </a:solidFill>
                <a:latin typeface="游ゴシック Medium" panose="020B0500000000000000" pitchFamily="50" charset="-128"/>
                <a:ea typeface="游ゴシック Medium" panose="020B0500000000000000" pitchFamily="50" charset="-128"/>
              </a:rPr>
              <a:t>経歴書確認</a:t>
            </a:r>
          </a:p>
        </p:txBody>
      </p:sp>
      <p:sp>
        <p:nvSpPr>
          <p:cNvPr id="61" name="矢印: 五方向 60">
            <a:extLst>
              <a:ext uri="{FF2B5EF4-FFF2-40B4-BE49-F238E27FC236}">
                <a16:creationId xmlns:a16="http://schemas.microsoft.com/office/drawing/2014/main" id="{667AA8A0-C602-5C85-B6E4-E0E15603BC53}"/>
              </a:ext>
            </a:extLst>
          </p:cNvPr>
          <p:cNvSpPr/>
          <p:nvPr/>
        </p:nvSpPr>
        <p:spPr>
          <a:xfrm rot="16200000">
            <a:off x="4819750" y="3263152"/>
            <a:ext cx="342000" cy="1716037"/>
          </a:xfrm>
          <a:prstGeom prst="homePlate">
            <a:avLst>
              <a:gd name="adj" fmla="val 35518"/>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a:solidFill>
                  <a:schemeClr val="tx1"/>
                </a:solidFill>
              </a:rPr>
              <a:t>募集</a:t>
            </a:r>
            <a:r>
              <a:rPr lang="ja-JP" altLang="en-US" sz="1100">
                <a:solidFill>
                  <a:schemeClr val="tx1"/>
                </a:solidFill>
                <a:latin typeface="游ゴシック Medium" panose="020B0500000000000000" pitchFamily="50" charset="-128"/>
                <a:ea typeface="游ゴシック Medium" panose="020B0500000000000000" pitchFamily="50" charset="-128"/>
              </a:rPr>
              <a:t>要項</a:t>
            </a:r>
            <a:r>
              <a:rPr lang="ja-JP" altLang="en-US" sz="1100">
                <a:solidFill>
                  <a:schemeClr val="tx1"/>
                </a:solidFill>
              </a:rPr>
              <a:t>把握</a:t>
            </a:r>
          </a:p>
        </p:txBody>
      </p:sp>
      <p:sp>
        <p:nvSpPr>
          <p:cNvPr id="62" name="矢印: 五方向 61">
            <a:extLst>
              <a:ext uri="{FF2B5EF4-FFF2-40B4-BE49-F238E27FC236}">
                <a16:creationId xmlns:a16="http://schemas.microsoft.com/office/drawing/2014/main" id="{AB854484-2697-FC7A-8F39-956A9BABD1D5}"/>
              </a:ext>
            </a:extLst>
          </p:cNvPr>
          <p:cNvSpPr/>
          <p:nvPr/>
        </p:nvSpPr>
        <p:spPr>
          <a:xfrm rot="16200000">
            <a:off x="4819751" y="4053877"/>
            <a:ext cx="342000" cy="1716037"/>
          </a:xfrm>
          <a:prstGeom prst="homePlate">
            <a:avLst>
              <a:gd name="adj" fmla="val 35518"/>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a:solidFill>
                  <a:schemeClr val="tx1"/>
                </a:solidFill>
                <a:latin typeface="游ゴシック Medium" panose="020B0500000000000000" pitchFamily="50" charset="-128"/>
                <a:ea typeface="游ゴシック Medium" panose="020B0500000000000000" pitchFamily="50" charset="-128"/>
              </a:rPr>
              <a:t>面談</a:t>
            </a:r>
          </a:p>
        </p:txBody>
      </p:sp>
      <p:sp>
        <p:nvSpPr>
          <p:cNvPr id="63" name="矢印: 五方向 62">
            <a:extLst>
              <a:ext uri="{FF2B5EF4-FFF2-40B4-BE49-F238E27FC236}">
                <a16:creationId xmlns:a16="http://schemas.microsoft.com/office/drawing/2014/main" id="{57465A5A-F16C-3751-BCDD-6F02C6B3818F}"/>
              </a:ext>
            </a:extLst>
          </p:cNvPr>
          <p:cNvSpPr/>
          <p:nvPr/>
        </p:nvSpPr>
        <p:spPr>
          <a:xfrm rot="16200000">
            <a:off x="4819751" y="4449238"/>
            <a:ext cx="342000" cy="1716037"/>
          </a:xfrm>
          <a:prstGeom prst="homePlate">
            <a:avLst>
              <a:gd name="adj" fmla="val 35518"/>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a:solidFill>
                  <a:schemeClr val="tx1"/>
                </a:solidFill>
                <a:latin typeface="游ゴシック Medium" panose="020B0500000000000000" pitchFamily="50" charset="-128"/>
                <a:ea typeface="游ゴシック Medium" panose="020B0500000000000000" pitchFamily="50" charset="-128"/>
              </a:rPr>
              <a:t>マッチング判断</a:t>
            </a:r>
          </a:p>
        </p:txBody>
      </p:sp>
      <p:sp>
        <p:nvSpPr>
          <p:cNvPr id="64" name="吹き出し: 角を丸めた四角形 63">
            <a:extLst>
              <a:ext uri="{FF2B5EF4-FFF2-40B4-BE49-F238E27FC236}">
                <a16:creationId xmlns:a16="http://schemas.microsoft.com/office/drawing/2014/main" id="{9E08A909-9665-7B42-9F07-6B96D5566EE6}"/>
              </a:ext>
            </a:extLst>
          </p:cNvPr>
          <p:cNvSpPr/>
          <p:nvPr/>
        </p:nvSpPr>
        <p:spPr>
          <a:xfrm>
            <a:off x="1649042" y="5764134"/>
            <a:ext cx="2258304" cy="568018"/>
          </a:xfrm>
          <a:prstGeom prst="wedgeRoundRectCallout">
            <a:avLst>
              <a:gd name="adj1" fmla="val 57346"/>
              <a:gd name="adj2" fmla="val -40247"/>
              <a:gd name="adj3" fmla="val 16667"/>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gn="ctr">
              <a:lnSpc>
                <a:spcPct val="120000"/>
              </a:lnSpc>
            </a:pPr>
            <a:r>
              <a:rPr kumimoji="1" lang="ja-JP" altLang="en-US" sz="1100" dirty="0">
                <a:solidFill>
                  <a:schemeClr val="bg2">
                    <a:lumMod val="10000"/>
                  </a:schemeClr>
                </a:solidFill>
                <a:latin typeface="游ゴシック Medium" panose="020B0500000000000000" pitchFamily="50" charset="-128"/>
                <a:ea typeface="游ゴシック Medium" panose="020B0500000000000000" pitchFamily="50" charset="-128"/>
              </a:rPr>
              <a:t>ポジションと専門性から</a:t>
            </a:r>
            <a:endParaRPr kumimoji="1" lang="en-US" altLang="ja-JP" sz="1100" dirty="0">
              <a:solidFill>
                <a:schemeClr val="bg2">
                  <a:lumMod val="10000"/>
                </a:schemeClr>
              </a:solidFill>
              <a:latin typeface="游ゴシック Medium" panose="020B0500000000000000" pitchFamily="50" charset="-128"/>
              <a:ea typeface="游ゴシック Medium" panose="020B0500000000000000" pitchFamily="50" charset="-128"/>
            </a:endParaRPr>
          </a:p>
          <a:p>
            <a:pPr algn="ctr">
              <a:lnSpc>
                <a:spcPct val="120000"/>
              </a:lnSpc>
            </a:pPr>
            <a:r>
              <a:rPr lang="ja-JP" altLang="en-US" sz="1100" b="1" u="sng" dirty="0">
                <a:solidFill>
                  <a:schemeClr val="bg2">
                    <a:lumMod val="10000"/>
                  </a:schemeClr>
                </a:solidFill>
                <a:latin typeface="游ゴシック Medium" panose="020B0500000000000000" pitchFamily="50" charset="-128"/>
                <a:ea typeface="游ゴシック Medium" panose="020B0500000000000000" pitchFamily="50" charset="-128"/>
              </a:rPr>
              <a:t>マッチングコスト</a:t>
            </a:r>
            <a:r>
              <a:rPr lang="en-US" altLang="ja-JP" sz="1100" b="1" u="sng" dirty="0">
                <a:solidFill>
                  <a:schemeClr val="bg2">
                    <a:lumMod val="10000"/>
                  </a:schemeClr>
                </a:solidFill>
                <a:latin typeface="游ゴシック Medium" panose="020B0500000000000000" pitchFamily="50" charset="-128"/>
                <a:ea typeface="游ゴシック Medium" panose="020B0500000000000000" pitchFamily="50" charset="-128"/>
              </a:rPr>
              <a:t>/</a:t>
            </a:r>
            <a:r>
              <a:rPr lang="ja-JP" altLang="en-US" sz="1100" b="1" u="sng" dirty="0">
                <a:solidFill>
                  <a:schemeClr val="bg2">
                    <a:lumMod val="10000"/>
                  </a:schemeClr>
                </a:solidFill>
                <a:latin typeface="游ゴシック Medium" panose="020B0500000000000000" pitchFamily="50" charset="-128"/>
                <a:ea typeface="游ゴシック Medium" panose="020B0500000000000000" pitchFamily="50" charset="-128"/>
              </a:rPr>
              <a:t>リスクが集中</a:t>
            </a:r>
            <a:endParaRPr kumimoji="1" lang="ja-JP" altLang="en-US" sz="1100" b="1" u="sng" dirty="0">
              <a:solidFill>
                <a:schemeClr val="bg2">
                  <a:lumMod val="10000"/>
                </a:schemeClr>
              </a:solidFill>
              <a:latin typeface="游ゴシック Medium" panose="020B0500000000000000" pitchFamily="50" charset="-128"/>
              <a:ea typeface="游ゴシック Medium" panose="020B0500000000000000" pitchFamily="50" charset="-128"/>
            </a:endParaRPr>
          </a:p>
        </p:txBody>
      </p:sp>
      <p:sp>
        <p:nvSpPr>
          <p:cNvPr id="65" name="矢印: 五方向 64">
            <a:extLst>
              <a:ext uri="{FF2B5EF4-FFF2-40B4-BE49-F238E27FC236}">
                <a16:creationId xmlns:a16="http://schemas.microsoft.com/office/drawing/2014/main" id="{4DBAC0DF-2379-88FA-1FB0-E75B4C26349F}"/>
              </a:ext>
            </a:extLst>
          </p:cNvPr>
          <p:cNvSpPr/>
          <p:nvPr/>
        </p:nvSpPr>
        <p:spPr>
          <a:xfrm rot="16200000">
            <a:off x="2640783" y="3270161"/>
            <a:ext cx="340518" cy="1716037"/>
          </a:xfrm>
          <a:prstGeom prst="homePlate">
            <a:avLst>
              <a:gd name="adj" fmla="val 35518"/>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募集要項展開</a:t>
            </a:r>
          </a:p>
        </p:txBody>
      </p:sp>
      <p:sp>
        <p:nvSpPr>
          <p:cNvPr id="66" name="矢印: 五方向 65">
            <a:extLst>
              <a:ext uri="{FF2B5EF4-FFF2-40B4-BE49-F238E27FC236}">
                <a16:creationId xmlns:a16="http://schemas.microsoft.com/office/drawing/2014/main" id="{EB511A34-D01F-86F4-9861-4AF86624156C}"/>
              </a:ext>
            </a:extLst>
          </p:cNvPr>
          <p:cNvSpPr/>
          <p:nvPr/>
        </p:nvSpPr>
        <p:spPr>
          <a:xfrm rot="16200000">
            <a:off x="6996567" y="3265202"/>
            <a:ext cx="342000" cy="1716037"/>
          </a:xfrm>
          <a:prstGeom prst="homePlate">
            <a:avLst>
              <a:gd name="adj" fmla="val 35518"/>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a:solidFill>
                  <a:schemeClr val="tx1"/>
                </a:solidFill>
                <a:latin typeface="游ゴシック Medium" panose="020B0500000000000000" pitchFamily="50" charset="-128"/>
                <a:ea typeface="游ゴシック Medium" panose="020B0500000000000000" pitchFamily="50" charset="-128"/>
              </a:rPr>
              <a:t>経歴書配信</a:t>
            </a:r>
          </a:p>
        </p:txBody>
      </p:sp>
      <p:sp>
        <p:nvSpPr>
          <p:cNvPr id="67" name="矢印: 五方向 66">
            <a:extLst>
              <a:ext uri="{FF2B5EF4-FFF2-40B4-BE49-F238E27FC236}">
                <a16:creationId xmlns:a16="http://schemas.microsoft.com/office/drawing/2014/main" id="{CFDAC3D6-4C87-2313-1958-78299135DC58}"/>
              </a:ext>
            </a:extLst>
          </p:cNvPr>
          <p:cNvSpPr/>
          <p:nvPr/>
        </p:nvSpPr>
        <p:spPr>
          <a:xfrm rot="16200000">
            <a:off x="9218426" y="3258826"/>
            <a:ext cx="342000" cy="1716037"/>
          </a:xfrm>
          <a:prstGeom prst="homePlate">
            <a:avLst>
              <a:gd name="adj" fmla="val 35518"/>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a:solidFill>
                  <a:schemeClr val="tx1"/>
                </a:solidFill>
                <a:latin typeface="游ゴシック Medium" panose="020B0500000000000000" pitchFamily="50" charset="-128"/>
                <a:ea typeface="游ゴシック Medium" panose="020B0500000000000000" pitchFamily="50" charset="-128"/>
              </a:rPr>
              <a:t>経歴書配信</a:t>
            </a:r>
          </a:p>
        </p:txBody>
      </p:sp>
      <p:sp>
        <p:nvSpPr>
          <p:cNvPr id="68" name="矢印: 五方向 67">
            <a:extLst>
              <a:ext uri="{FF2B5EF4-FFF2-40B4-BE49-F238E27FC236}">
                <a16:creationId xmlns:a16="http://schemas.microsoft.com/office/drawing/2014/main" id="{C54388D3-7053-E3CF-E10F-B91CBB8F6B80}"/>
              </a:ext>
            </a:extLst>
          </p:cNvPr>
          <p:cNvSpPr/>
          <p:nvPr/>
        </p:nvSpPr>
        <p:spPr>
          <a:xfrm rot="16200000">
            <a:off x="9218427" y="3654188"/>
            <a:ext cx="342000" cy="1716037"/>
          </a:xfrm>
          <a:prstGeom prst="homePlate">
            <a:avLst>
              <a:gd name="adj" fmla="val 35518"/>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a:solidFill>
                  <a:schemeClr val="tx1"/>
                </a:solidFill>
                <a:latin typeface="游ゴシック Medium" panose="020B0500000000000000" pitchFamily="50" charset="-128"/>
                <a:ea typeface="游ゴシック Medium" panose="020B0500000000000000" pitchFamily="50" charset="-128"/>
              </a:rPr>
              <a:t>面談</a:t>
            </a:r>
          </a:p>
        </p:txBody>
      </p:sp>
      <p:sp>
        <p:nvSpPr>
          <p:cNvPr id="84" name="楕円 83">
            <a:extLst>
              <a:ext uri="{FF2B5EF4-FFF2-40B4-BE49-F238E27FC236}">
                <a16:creationId xmlns:a16="http://schemas.microsoft.com/office/drawing/2014/main" id="{DA8FD6C8-5A5C-5175-4BD1-7867E88CEE30}"/>
              </a:ext>
            </a:extLst>
          </p:cNvPr>
          <p:cNvSpPr/>
          <p:nvPr/>
        </p:nvSpPr>
        <p:spPr>
          <a:xfrm>
            <a:off x="9155834" y="2411196"/>
            <a:ext cx="527847" cy="527847"/>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小</a:t>
            </a:r>
          </a:p>
        </p:txBody>
      </p:sp>
      <p:sp>
        <p:nvSpPr>
          <p:cNvPr id="87" name="四角形: 角を丸くする 86">
            <a:extLst>
              <a:ext uri="{FF2B5EF4-FFF2-40B4-BE49-F238E27FC236}">
                <a16:creationId xmlns:a16="http://schemas.microsoft.com/office/drawing/2014/main" id="{21AE2B15-1D27-C1BA-F338-90E08425B5C7}"/>
              </a:ext>
            </a:extLst>
          </p:cNvPr>
          <p:cNvSpPr/>
          <p:nvPr/>
        </p:nvSpPr>
        <p:spPr>
          <a:xfrm>
            <a:off x="1230129" y="2525801"/>
            <a:ext cx="929005" cy="340519"/>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400" b="1" dirty="0">
                <a:solidFill>
                  <a:schemeClr val="accent1"/>
                </a:solidFill>
                <a:latin typeface="游ゴシック Medium" panose="020B0500000000000000" pitchFamily="50" charset="-128"/>
                <a:ea typeface="游ゴシック Medium" panose="020B0500000000000000" pitchFamily="50" charset="-128"/>
              </a:rPr>
              <a:t>市場価値</a:t>
            </a:r>
          </a:p>
        </p:txBody>
      </p:sp>
      <p:sp>
        <p:nvSpPr>
          <p:cNvPr id="88" name="矢印: 左 87">
            <a:extLst>
              <a:ext uri="{FF2B5EF4-FFF2-40B4-BE49-F238E27FC236}">
                <a16:creationId xmlns:a16="http://schemas.microsoft.com/office/drawing/2014/main" id="{8A912B49-9821-277F-9D56-E327A4AC9430}"/>
              </a:ext>
            </a:extLst>
          </p:cNvPr>
          <p:cNvSpPr/>
          <p:nvPr/>
        </p:nvSpPr>
        <p:spPr>
          <a:xfrm>
            <a:off x="3543030" y="2530397"/>
            <a:ext cx="5341845" cy="289441"/>
          </a:xfrm>
          <a:prstGeom prst="leftArrow">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四角形: 角を丸くする 88">
            <a:extLst>
              <a:ext uri="{FF2B5EF4-FFF2-40B4-BE49-F238E27FC236}">
                <a16:creationId xmlns:a16="http://schemas.microsoft.com/office/drawing/2014/main" id="{15DD4461-BF10-33C5-C2F6-DCC88CDCB1EF}"/>
              </a:ext>
            </a:extLst>
          </p:cNvPr>
          <p:cNvSpPr/>
          <p:nvPr/>
        </p:nvSpPr>
        <p:spPr>
          <a:xfrm>
            <a:off x="5070739" y="2278329"/>
            <a:ext cx="2206347" cy="306467"/>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200" dirty="0">
                <a:solidFill>
                  <a:schemeClr val="accent1"/>
                </a:solidFill>
                <a:latin typeface="游ゴシック Medium" panose="020B0500000000000000" pitchFamily="50" charset="-128"/>
                <a:ea typeface="游ゴシック Medium" panose="020B0500000000000000" pitchFamily="50" charset="-128"/>
              </a:rPr>
              <a:t>より上位の会社と繋がりたい</a:t>
            </a:r>
          </a:p>
        </p:txBody>
      </p:sp>
      <p:sp>
        <p:nvSpPr>
          <p:cNvPr id="92" name="四角形: 角を丸くする 91">
            <a:extLst>
              <a:ext uri="{FF2B5EF4-FFF2-40B4-BE49-F238E27FC236}">
                <a16:creationId xmlns:a16="http://schemas.microsoft.com/office/drawing/2014/main" id="{D9B9ACC5-E1BD-B857-AF8B-AA4B2C6F020C}"/>
              </a:ext>
            </a:extLst>
          </p:cNvPr>
          <p:cNvSpPr/>
          <p:nvPr/>
        </p:nvSpPr>
        <p:spPr>
          <a:xfrm>
            <a:off x="1036102" y="4410443"/>
            <a:ext cx="442674" cy="663386"/>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vert="eaVert" wrap="none" lIns="91440" tIns="45720" rIns="91440" bIns="45720" rtlCol="0" anchor="ctr">
            <a:spAutoFit/>
          </a:bodyPr>
          <a:lstStyle/>
          <a:p>
            <a:pPr algn="ctr"/>
            <a:r>
              <a:rPr kumimoji="1" lang="ja-JP" altLang="en-US" sz="1400" b="1" dirty="0">
                <a:solidFill>
                  <a:schemeClr val="accent1"/>
                </a:solidFill>
                <a:latin typeface="游ゴシック Medium" panose="020B0500000000000000" pitchFamily="50" charset="-128"/>
                <a:ea typeface="游ゴシック Medium" panose="020B0500000000000000" pitchFamily="50" charset="-128"/>
              </a:rPr>
              <a:t>コスト</a:t>
            </a:r>
          </a:p>
        </p:txBody>
      </p:sp>
      <p:sp>
        <p:nvSpPr>
          <p:cNvPr id="94" name="吹き出し: 円形 93">
            <a:extLst>
              <a:ext uri="{FF2B5EF4-FFF2-40B4-BE49-F238E27FC236}">
                <a16:creationId xmlns:a16="http://schemas.microsoft.com/office/drawing/2014/main" id="{75F059BB-C6E6-A354-E4B3-A3D4299E8C3E}"/>
              </a:ext>
            </a:extLst>
          </p:cNvPr>
          <p:cNvSpPr/>
          <p:nvPr/>
        </p:nvSpPr>
        <p:spPr>
          <a:xfrm>
            <a:off x="5198393" y="2830946"/>
            <a:ext cx="535027" cy="389513"/>
          </a:xfrm>
          <a:prstGeom prst="wedgeEllipseCallout">
            <a:avLst>
              <a:gd name="adj1" fmla="val -46509"/>
              <a:gd name="adj2" fmla="val 51632"/>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36000" rIns="36000" rtlCol="0" anchor="ctr">
            <a:spAutoFit/>
          </a:bodyPr>
          <a:lstStyle/>
          <a:p>
            <a:pPr algn="ctr"/>
            <a:r>
              <a:rPr kumimoji="1" lang="ja-JP" altLang="en-US" sz="1200" dirty="0">
                <a:solidFill>
                  <a:srgbClr val="FF0000"/>
                </a:solidFill>
                <a:latin typeface="游ゴシック Medium" panose="020B0500000000000000" pitchFamily="50" charset="-128"/>
                <a:ea typeface="游ゴシック Medium" panose="020B0500000000000000" pitchFamily="50" charset="-128"/>
              </a:rPr>
              <a:t>重要</a:t>
            </a:r>
          </a:p>
        </p:txBody>
      </p:sp>
      <p:sp>
        <p:nvSpPr>
          <p:cNvPr id="8" name="四角形: 角を丸くする 7">
            <a:extLst>
              <a:ext uri="{FF2B5EF4-FFF2-40B4-BE49-F238E27FC236}">
                <a16:creationId xmlns:a16="http://schemas.microsoft.com/office/drawing/2014/main" id="{3B378C7B-43CC-0DA9-FD0B-749A1A789597}"/>
              </a:ext>
            </a:extLst>
          </p:cNvPr>
          <p:cNvSpPr/>
          <p:nvPr/>
        </p:nvSpPr>
        <p:spPr>
          <a:xfrm>
            <a:off x="1036102" y="5738416"/>
            <a:ext cx="442674" cy="663386"/>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vert="eaVert" wrap="none" lIns="91440" tIns="45720" rIns="91440" bIns="45720" rtlCol="0" anchor="ctr">
            <a:spAutoFit/>
          </a:bodyPr>
          <a:lstStyle/>
          <a:p>
            <a:pPr algn="ctr"/>
            <a:r>
              <a:rPr kumimoji="1" lang="ja-JP" altLang="en-US" sz="1400" b="1" dirty="0">
                <a:solidFill>
                  <a:srgbClr val="FF0000"/>
                </a:solidFill>
                <a:latin typeface="游ゴシック Medium" panose="020B0500000000000000" pitchFamily="50" charset="-128"/>
                <a:ea typeface="游ゴシック Medium" panose="020B0500000000000000" pitchFamily="50" charset="-128"/>
              </a:rPr>
              <a:t>リスク</a:t>
            </a:r>
          </a:p>
        </p:txBody>
      </p:sp>
      <p:sp>
        <p:nvSpPr>
          <p:cNvPr id="9" name="矢印: 五方向 8">
            <a:extLst>
              <a:ext uri="{FF2B5EF4-FFF2-40B4-BE49-F238E27FC236}">
                <a16:creationId xmlns:a16="http://schemas.microsoft.com/office/drawing/2014/main" id="{6CBD7B95-737C-74B5-826D-C5574FE3AF17}"/>
              </a:ext>
            </a:extLst>
          </p:cNvPr>
          <p:cNvSpPr/>
          <p:nvPr/>
        </p:nvSpPr>
        <p:spPr>
          <a:xfrm rot="16200000">
            <a:off x="4819755" y="5010008"/>
            <a:ext cx="342000" cy="1716037"/>
          </a:xfrm>
          <a:prstGeom prst="homePlate">
            <a:avLst>
              <a:gd name="adj" fmla="val 35518"/>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現場リカバリ</a:t>
            </a:r>
          </a:p>
        </p:txBody>
      </p:sp>
      <p:sp>
        <p:nvSpPr>
          <p:cNvPr id="10" name="矢印: 五方向 9">
            <a:extLst>
              <a:ext uri="{FF2B5EF4-FFF2-40B4-BE49-F238E27FC236}">
                <a16:creationId xmlns:a16="http://schemas.microsoft.com/office/drawing/2014/main" id="{F5C58D36-6409-EE99-3FBC-6CD0C0328BC2}"/>
              </a:ext>
            </a:extLst>
          </p:cNvPr>
          <p:cNvSpPr/>
          <p:nvPr/>
        </p:nvSpPr>
        <p:spPr>
          <a:xfrm rot="16200000">
            <a:off x="4819755" y="5405687"/>
            <a:ext cx="342000" cy="1716037"/>
          </a:xfrm>
          <a:prstGeom prst="homePlate">
            <a:avLst>
              <a:gd name="adj" fmla="val 35518"/>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交代要員の調達</a:t>
            </a:r>
          </a:p>
        </p:txBody>
      </p:sp>
      <p:sp>
        <p:nvSpPr>
          <p:cNvPr id="11" name="矢印: 五方向 10">
            <a:extLst>
              <a:ext uri="{FF2B5EF4-FFF2-40B4-BE49-F238E27FC236}">
                <a16:creationId xmlns:a16="http://schemas.microsoft.com/office/drawing/2014/main" id="{93D17528-611B-7EE8-9FDE-E20F3E73B208}"/>
              </a:ext>
            </a:extLst>
          </p:cNvPr>
          <p:cNvSpPr/>
          <p:nvPr/>
        </p:nvSpPr>
        <p:spPr>
          <a:xfrm rot="16200000">
            <a:off x="6996569" y="5010007"/>
            <a:ext cx="342000" cy="1716037"/>
          </a:xfrm>
          <a:prstGeom prst="homePlate">
            <a:avLst>
              <a:gd name="adj" fmla="val 35518"/>
            </a:avLst>
          </a:prstGeom>
          <a:solidFill>
            <a:schemeClr val="accent3">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交代要員の調達</a:t>
            </a:r>
          </a:p>
        </p:txBody>
      </p:sp>
    </p:spTree>
    <p:extLst>
      <p:ext uri="{BB962C8B-B14F-4D97-AF65-F5344CB8AC3E}">
        <p14:creationId xmlns:p14="http://schemas.microsoft.com/office/powerpoint/2010/main" val="3280717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6CDCB-0BCC-7CE7-C0DF-769766237A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164A89-C6DC-8817-2C13-D2DC8CE41648}"/>
              </a:ext>
            </a:extLst>
          </p:cNvPr>
          <p:cNvSpPr>
            <a:spLocks noGrp="1"/>
          </p:cNvSpPr>
          <p:nvPr>
            <p:ph idx="1"/>
          </p:nvPr>
        </p:nvSpPr>
        <p:spPr>
          <a:xfrm>
            <a:off x="612647" y="931741"/>
            <a:ext cx="10653579" cy="1278152"/>
          </a:xfrm>
        </p:spPr>
        <p:txBody>
          <a:bodyPr vert="horz" lIns="91440" tIns="45720" rIns="91440" bIns="45720" rtlCol="0" anchor="t">
            <a:normAutofit/>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本プロダクトの体験と価値は以下となる想定である。</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en-US" altLang="ja-JP" sz="1600" dirty="0">
                <a:latin typeface="游ゴシック Medium" panose="020B0500000000000000" pitchFamily="50" charset="-128"/>
                <a:ea typeface="游ゴシック Medium" panose="020B0500000000000000" pitchFamily="50" charset="-128"/>
              </a:rPr>
              <a:t>Step1</a:t>
            </a:r>
            <a:r>
              <a:rPr lang="ja-JP" altLang="en-US" sz="1600" dirty="0">
                <a:latin typeface="游ゴシック Medium" panose="020B0500000000000000" pitchFamily="50" charset="-128"/>
                <a:ea typeface="游ゴシック Medium" panose="020B0500000000000000" pitchFamily="50" charset="-128"/>
              </a:rPr>
              <a:t>：「案件会社が簡単に要員にリーチできる」体験と「調達稼働コストを削減」という価値を提供する</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en-US" altLang="ja-JP" sz="1600" dirty="0">
                <a:latin typeface="游ゴシック Medium" panose="020B0500000000000000" pitchFamily="50" charset="-128"/>
                <a:ea typeface="游ゴシック Medium" panose="020B0500000000000000" pitchFamily="50" charset="-128"/>
              </a:rPr>
              <a:t>Step2</a:t>
            </a:r>
            <a:r>
              <a:rPr lang="ja-JP" altLang="en-US" sz="1600" dirty="0">
                <a:latin typeface="游ゴシック Medium" panose="020B0500000000000000" pitchFamily="50" charset="-128"/>
                <a:ea typeface="游ゴシック Medium" panose="020B0500000000000000" pitchFamily="50" charset="-128"/>
              </a:rPr>
              <a:t>：「要員会社が良い案件とマッチングできる」体験と「要員の単価</a:t>
            </a:r>
            <a:r>
              <a:rPr lang="en-US" altLang="ja-JP" sz="1600" dirty="0">
                <a:latin typeface="游ゴシック Medium" panose="020B0500000000000000" pitchFamily="50" charset="-128"/>
                <a:ea typeface="游ゴシック Medium" panose="020B0500000000000000" pitchFamily="50" charset="-128"/>
              </a:rPr>
              <a:t>UP</a:t>
            </a:r>
            <a:r>
              <a:rPr lang="ja-JP" altLang="en-US" sz="1600" dirty="0">
                <a:latin typeface="游ゴシック Medium" panose="020B0500000000000000" pitchFamily="50" charset="-128"/>
                <a:ea typeface="游ゴシック Medium" panose="020B0500000000000000" pitchFamily="50" charset="-128"/>
              </a:rPr>
              <a:t>」という価値を提供する</a:t>
            </a:r>
            <a:endParaRPr lang="en-US" altLang="ja-JP" sz="1600" dirty="0">
              <a:latin typeface="游ゴシック Medium" panose="020B0500000000000000" pitchFamily="50" charset="-128"/>
              <a:ea typeface="游ゴシック Medium" panose="020B0500000000000000" pitchFamily="50" charset="-128"/>
            </a:endParaRPr>
          </a:p>
        </p:txBody>
      </p:sp>
      <p:sp>
        <p:nvSpPr>
          <p:cNvPr id="4" name="Date Placeholder 3">
            <a:extLst>
              <a:ext uri="{FF2B5EF4-FFF2-40B4-BE49-F238E27FC236}">
                <a16:creationId xmlns:a16="http://schemas.microsoft.com/office/drawing/2014/main" id="{B88434E8-26E5-0FBF-9C4F-0F420EE75C15}"/>
              </a:ext>
            </a:extLst>
          </p:cNvPr>
          <p:cNvSpPr>
            <a:spLocks noGrp="1"/>
          </p:cNvSpPr>
          <p:nvPr>
            <p:ph type="dt" sz="half" idx="10"/>
          </p:nvPr>
        </p:nvSpPr>
        <p:spPr/>
        <p:txBody>
          <a:bodyPr/>
          <a:lstStyle/>
          <a:p>
            <a:fld id="{7598ACA5-9250-4720-BC2E-DB7A7966E012}" type="datetime1">
              <a:rPr lang="ja-JP" altLang="en-US"/>
              <a:t>2026/3/9</a:t>
            </a:fld>
            <a:endParaRPr lang="en-US" dirty="0"/>
          </a:p>
        </p:txBody>
      </p:sp>
      <p:sp>
        <p:nvSpPr>
          <p:cNvPr id="5" name="Footer Placeholder 4">
            <a:extLst>
              <a:ext uri="{FF2B5EF4-FFF2-40B4-BE49-F238E27FC236}">
                <a16:creationId xmlns:a16="http://schemas.microsoft.com/office/drawing/2014/main" id="{9C8FE01E-60D2-5E89-4EAC-CC72FAB7979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52A6C1F7-92AF-E9F1-E93A-BDA100491342}"/>
              </a:ext>
            </a:extLst>
          </p:cNvPr>
          <p:cNvSpPr>
            <a:spLocks noGrp="1"/>
          </p:cNvSpPr>
          <p:nvPr>
            <p:ph type="sldNum" sz="quarter" idx="12"/>
          </p:nvPr>
        </p:nvSpPr>
        <p:spPr/>
        <p:txBody>
          <a:bodyPr/>
          <a:lstStyle/>
          <a:p>
            <a:fld id="{CC057153-B650-4DEB-B370-79DDCFDCE934}" type="slidenum">
              <a:rPr lang="en-US" dirty="0"/>
              <a:t>6</a:t>
            </a:fld>
            <a:endParaRPr lang="en-US"/>
          </a:p>
        </p:txBody>
      </p:sp>
      <p:sp>
        <p:nvSpPr>
          <p:cNvPr id="18" name="Title 1">
            <a:extLst>
              <a:ext uri="{FF2B5EF4-FFF2-40B4-BE49-F238E27FC236}">
                <a16:creationId xmlns:a16="http://schemas.microsoft.com/office/drawing/2014/main" id="{640028E5-C306-B345-060F-23CA7088BA06}"/>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体験と価値</a:t>
            </a:r>
          </a:p>
        </p:txBody>
      </p:sp>
      <p:sp>
        <p:nvSpPr>
          <p:cNvPr id="137" name="テキスト ボックス 5">
            <a:extLst>
              <a:ext uri="{FF2B5EF4-FFF2-40B4-BE49-F238E27FC236}">
                <a16:creationId xmlns:a16="http://schemas.microsoft.com/office/drawing/2014/main" id="{26DDC660-B34F-493B-18B5-987A62DDDF6D}"/>
              </a:ext>
            </a:extLst>
          </p:cNvPr>
          <p:cNvSpPr txBox="1"/>
          <p:nvPr/>
        </p:nvSpPr>
        <p:spPr>
          <a:xfrm>
            <a:off x="5116968" y="4049446"/>
            <a:ext cx="2350632" cy="598662"/>
          </a:xfrm>
          <a:prstGeom prst="roundRect">
            <a:avLst/>
          </a:prstGeom>
          <a:solidFill>
            <a:schemeClr val="accent5">
              <a:lumMod val="20000"/>
              <a:lumOff val="80000"/>
            </a:schemeClr>
          </a:solidFill>
          <a:ln w="28575">
            <a:solidFill>
              <a:schemeClr val="accent5"/>
            </a:solidFill>
          </a:ln>
        </p:spPr>
        <p:txBody>
          <a:bodyPr wrap="square" rtlCol="0" anchor="b">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200" dirty="0">
                <a:solidFill>
                  <a:schemeClr val="accent1"/>
                </a:solidFill>
                <a:latin typeface="游ゴシック Medium" panose="020B0500000000000000" pitchFamily="50" charset="-128"/>
                <a:ea typeface="游ゴシック Medium" panose="020B0500000000000000" pitchFamily="50" charset="-128"/>
              </a:rPr>
              <a:t>要員管理</a:t>
            </a:r>
            <a:r>
              <a:rPr kumimoji="1" lang="en-US" altLang="ja-JP" sz="1200" dirty="0">
                <a:solidFill>
                  <a:schemeClr val="accent1"/>
                </a:solidFill>
                <a:latin typeface="游ゴシック Medium" panose="020B0500000000000000" pitchFamily="50" charset="-128"/>
                <a:ea typeface="游ゴシック Medium" panose="020B0500000000000000" pitchFamily="50" charset="-128"/>
              </a:rPr>
              <a:t>PF</a:t>
            </a:r>
            <a:endParaRPr kumimoji="1" lang="ja-JP" altLang="en-US" sz="1200" dirty="0">
              <a:solidFill>
                <a:schemeClr val="accent1"/>
              </a:solidFill>
              <a:latin typeface="游ゴシック Medium" panose="020B0500000000000000" pitchFamily="50" charset="-128"/>
              <a:ea typeface="游ゴシック Medium" panose="020B0500000000000000" pitchFamily="50" charset="-128"/>
            </a:endParaRPr>
          </a:p>
        </p:txBody>
      </p:sp>
      <p:sp>
        <p:nvSpPr>
          <p:cNvPr id="112" name="矢印: 左 111">
            <a:extLst>
              <a:ext uri="{FF2B5EF4-FFF2-40B4-BE49-F238E27FC236}">
                <a16:creationId xmlns:a16="http://schemas.microsoft.com/office/drawing/2014/main" id="{69F88F92-8025-2775-BA0D-926E0D0B6605}"/>
              </a:ext>
            </a:extLst>
          </p:cNvPr>
          <p:cNvSpPr/>
          <p:nvPr/>
        </p:nvSpPr>
        <p:spPr>
          <a:xfrm>
            <a:off x="3520920" y="5623830"/>
            <a:ext cx="1698944" cy="302145"/>
          </a:xfrm>
          <a:prstGeom prst="lef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游ゴシック Medium" panose="020B0500000000000000" pitchFamily="50" charset="-128"/>
                <a:ea typeface="游ゴシック Medium" panose="020B0500000000000000" pitchFamily="50" charset="-128"/>
              </a:rPr>
              <a:t>実績・評価の閲覧</a:t>
            </a:r>
            <a:endParaRPr kumimoji="1" lang="ja-JP" altLang="en-US" sz="1050" dirty="0">
              <a:solidFill>
                <a:schemeClr val="tx1"/>
              </a:solidFill>
              <a:latin typeface="游ゴシック Medium" panose="020B0500000000000000" pitchFamily="50" charset="-128"/>
              <a:ea typeface="游ゴシック Medium" panose="020B0500000000000000" pitchFamily="50" charset="-128"/>
            </a:endParaRPr>
          </a:p>
        </p:txBody>
      </p:sp>
      <p:sp>
        <p:nvSpPr>
          <p:cNvPr id="113" name="矢印: 右 112">
            <a:extLst>
              <a:ext uri="{FF2B5EF4-FFF2-40B4-BE49-F238E27FC236}">
                <a16:creationId xmlns:a16="http://schemas.microsoft.com/office/drawing/2014/main" id="{2D72A4FC-AFA7-DB05-DFE2-80CBCFC5C8E0}"/>
              </a:ext>
            </a:extLst>
          </p:cNvPr>
          <p:cNvSpPr/>
          <p:nvPr/>
        </p:nvSpPr>
        <p:spPr>
          <a:xfrm>
            <a:off x="7344670" y="5623829"/>
            <a:ext cx="1698944" cy="302145"/>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solidFill>
                <a:latin typeface="游ゴシック Medium" panose="020B0500000000000000" pitchFamily="50" charset="-128"/>
                <a:ea typeface="游ゴシック Medium" panose="020B0500000000000000" pitchFamily="50" charset="-128"/>
              </a:rPr>
              <a:t>実績・評価の記録</a:t>
            </a:r>
            <a:endParaRPr kumimoji="1" lang="ja-JP" altLang="en-US" sz="1050" dirty="0">
              <a:solidFill>
                <a:schemeClr val="tx1"/>
              </a:solidFill>
              <a:latin typeface="游ゴシック Medium" panose="020B0500000000000000" pitchFamily="50" charset="-128"/>
              <a:ea typeface="游ゴシック Medium" panose="020B0500000000000000" pitchFamily="50" charset="-128"/>
            </a:endParaRPr>
          </a:p>
        </p:txBody>
      </p:sp>
      <p:grpSp>
        <p:nvGrpSpPr>
          <p:cNvPr id="39" name="グループ化 38">
            <a:extLst>
              <a:ext uri="{FF2B5EF4-FFF2-40B4-BE49-F238E27FC236}">
                <a16:creationId xmlns:a16="http://schemas.microsoft.com/office/drawing/2014/main" id="{200F4BD2-69C3-B9C8-B825-95594649BE43}"/>
              </a:ext>
            </a:extLst>
          </p:cNvPr>
          <p:cNvGrpSpPr/>
          <p:nvPr/>
        </p:nvGrpSpPr>
        <p:grpSpPr>
          <a:xfrm>
            <a:off x="2550417" y="3828356"/>
            <a:ext cx="990537" cy="883449"/>
            <a:chOff x="10458970" y="5216994"/>
            <a:chExt cx="1100770" cy="981767"/>
          </a:xfrm>
        </p:grpSpPr>
        <p:pic>
          <p:nvPicPr>
            <p:cNvPr id="58" name="グラフィックス 57" descr="プログラマー男性 単色塗りつぶし">
              <a:extLst>
                <a:ext uri="{FF2B5EF4-FFF2-40B4-BE49-F238E27FC236}">
                  <a16:creationId xmlns:a16="http://schemas.microsoft.com/office/drawing/2014/main" id="{E85B654D-FC22-F2B6-B15A-0A262B8C3B9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6718" y="5216994"/>
              <a:ext cx="665285" cy="665285"/>
            </a:xfrm>
            <a:prstGeom prst="rect">
              <a:avLst/>
            </a:prstGeom>
          </p:spPr>
        </p:pic>
        <p:sp>
          <p:nvSpPr>
            <p:cNvPr id="59" name="四角形: 角を丸くする 58">
              <a:extLst>
                <a:ext uri="{FF2B5EF4-FFF2-40B4-BE49-F238E27FC236}">
                  <a16:creationId xmlns:a16="http://schemas.microsoft.com/office/drawing/2014/main" id="{EF561D64-E01E-E7AD-E4C9-AFF1608CB5D3}"/>
                </a:ext>
              </a:extLst>
            </p:cNvPr>
            <p:cNvSpPr/>
            <p:nvPr/>
          </p:nvSpPr>
          <p:spPr>
            <a:xfrm>
              <a:off x="10458970" y="5877108"/>
              <a:ext cx="1100770" cy="321653"/>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案件</a:t>
              </a:r>
              <a:r>
                <a:rPr kumimoji="1" lang="ja-JP" altLang="en-US" sz="1100" dirty="0">
                  <a:solidFill>
                    <a:schemeClr val="tx1"/>
                  </a:solidFill>
                  <a:latin typeface="游ゴシック Medium" panose="020B0500000000000000" pitchFamily="50" charset="-128"/>
                  <a:ea typeface="游ゴシック Medium" panose="020B0500000000000000" pitchFamily="50" charset="-128"/>
                </a:rPr>
                <a:t>会社</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PM</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79" name="グループ化 78">
            <a:extLst>
              <a:ext uri="{FF2B5EF4-FFF2-40B4-BE49-F238E27FC236}">
                <a16:creationId xmlns:a16="http://schemas.microsoft.com/office/drawing/2014/main" id="{6922263B-6B08-7EB2-B8AB-1875F652FE68}"/>
              </a:ext>
            </a:extLst>
          </p:cNvPr>
          <p:cNvGrpSpPr/>
          <p:nvPr/>
        </p:nvGrpSpPr>
        <p:grpSpPr>
          <a:xfrm>
            <a:off x="9043614" y="3828356"/>
            <a:ext cx="950449" cy="883449"/>
            <a:chOff x="10481244" y="5216994"/>
            <a:chExt cx="1056221" cy="981767"/>
          </a:xfrm>
        </p:grpSpPr>
        <p:pic>
          <p:nvPicPr>
            <p:cNvPr id="80" name="グラフィックス 79" descr="プログラマー男性 単色塗りつぶし">
              <a:extLst>
                <a:ext uri="{FF2B5EF4-FFF2-40B4-BE49-F238E27FC236}">
                  <a16:creationId xmlns:a16="http://schemas.microsoft.com/office/drawing/2014/main" id="{DB994912-5431-937F-EF74-779593FE4E8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6718" y="5216994"/>
              <a:ext cx="665285" cy="665285"/>
            </a:xfrm>
            <a:prstGeom prst="rect">
              <a:avLst/>
            </a:prstGeom>
          </p:spPr>
        </p:pic>
        <p:sp>
          <p:nvSpPr>
            <p:cNvPr id="81" name="四角形: 角を丸くする 80">
              <a:extLst>
                <a:ext uri="{FF2B5EF4-FFF2-40B4-BE49-F238E27FC236}">
                  <a16:creationId xmlns:a16="http://schemas.microsoft.com/office/drawing/2014/main" id="{75AA997F-7273-1211-F509-D20D0935F6D8}"/>
                </a:ext>
              </a:extLst>
            </p:cNvPr>
            <p:cNvSpPr/>
            <p:nvPr/>
          </p:nvSpPr>
          <p:spPr>
            <a:xfrm>
              <a:off x="10481244" y="5877108"/>
              <a:ext cx="1056221" cy="321653"/>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要員会社</a:t>
              </a:r>
              <a:r>
                <a:rPr lang="en-US" altLang="ja-JP" sz="1100" dirty="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sp>
        <p:nvSpPr>
          <p:cNvPr id="82" name="吹き出し: 角を丸めた四角形 81">
            <a:extLst>
              <a:ext uri="{FF2B5EF4-FFF2-40B4-BE49-F238E27FC236}">
                <a16:creationId xmlns:a16="http://schemas.microsoft.com/office/drawing/2014/main" id="{C347F4DA-C865-4231-008B-E81F01534AF8}"/>
              </a:ext>
            </a:extLst>
          </p:cNvPr>
          <p:cNvSpPr/>
          <p:nvPr/>
        </p:nvSpPr>
        <p:spPr>
          <a:xfrm>
            <a:off x="1361657" y="3999066"/>
            <a:ext cx="1115970" cy="568018"/>
          </a:xfrm>
          <a:prstGeom prst="wedgeRoundRectCallout">
            <a:avLst>
              <a:gd name="adj1" fmla="val 67656"/>
              <a:gd name="adj2" fmla="val 1313"/>
              <a:gd name="adj3" fmla="val 16667"/>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nSpc>
                <a:spcPct val="120000"/>
              </a:lnSpc>
            </a:pPr>
            <a:r>
              <a:rPr lang="ja-JP" altLang="en-US" sz="1100" dirty="0">
                <a:solidFill>
                  <a:schemeClr val="tx1"/>
                </a:solidFill>
                <a:latin typeface="游ゴシック Medium" panose="020B0500000000000000" pitchFamily="50" charset="-128"/>
                <a:ea typeface="游ゴシック Medium" panose="020B0500000000000000" pitchFamily="50" charset="-128"/>
              </a:rPr>
              <a:t>すぐ見つかる</a:t>
            </a:r>
            <a:endParaRPr lang="en-US" altLang="ja-JP" sz="1100" dirty="0">
              <a:solidFill>
                <a:schemeClr val="tx1"/>
              </a:solidFill>
              <a:latin typeface="游ゴシック Medium" panose="020B0500000000000000" pitchFamily="50" charset="-128"/>
              <a:ea typeface="游ゴシック Medium" panose="020B0500000000000000" pitchFamily="50" charset="-128"/>
            </a:endParaRPr>
          </a:p>
          <a:p>
            <a:pPr>
              <a:lnSpc>
                <a:spcPct val="120000"/>
              </a:lnSpc>
            </a:pPr>
            <a:r>
              <a:rPr lang="ja-JP" altLang="en-US" sz="1100" dirty="0">
                <a:solidFill>
                  <a:schemeClr val="tx1"/>
                </a:solidFill>
                <a:latin typeface="游ゴシック Medium" panose="020B0500000000000000" pitchFamily="50" charset="-128"/>
                <a:ea typeface="游ゴシック Medium" panose="020B0500000000000000" pitchFamily="50" charset="-128"/>
              </a:rPr>
              <a:t>営業稼働不要</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sp>
        <p:nvSpPr>
          <p:cNvPr id="85" name="矢印: 右 84">
            <a:extLst>
              <a:ext uri="{FF2B5EF4-FFF2-40B4-BE49-F238E27FC236}">
                <a16:creationId xmlns:a16="http://schemas.microsoft.com/office/drawing/2014/main" id="{F5CDA7AC-5268-B9BC-CD63-0971B36F2F2B}"/>
              </a:ext>
            </a:extLst>
          </p:cNvPr>
          <p:cNvSpPr/>
          <p:nvPr/>
        </p:nvSpPr>
        <p:spPr>
          <a:xfrm>
            <a:off x="3540954" y="4085142"/>
            <a:ext cx="5502660" cy="302145"/>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游ゴシック Medium" panose="020B0500000000000000" pitchFamily="50" charset="-128"/>
                <a:ea typeface="游ゴシック Medium" panose="020B0500000000000000" pitchFamily="50" charset="-128"/>
              </a:rPr>
              <a:t>検索・閲覧・直接のオファー</a:t>
            </a:r>
          </a:p>
        </p:txBody>
      </p:sp>
      <p:grpSp>
        <p:nvGrpSpPr>
          <p:cNvPr id="145" name="グループ化 144">
            <a:extLst>
              <a:ext uri="{FF2B5EF4-FFF2-40B4-BE49-F238E27FC236}">
                <a16:creationId xmlns:a16="http://schemas.microsoft.com/office/drawing/2014/main" id="{B8559C83-7D9B-E61C-82FC-5579F775FDF6}"/>
              </a:ext>
            </a:extLst>
          </p:cNvPr>
          <p:cNvGrpSpPr/>
          <p:nvPr/>
        </p:nvGrpSpPr>
        <p:grpSpPr>
          <a:xfrm>
            <a:off x="1225431" y="2555321"/>
            <a:ext cx="8768632" cy="883449"/>
            <a:chOff x="943639" y="2519797"/>
            <a:chExt cx="8768632" cy="883449"/>
          </a:xfrm>
        </p:grpSpPr>
        <p:grpSp>
          <p:nvGrpSpPr>
            <p:cNvPr id="119" name="グループ化 118">
              <a:extLst>
                <a:ext uri="{FF2B5EF4-FFF2-40B4-BE49-F238E27FC236}">
                  <a16:creationId xmlns:a16="http://schemas.microsoft.com/office/drawing/2014/main" id="{61E9702D-AFB7-DDBF-64E7-469F947F7EBD}"/>
                </a:ext>
              </a:extLst>
            </p:cNvPr>
            <p:cNvGrpSpPr/>
            <p:nvPr/>
          </p:nvGrpSpPr>
          <p:grpSpPr>
            <a:xfrm>
              <a:off x="6510580" y="2778360"/>
              <a:ext cx="344111" cy="302145"/>
              <a:chOff x="5177679" y="2778360"/>
              <a:chExt cx="344111" cy="302145"/>
            </a:xfrm>
          </p:grpSpPr>
          <p:sp>
            <p:nvSpPr>
              <p:cNvPr id="120" name="矢印: 右 119">
                <a:extLst>
                  <a:ext uri="{FF2B5EF4-FFF2-40B4-BE49-F238E27FC236}">
                    <a16:creationId xmlns:a16="http://schemas.microsoft.com/office/drawing/2014/main" id="{46BCAB31-59FE-30DE-2E27-8DA5EE465AC1}"/>
                  </a:ext>
                </a:extLst>
              </p:cNvPr>
              <p:cNvSpPr/>
              <p:nvPr/>
            </p:nvSpPr>
            <p:spPr>
              <a:xfrm>
                <a:off x="5263634" y="2778360"/>
                <a:ext cx="258156" cy="302145"/>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dirty="0">
                  <a:solidFill>
                    <a:schemeClr val="tx1"/>
                  </a:solidFill>
                  <a:latin typeface="游ゴシック Medium" panose="020B0500000000000000" pitchFamily="50" charset="-128"/>
                  <a:ea typeface="游ゴシック Medium" panose="020B0500000000000000" pitchFamily="50" charset="-128"/>
                </a:endParaRPr>
              </a:p>
            </p:txBody>
          </p:sp>
          <p:sp>
            <p:nvSpPr>
              <p:cNvPr id="121" name="矢印: 左 120">
                <a:extLst>
                  <a:ext uri="{FF2B5EF4-FFF2-40B4-BE49-F238E27FC236}">
                    <a16:creationId xmlns:a16="http://schemas.microsoft.com/office/drawing/2014/main" id="{E9729694-7D85-CDA1-6BDB-41629D5CA86C}"/>
                  </a:ext>
                </a:extLst>
              </p:cNvPr>
              <p:cNvSpPr/>
              <p:nvPr/>
            </p:nvSpPr>
            <p:spPr>
              <a:xfrm>
                <a:off x="5177679" y="2778360"/>
                <a:ext cx="258156" cy="302145"/>
              </a:xfrm>
              <a:prstGeom prst="lef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2" name="グループ化 1">
              <a:extLst>
                <a:ext uri="{FF2B5EF4-FFF2-40B4-BE49-F238E27FC236}">
                  <a16:creationId xmlns:a16="http://schemas.microsoft.com/office/drawing/2014/main" id="{5D6EDE16-08DE-9379-C654-C520F04CFADA}"/>
                </a:ext>
              </a:extLst>
            </p:cNvPr>
            <p:cNvGrpSpPr/>
            <p:nvPr/>
          </p:nvGrpSpPr>
          <p:grpSpPr>
            <a:xfrm>
              <a:off x="2268625" y="2519797"/>
              <a:ext cx="990537" cy="883449"/>
              <a:chOff x="10458970" y="5216994"/>
              <a:chExt cx="1100770" cy="981767"/>
            </a:xfrm>
          </p:grpSpPr>
          <p:pic>
            <p:nvPicPr>
              <p:cNvPr id="7" name="グラフィックス 6" descr="プログラマー男性 単色塗りつぶし">
                <a:extLst>
                  <a:ext uri="{FF2B5EF4-FFF2-40B4-BE49-F238E27FC236}">
                    <a16:creationId xmlns:a16="http://schemas.microsoft.com/office/drawing/2014/main" id="{10A2AC4E-B627-53C6-327B-B71546D2E64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6718" y="5216994"/>
                <a:ext cx="665285" cy="665285"/>
              </a:xfrm>
              <a:prstGeom prst="rect">
                <a:avLst/>
              </a:prstGeom>
            </p:spPr>
          </p:pic>
          <p:sp>
            <p:nvSpPr>
              <p:cNvPr id="8" name="四角形: 角を丸くする 7">
                <a:extLst>
                  <a:ext uri="{FF2B5EF4-FFF2-40B4-BE49-F238E27FC236}">
                    <a16:creationId xmlns:a16="http://schemas.microsoft.com/office/drawing/2014/main" id="{7F56F5B4-AC3D-189C-6FD2-2F9B189CDD03}"/>
                  </a:ext>
                </a:extLst>
              </p:cNvPr>
              <p:cNvSpPr/>
              <p:nvPr/>
            </p:nvSpPr>
            <p:spPr>
              <a:xfrm>
                <a:off x="10458970" y="5877108"/>
                <a:ext cx="1100770" cy="321653"/>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案件</a:t>
                </a:r>
                <a:r>
                  <a:rPr kumimoji="1" lang="ja-JP" altLang="en-US" sz="1100" dirty="0">
                    <a:solidFill>
                      <a:schemeClr val="tx1"/>
                    </a:solidFill>
                    <a:latin typeface="游ゴシック Medium" panose="020B0500000000000000" pitchFamily="50" charset="-128"/>
                    <a:ea typeface="游ゴシック Medium" panose="020B0500000000000000" pitchFamily="50" charset="-128"/>
                  </a:rPr>
                  <a:t>会社</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PM</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10" name="グループ化 9">
              <a:extLst>
                <a:ext uri="{FF2B5EF4-FFF2-40B4-BE49-F238E27FC236}">
                  <a16:creationId xmlns:a16="http://schemas.microsoft.com/office/drawing/2014/main" id="{2DBABDD1-EA94-5CEB-E4CC-2F3F8DE92E3F}"/>
                </a:ext>
              </a:extLst>
            </p:cNvPr>
            <p:cNvGrpSpPr/>
            <p:nvPr/>
          </p:nvGrpSpPr>
          <p:grpSpPr>
            <a:xfrm>
              <a:off x="4267765" y="2525893"/>
              <a:ext cx="1050994" cy="877353"/>
              <a:chOff x="2044619" y="1963356"/>
              <a:chExt cx="1167955" cy="974992"/>
            </a:xfrm>
          </p:grpSpPr>
          <p:pic>
            <p:nvPicPr>
              <p:cNvPr id="11" name="グラフィックス 10" descr="オフィス ワーカー (男性) 単色塗りつぶし">
                <a:extLst>
                  <a:ext uri="{FF2B5EF4-FFF2-40B4-BE49-F238E27FC236}">
                    <a16:creationId xmlns:a16="http://schemas.microsoft.com/office/drawing/2014/main" id="{7F2FBAD6-E57D-DFA8-0814-BDC3F942E22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95463" y="1963356"/>
                <a:ext cx="666267" cy="666267"/>
              </a:xfrm>
              <a:prstGeom prst="rect">
                <a:avLst/>
              </a:prstGeom>
            </p:spPr>
          </p:pic>
          <p:sp>
            <p:nvSpPr>
              <p:cNvPr id="12" name="四角形: 角を丸くする 11">
                <a:extLst>
                  <a:ext uri="{FF2B5EF4-FFF2-40B4-BE49-F238E27FC236}">
                    <a16:creationId xmlns:a16="http://schemas.microsoft.com/office/drawing/2014/main" id="{C91D3B5E-33C8-737C-E0EA-1680B9B8EE97}"/>
                  </a:ext>
                </a:extLst>
              </p:cNvPr>
              <p:cNvSpPr/>
              <p:nvPr/>
            </p:nvSpPr>
            <p:spPr>
              <a:xfrm>
                <a:off x="2044619" y="2616696"/>
                <a:ext cx="1167955"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案件会社営業</a:t>
                </a:r>
              </a:p>
            </p:txBody>
          </p:sp>
        </p:grpSp>
        <p:grpSp>
          <p:nvGrpSpPr>
            <p:cNvPr id="13" name="グループ化 12">
              <a:extLst>
                <a:ext uri="{FF2B5EF4-FFF2-40B4-BE49-F238E27FC236}">
                  <a16:creationId xmlns:a16="http://schemas.microsoft.com/office/drawing/2014/main" id="{8567FDD4-BD94-549E-BD29-4A467CE02114}"/>
                </a:ext>
              </a:extLst>
            </p:cNvPr>
            <p:cNvGrpSpPr/>
            <p:nvPr/>
          </p:nvGrpSpPr>
          <p:grpSpPr>
            <a:xfrm>
              <a:off x="5514692" y="2525893"/>
              <a:ext cx="1050994" cy="877353"/>
              <a:chOff x="2044618" y="1963356"/>
              <a:chExt cx="1167955" cy="974992"/>
            </a:xfrm>
          </p:grpSpPr>
          <p:pic>
            <p:nvPicPr>
              <p:cNvPr id="14" name="グラフィックス 13" descr="オフィス ワーカー (男性) 単色塗りつぶし">
                <a:extLst>
                  <a:ext uri="{FF2B5EF4-FFF2-40B4-BE49-F238E27FC236}">
                    <a16:creationId xmlns:a16="http://schemas.microsoft.com/office/drawing/2014/main" id="{1A797268-9B96-711C-705E-10C8B38246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95463" y="1963356"/>
                <a:ext cx="666267" cy="666267"/>
              </a:xfrm>
              <a:prstGeom prst="rect">
                <a:avLst/>
              </a:prstGeom>
            </p:spPr>
          </p:pic>
          <p:sp>
            <p:nvSpPr>
              <p:cNvPr id="15" name="四角形: 角を丸くする 14">
                <a:extLst>
                  <a:ext uri="{FF2B5EF4-FFF2-40B4-BE49-F238E27FC236}">
                    <a16:creationId xmlns:a16="http://schemas.microsoft.com/office/drawing/2014/main" id="{165D1FCF-A1FE-92DF-A04F-0A95ADFE6CC0}"/>
                  </a:ext>
                </a:extLst>
              </p:cNvPr>
              <p:cNvSpPr/>
              <p:nvPr/>
            </p:nvSpPr>
            <p:spPr>
              <a:xfrm>
                <a:off x="2044618" y="2616696"/>
                <a:ext cx="1167955"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仲介</a:t>
                </a:r>
                <a:r>
                  <a:rPr kumimoji="1" lang="ja-JP" altLang="en-US" sz="1100" dirty="0">
                    <a:solidFill>
                      <a:schemeClr val="tx1"/>
                    </a:solidFill>
                    <a:latin typeface="游ゴシック Medium" panose="020B0500000000000000" pitchFamily="50" charset="-128"/>
                    <a:ea typeface="游ゴシック Medium" panose="020B0500000000000000" pitchFamily="50" charset="-128"/>
                  </a:rPr>
                  <a:t>会社営業</a:t>
                </a:r>
              </a:p>
            </p:txBody>
          </p:sp>
        </p:grpSp>
        <p:grpSp>
          <p:nvGrpSpPr>
            <p:cNvPr id="16" name="グループ化 15">
              <a:extLst>
                <a:ext uri="{FF2B5EF4-FFF2-40B4-BE49-F238E27FC236}">
                  <a16:creationId xmlns:a16="http://schemas.microsoft.com/office/drawing/2014/main" id="{74EE7F37-CA1D-0876-1AFF-F8CAC7CAA8C8}"/>
                </a:ext>
              </a:extLst>
            </p:cNvPr>
            <p:cNvGrpSpPr/>
            <p:nvPr/>
          </p:nvGrpSpPr>
          <p:grpSpPr>
            <a:xfrm>
              <a:off x="6761619" y="2525893"/>
              <a:ext cx="1050994" cy="877353"/>
              <a:chOff x="2044618" y="1963356"/>
              <a:chExt cx="1167955" cy="974992"/>
            </a:xfrm>
          </p:grpSpPr>
          <p:pic>
            <p:nvPicPr>
              <p:cNvPr id="17" name="グラフィックス 16" descr="オフィス ワーカー (男性) 単色塗りつぶし">
                <a:extLst>
                  <a:ext uri="{FF2B5EF4-FFF2-40B4-BE49-F238E27FC236}">
                    <a16:creationId xmlns:a16="http://schemas.microsoft.com/office/drawing/2014/main" id="{FC09FD03-92B1-4720-4737-7E94649C2EE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295463" y="1963356"/>
                <a:ext cx="666267" cy="666267"/>
              </a:xfrm>
              <a:prstGeom prst="rect">
                <a:avLst/>
              </a:prstGeom>
            </p:spPr>
          </p:pic>
          <p:sp>
            <p:nvSpPr>
              <p:cNvPr id="19" name="四角形: 角を丸くする 18">
                <a:extLst>
                  <a:ext uri="{FF2B5EF4-FFF2-40B4-BE49-F238E27FC236}">
                    <a16:creationId xmlns:a16="http://schemas.microsoft.com/office/drawing/2014/main" id="{991CB764-9C02-479F-C090-BDC918475978}"/>
                  </a:ext>
                </a:extLst>
              </p:cNvPr>
              <p:cNvSpPr/>
              <p:nvPr/>
            </p:nvSpPr>
            <p:spPr>
              <a:xfrm>
                <a:off x="2044618" y="2616696"/>
                <a:ext cx="1167955"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要員会社営業</a:t>
                </a:r>
              </a:p>
            </p:txBody>
          </p:sp>
        </p:grpSp>
        <p:grpSp>
          <p:nvGrpSpPr>
            <p:cNvPr id="23" name="グループ化 22">
              <a:extLst>
                <a:ext uri="{FF2B5EF4-FFF2-40B4-BE49-F238E27FC236}">
                  <a16:creationId xmlns:a16="http://schemas.microsoft.com/office/drawing/2014/main" id="{E34A3401-505E-0D60-DF57-DF592DB997C3}"/>
                </a:ext>
              </a:extLst>
            </p:cNvPr>
            <p:cNvGrpSpPr/>
            <p:nvPr/>
          </p:nvGrpSpPr>
          <p:grpSpPr>
            <a:xfrm>
              <a:off x="8761822" y="2519797"/>
              <a:ext cx="950449" cy="883449"/>
              <a:chOff x="10481244" y="5216994"/>
              <a:chExt cx="1056221" cy="981767"/>
            </a:xfrm>
          </p:grpSpPr>
          <p:pic>
            <p:nvPicPr>
              <p:cNvPr id="24" name="グラフィックス 23" descr="プログラマー男性 単色塗りつぶし">
                <a:extLst>
                  <a:ext uri="{FF2B5EF4-FFF2-40B4-BE49-F238E27FC236}">
                    <a16:creationId xmlns:a16="http://schemas.microsoft.com/office/drawing/2014/main" id="{5ECDB21D-69DD-F086-F16E-5444F394C7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6718" y="5216994"/>
                <a:ext cx="665285" cy="665285"/>
              </a:xfrm>
              <a:prstGeom prst="rect">
                <a:avLst/>
              </a:prstGeom>
            </p:spPr>
          </p:pic>
          <p:sp>
            <p:nvSpPr>
              <p:cNvPr id="25" name="四角形: 角を丸くする 24">
                <a:extLst>
                  <a:ext uri="{FF2B5EF4-FFF2-40B4-BE49-F238E27FC236}">
                    <a16:creationId xmlns:a16="http://schemas.microsoft.com/office/drawing/2014/main" id="{90414D75-A911-E8A4-5DD1-16DBA6A6C4DA}"/>
                  </a:ext>
                </a:extLst>
              </p:cNvPr>
              <p:cNvSpPr/>
              <p:nvPr/>
            </p:nvSpPr>
            <p:spPr>
              <a:xfrm>
                <a:off x="10481244" y="5877108"/>
                <a:ext cx="1056221" cy="321653"/>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要員会社</a:t>
                </a:r>
                <a:r>
                  <a:rPr lang="en-US" altLang="ja-JP" sz="1100" dirty="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sp>
          <p:nvSpPr>
            <p:cNvPr id="26" name="吹き出し: 角を丸めた四角形 25">
              <a:extLst>
                <a:ext uri="{FF2B5EF4-FFF2-40B4-BE49-F238E27FC236}">
                  <a16:creationId xmlns:a16="http://schemas.microsoft.com/office/drawing/2014/main" id="{03D61BD0-3A3E-BA8B-3750-4BF48DE8EF6A}"/>
                </a:ext>
              </a:extLst>
            </p:cNvPr>
            <p:cNvSpPr/>
            <p:nvPr/>
          </p:nvSpPr>
          <p:spPr>
            <a:xfrm>
              <a:off x="943639" y="2690507"/>
              <a:ext cx="1252196" cy="568018"/>
            </a:xfrm>
            <a:prstGeom prst="wedgeRoundRectCallout">
              <a:avLst>
                <a:gd name="adj1" fmla="val 66914"/>
                <a:gd name="adj2" fmla="val 6977"/>
                <a:gd name="adj3" fmla="val 16667"/>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営業経由の調達</a:t>
              </a:r>
              <a:endParaRPr kumimoji="1" lang="en-US" altLang="ja-JP" sz="1100" dirty="0">
                <a:solidFill>
                  <a:schemeClr val="tx1"/>
                </a:solidFill>
                <a:latin typeface="游ゴシック Medium" panose="020B0500000000000000" pitchFamily="50" charset="-128"/>
                <a:ea typeface="游ゴシック Medium" panose="020B0500000000000000" pitchFamily="50" charset="-128"/>
              </a:endParaRPr>
            </a:p>
            <a:p>
              <a:pP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判断材料少ない</a:t>
              </a:r>
            </a:p>
          </p:txBody>
        </p:sp>
        <p:grpSp>
          <p:nvGrpSpPr>
            <p:cNvPr id="122" name="グループ化 121">
              <a:extLst>
                <a:ext uri="{FF2B5EF4-FFF2-40B4-BE49-F238E27FC236}">
                  <a16:creationId xmlns:a16="http://schemas.microsoft.com/office/drawing/2014/main" id="{C65BE6C3-5070-239E-301E-2373A1981809}"/>
                </a:ext>
              </a:extLst>
            </p:cNvPr>
            <p:cNvGrpSpPr/>
            <p:nvPr/>
          </p:nvGrpSpPr>
          <p:grpSpPr>
            <a:xfrm>
              <a:off x="3259162" y="2718819"/>
              <a:ext cx="896805" cy="545227"/>
              <a:chOff x="2369328" y="2778360"/>
              <a:chExt cx="1698944" cy="545227"/>
            </a:xfrm>
          </p:grpSpPr>
          <p:sp>
            <p:nvSpPr>
              <p:cNvPr id="29" name="矢印: 右 28">
                <a:extLst>
                  <a:ext uri="{FF2B5EF4-FFF2-40B4-BE49-F238E27FC236}">
                    <a16:creationId xmlns:a16="http://schemas.microsoft.com/office/drawing/2014/main" id="{43B87FF9-D395-314F-E36D-1BF246507C1E}"/>
                  </a:ext>
                </a:extLst>
              </p:cNvPr>
              <p:cNvSpPr/>
              <p:nvPr/>
            </p:nvSpPr>
            <p:spPr>
              <a:xfrm>
                <a:off x="2369328" y="2778360"/>
                <a:ext cx="1698944" cy="302145"/>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游ゴシック Medium" panose="020B0500000000000000" pitchFamily="50" charset="-128"/>
                    <a:ea typeface="游ゴシック Medium" panose="020B0500000000000000" pitchFamily="50" charset="-128"/>
                  </a:rPr>
                  <a:t>募集</a:t>
                </a:r>
              </a:p>
            </p:txBody>
          </p:sp>
          <p:sp>
            <p:nvSpPr>
              <p:cNvPr id="30" name="矢印: 左 29">
                <a:extLst>
                  <a:ext uri="{FF2B5EF4-FFF2-40B4-BE49-F238E27FC236}">
                    <a16:creationId xmlns:a16="http://schemas.microsoft.com/office/drawing/2014/main" id="{712AE3F7-DAC1-DA74-355F-A4CC63993FF3}"/>
                  </a:ext>
                </a:extLst>
              </p:cNvPr>
              <p:cNvSpPr/>
              <p:nvPr/>
            </p:nvSpPr>
            <p:spPr>
              <a:xfrm>
                <a:off x="2369328" y="3021442"/>
                <a:ext cx="1698944" cy="302145"/>
              </a:xfrm>
              <a:prstGeom prst="lef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游ゴシック Medium" panose="020B0500000000000000" pitchFamily="50" charset="-128"/>
                    <a:ea typeface="游ゴシック Medium" panose="020B0500000000000000" pitchFamily="50" charset="-128"/>
                  </a:rPr>
                  <a:t>経歴書</a:t>
                </a:r>
              </a:p>
            </p:txBody>
          </p:sp>
        </p:grpSp>
        <p:grpSp>
          <p:nvGrpSpPr>
            <p:cNvPr id="118" name="グループ化 117">
              <a:extLst>
                <a:ext uri="{FF2B5EF4-FFF2-40B4-BE49-F238E27FC236}">
                  <a16:creationId xmlns:a16="http://schemas.microsoft.com/office/drawing/2014/main" id="{00DCA59F-F93B-1993-A578-2440FB59EA9E}"/>
                </a:ext>
              </a:extLst>
            </p:cNvPr>
            <p:cNvGrpSpPr/>
            <p:nvPr/>
          </p:nvGrpSpPr>
          <p:grpSpPr>
            <a:xfrm>
              <a:off x="5265375" y="2778360"/>
              <a:ext cx="344111" cy="302145"/>
              <a:chOff x="5177679" y="2778360"/>
              <a:chExt cx="344111" cy="302145"/>
            </a:xfrm>
          </p:grpSpPr>
          <p:sp>
            <p:nvSpPr>
              <p:cNvPr id="33" name="矢印: 右 32">
                <a:extLst>
                  <a:ext uri="{FF2B5EF4-FFF2-40B4-BE49-F238E27FC236}">
                    <a16:creationId xmlns:a16="http://schemas.microsoft.com/office/drawing/2014/main" id="{0F7684FF-E0CA-FCAB-837E-B194F9FFE7D2}"/>
                  </a:ext>
                </a:extLst>
              </p:cNvPr>
              <p:cNvSpPr/>
              <p:nvPr/>
            </p:nvSpPr>
            <p:spPr>
              <a:xfrm>
                <a:off x="5263634" y="2778360"/>
                <a:ext cx="258156" cy="302145"/>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dirty="0">
                  <a:solidFill>
                    <a:schemeClr val="tx1"/>
                  </a:solidFill>
                  <a:latin typeface="游ゴシック Medium" panose="020B0500000000000000" pitchFamily="50" charset="-128"/>
                  <a:ea typeface="游ゴシック Medium" panose="020B0500000000000000" pitchFamily="50" charset="-128"/>
                </a:endParaRPr>
              </a:p>
            </p:txBody>
          </p:sp>
          <p:sp>
            <p:nvSpPr>
              <p:cNvPr id="34" name="矢印: 左 33">
                <a:extLst>
                  <a:ext uri="{FF2B5EF4-FFF2-40B4-BE49-F238E27FC236}">
                    <a16:creationId xmlns:a16="http://schemas.microsoft.com/office/drawing/2014/main" id="{DA300EC3-77C3-BB83-352F-67A0347903A8}"/>
                  </a:ext>
                </a:extLst>
              </p:cNvPr>
              <p:cNvSpPr/>
              <p:nvPr/>
            </p:nvSpPr>
            <p:spPr>
              <a:xfrm>
                <a:off x="5177679" y="2778360"/>
                <a:ext cx="258156" cy="302145"/>
              </a:xfrm>
              <a:prstGeom prst="lef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5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124" name="グループ化 123">
              <a:extLst>
                <a:ext uri="{FF2B5EF4-FFF2-40B4-BE49-F238E27FC236}">
                  <a16:creationId xmlns:a16="http://schemas.microsoft.com/office/drawing/2014/main" id="{FFCC8352-2AE3-FE60-76D8-30EEE9F8AC13}"/>
                </a:ext>
              </a:extLst>
            </p:cNvPr>
            <p:cNvGrpSpPr/>
            <p:nvPr/>
          </p:nvGrpSpPr>
          <p:grpSpPr>
            <a:xfrm>
              <a:off x="7865017" y="2718819"/>
              <a:ext cx="896805" cy="545227"/>
              <a:chOff x="2369328" y="2778360"/>
              <a:chExt cx="1698944" cy="545227"/>
            </a:xfrm>
          </p:grpSpPr>
          <p:sp>
            <p:nvSpPr>
              <p:cNvPr id="125" name="矢印: 右 124">
                <a:extLst>
                  <a:ext uri="{FF2B5EF4-FFF2-40B4-BE49-F238E27FC236}">
                    <a16:creationId xmlns:a16="http://schemas.microsoft.com/office/drawing/2014/main" id="{42136B91-24CE-BDC1-5E3F-353631601410}"/>
                  </a:ext>
                </a:extLst>
              </p:cNvPr>
              <p:cNvSpPr/>
              <p:nvPr/>
            </p:nvSpPr>
            <p:spPr>
              <a:xfrm>
                <a:off x="2369328" y="2778360"/>
                <a:ext cx="1698944" cy="302145"/>
              </a:xfrm>
              <a:prstGeom prst="righ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游ゴシック Medium" panose="020B0500000000000000" pitchFamily="50" charset="-128"/>
                    <a:ea typeface="游ゴシック Medium" panose="020B0500000000000000" pitchFamily="50" charset="-128"/>
                  </a:rPr>
                  <a:t>募集</a:t>
                </a:r>
              </a:p>
            </p:txBody>
          </p:sp>
          <p:sp>
            <p:nvSpPr>
              <p:cNvPr id="126" name="矢印: 左 125">
                <a:extLst>
                  <a:ext uri="{FF2B5EF4-FFF2-40B4-BE49-F238E27FC236}">
                    <a16:creationId xmlns:a16="http://schemas.microsoft.com/office/drawing/2014/main" id="{DE2C862C-06E5-FCE0-AA92-C6A58C1A0651}"/>
                  </a:ext>
                </a:extLst>
              </p:cNvPr>
              <p:cNvSpPr/>
              <p:nvPr/>
            </p:nvSpPr>
            <p:spPr>
              <a:xfrm>
                <a:off x="2369328" y="3021442"/>
                <a:ext cx="1698944" cy="302145"/>
              </a:xfrm>
              <a:prstGeom prst="left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游ゴシック Medium" panose="020B0500000000000000" pitchFamily="50" charset="-128"/>
                    <a:ea typeface="游ゴシック Medium" panose="020B0500000000000000" pitchFamily="50" charset="-128"/>
                  </a:rPr>
                  <a:t>経歴書</a:t>
                </a:r>
              </a:p>
            </p:txBody>
          </p:sp>
        </p:grpSp>
      </p:grpSp>
      <p:sp>
        <p:nvSpPr>
          <p:cNvPr id="127" name="テキスト ボックス 5">
            <a:extLst>
              <a:ext uri="{FF2B5EF4-FFF2-40B4-BE49-F238E27FC236}">
                <a16:creationId xmlns:a16="http://schemas.microsoft.com/office/drawing/2014/main" id="{7BC40299-8922-9AB9-866A-8368665C8FFC}"/>
              </a:ext>
            </a:extLst>
          </p:cNvPr>
          <p:cNvSpPr txBox="1"/>
          <p:nvPr/>
        </p:nvSpPr>
        <p:spPr>
          <a:xfrm>
            <a:off x="5116968" y="5329678"/>
            <a:ext cx="2350632" cy="598662"/>
          </a:xfrm>
          <a:prstGeom prst="roundRect">
            <a:avLst/>
          </a:prstGeom>
          <a:solidFill>
            <a:schemeClr val="accent5">
              <a:lumMod val="20000"/>
              <a:lumOff val="80000"/>
            </a:schemeClr>
          </a:solidFill>
          <a:ln w="28575">
            <a:solidFill>
              <a:schemeClr val="accent5"/>
            </a:solidFill>
          </a:ln>
        </p:spPr>
        <p:txBody>
          <a:bodyPr wrap="square" rtlCol="0" anchor="b">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kumimoji="1" lang="ja-JP" altLang="en-US" sz="1200" dirty="0">
                <a:solidFill>
                  <a:schemeClr val="accent1"/>
                </a:solidFill>
                <a:latin typeface="游ゴシック Medium" panose="020B0500000000000000" pitchFamily="50" charset="-128"/>
                <a:ea typeface="游ゴシック Medium" panose="020B0500000000000000" pitchFamily="50" charset="-128"/>
              </a:rPr>
              <a:t>要員管理</a:t>
            </a:r>
            <a:r>
              <a:rPr kumimoji="1" lang="en-US" altLang="ja-JP" sz="1200" dirty="0">
                <a:solidFill>
                  <a:schemeClr val="accent1"/>
                </a:solidFill>
                <a:latin typeface="游ゴシック Medium" panose="020B0500000000000000" pitchFamily="50" charset="-128"/>
                <a:ea typeface="游ゴシック Medium" panose="020B0500000000000000" pitchFamily="50" charset="-128"/>
              </a:rPr>
              <a:t>PF(</a:t>
            </a:r>
            <a:r>
              <a:rPr lang="ja-JP" altLang="en-US" sz="1200" b="1" u="sng" dirty="0">
                <a:solidFill>
                  <a:schemeClr val="accent1"/>
                </a:solidFill>
                <a:latin typeface="游ゴシック Medium" panose="020B0500000000000000" pitchFamily="50" charset="-128"/>
                <a:ea typeface="游ゴシック Medium" panose="020B0500000000000000" pitchFamily="50" charset="-128"/>
              </a:rPr>
              <a:t>蓄積データ有り</a:t>
            </a:r>
            <a:r>
              <a:rPr kumimoji="1" lang="en-US" altLang="ja-JP" sz="1200" dirty="0">
                <a:solidFill>
                  <a:schemeClr val="accent1"/>
                </a:solidFill>
                <a:latin typeface="游ゴシック Medium" panose="020B0500000000000000" pitchFamily="50" charset="-128"/>
                <a:ea typeface="游ゴシック Medium" panose="020B0500000000000000" pitchFamily="50" charset="-128"/>
              </a:rPr>
              <a:t>)</a:t>
            </a:r>
            <a:endParaRPr kumimoji="1" lang="ja-JP" altLang="en-US" sz="1200" dirty="0">
              <a:solidFill>
                <a:schemeClr val="accent1"/>
              </a:solidFill>
              <a:latin typeface="游ゴシック Medium" panose="020B0500000000000000" pitchFamily="50" charset="-128"/>
              <a:ea typeface="游ゴシック Medium" panose="020B0500000000000000" pitchFamily="50" charset="-128"/>
            </a:endParaRPr>
          </a:p>
        </p:txBody>
      </p:sp>
      <p:grpSp>
        <p:nvGrpSpPr>
          <p:cNvPr id="128" name="グループ化 127">
            <a:extLst>
              <a:ext uri="{FF2B5EF4-FFF2-40B4-BE49-F238E27FC236}">
                <a16:creationId xmlns:a16="http://schemas.microsoft.com/office/drawing/2014/main" id="{008719E6-669F-D395-5CDD-6293DE8B8AC6}"/>
              </a:ext>
            </a:extLst>
          </p:cNvPr>
          <p:cNvGrpSpPr/>
          <p:nvPr/>
        </p:nvGrpSpPr>
        <p:grpSpPr>
          <a:xfrm>
            <a:off x="2550417" y="5106758"/>
            <a:ext cx="990537" cy="883449"/>
            <a:chOff x="10458970" y="5216994"/>
            <a:chExt cx="1100770" cy="981767"/>
          </a:xfrm>
        </p:grpSpPr>
        <p:pic>
          <p:nvPicPr>
            <p:cNvPr id="129" name="グラフィックス 128" descr="プログラマー男性 単色塗りつぶし">
              <a:extLst>
                <a:ext uri="{FF2B5EF4-FFF2-40B4-BE49-F238E27FC236}">
                  <a16:creationId xmlns:a16="http://schemas.microsoft.com/office/drawing/2014/main" id="{52B45EB9-CA6B-E50A-4D76-8F2887D7678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6718" y="5216994"/>
              <a:ext cx="665285" cy="665285"/>
            </a:xfrm>
            <a:prstGeom prst="rect">
              <a:avLst/>
            </a:prstGeom>
          </p:spPr>
        </p:pic>
        <p:sp>
          <p:nvSpPr>
            <p:cNvPr id="130" name="四角形: 角を丸くする 129">
              <a:extLst>
                <a:ext uri="{FF2B5EF4-FFF2-40B4-BE49-F238E27FC236}">
                  <a16:creationId xmlns:a16="http://schemas.microsoft.com/office/drawing/2014/main" id="{FF122B8B-F410-3985-3362-1AC723CEEDF7}"/>
                </a:ext>
              </a:extLst>
            </p:cNvPr>
            <p:cNvSpPr/>
            <p:nvPr/>
          </p:nvSpPr>
          <p:spPr>
            <a:xfrm>
              <a:off x="10458970" y="5877108"/>
              <a:ext cx="1100770" cy="321653"/>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案件</a:t>
              </a:r>
              <a:r>
                <a:rPr kumimoji="1" lang="ja-JP" altLang="en-US" sz="1100" dirty="0">
                  <a:solidFill>
                    <a:schemeClr val="tx1"/>
                  </a:solidFill>
                  <a:latin typeface="游ゴシック Medium" panose="020B0500000000000000" pitchFamily="50" charset="-128"/>
                  <a:ea typeface="游ゴシック Medium" panose="020B0500000000000000" pitchFamily="50" charset="-128"/>
                </a:rPr>
                <a:t>会社</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PM</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131" name="グループ化 130">
            <a:extLst>
              <a:ext uri="{FF2B5EF4-FFF2-40B4-BE49-F238E27FC236}">
                <a16:creationId xmlns:a16="http://schemas.microsoft.com/office/drawing/2014/main" id="{2A228726-F59D-0861-D85C-393A48A714B7}"/>
              </a:ext>
            </a:extLst>
          </p:cNvPr>
          <p:cNvGrpSpPr/>
          <p:nvPr/>
        </p:nvGrpSpPr>
        <p:grpSpPr>
          <a:xfrm>
            <a:off x="9043614" y="5106758"/>
            <a:ext cx="950449" cy="883449"/>
            <a:chOff x="10481244" y="5216994"/>
            <a:chExt cx="1056221" cy="981767"/>
          </a:xfrm>
        </p:grpSpPr>
        <p:pic>
          <p:nvPicPr>
            <p:cNvPr id="132" name="グラフィックス 131" descr="プログラマー男性 単色塗りつぶし">
              <a:extLst>
                <a:ext uri="{FF2B5EF4-FFF2-40B4-BE49-F238E27FC236}">
                  <a16:creationId xmlns:a16="http://schemas.microsoft.com/office/drawing/2014/main" id="{BD90961B-5F4B-7685-25DB-AE668E7DFB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76718" y="5216994"/>
              <a:ext cx="665285" cy="665285"/>
            </a:xfrm>
            <a:prstGeom prst="rect">
              <a:avLst/>
            </a:prstGeom>
          </p:spPr>
        </p:pic>
        <p:sp>
          <p:nvSpPr>
            <p:cNvPr id="133" name="四角形: 角を丸くする 132">
              <a:extLst>
                <a:ext uri="{FF2B5EF4-FFF2-40B4-BE49-F238E27FC236}">
                  <a16:creationId xmlns:a16="http://schemas.microsoft.com/office/drawing/2014/main" id="{A826ECC8-E5E9-9AB6-03B9-EB581A3FC9E9}"/>
                </a:ext>
              </a:extLst>
            </p:cNvPr>
            <p:cNvSpPr/>
            <p:nvPr/>
          </p:nvSpPr>
          <p:spPr>
            <a:xfrm>
              <a:off x="10481244" y="5877108"/>
              <a:ext cx="1056221" cy="321653"/>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要員会社</a:t>
              </a:r>
              <a:r>
                <a:rPr lang="en-US" altLang="ja-JP" sz="1100" dirty="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sp>
        <p:nvSpPr>
          <p:cNvPr id="134" name="吹き出し: 角を丸めた四角形 133">
            <a:extLst>
              <a:ext uri="{FF2B5EF4-FFF2-40B4-BE49-F238E27FC236}">
                <a16:creationId xmlns:a16="http://schemas.microsoft.com/office/drawing/2014/main" id="{F986A7AD-06B5-1527-6D33-D5B81534B80B}"/>
              </a:ext>
            </a:extLst>
          </p:cNvPr>
          <p:cNvSpPr/>
          <p:nvPr/>
        </p:nvSpPr>
        <p:spPr>
          <a:xfrm>
            <a:off x="1361657" y="5277468"/>
            <a:ext cx="1115970" cy="568018"/>
          </a:xfrm>
          <a:prstGeom prst="wedgeRoundRectCallout">
            <a:avLst>
              <a:gd name="adj1" fmla="val 67656"/>
              <a:gd name="adj2" fmla="val 1313"/>
              <a:gd name="adj3" fmla="val 16667"/>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実績・評価が</a:t>
            </a:r>
            <a:endParaRPr kumimoji="1" lang="en-US" altLang="ja-JP" sz="1100" dirty="0">
              <a:solidFill>
                <a:schemeClr val="tx1"/>
              </a:solidFill>
              <a:latin typeface="游ゴシック Medium" panose="020B0500000000000000" pitchFamily="50" charset="-128"/>
              <a:ea typeface="游ゴシック Medium" panose="020B0500000000000000" pitchFamily="50" charset="-128"/>
            </a:endParaRPr>
          </a:p>
          <a:p>
            <a:pP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あるから納得</a:t>
            </a:r>
          </a:p>
        </p:txBody>
      </p:sp>
      <p:sp>
        <p:nvSpPr>
          <p:cNvPr id="135" name="矢印: 右 134">
            <a:extLst>
              <a:ext uri="{FF2B5EF4-FFF2-40B4-BE49-F238E27FC236}">
                <a16:creationId xmlns:a16="http://schemas.microsoft.com/office/drawing/2014/main" id="{79B55E5C-4FDE-B071-22F8-8A4FBE4F2D95}"/>
              </a:ext>
            </a:extLst>
          </p:cNvPr>
          <p:cNvSpPr/>
          <p:nvPr/>
        </p:nvSpPr>
        <p:spPr>
          <a:xfrm>
            <a:off x="3540954" y="5363544"/>
            <a:ext cx="5502660" cy="302145"/>
          </a:xfrm>
          <a:prstGeom prst="rightArrow">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solidFill>
                <a:latin typeface="游ゴシック Medium" panose="020B0500000000000000" pitchFamily="50" charset="-128"/>
                <a:ea typeface="游ゴシック Medium" panose="020B0500000000000000" pitchFamily="50" charset="-128"/>
              </a:rPr>
              <a:t>検索・閲覧・直接のオファー</a:t>
            </a:r>
          </a:p>
        </p:txBody>
      </p:sp>
      <p:sp>
        <p:nvSpPr>
          <p:cNvPr id="136" name="吹き出し: 角を丸めた四角形 135">
            <a:extLst>
              <a:ext uri="{FF2B5EF4-FFF2-40B4-BE49-F238E27FC236}">
                <a16:creationId xmlns:a16="http://schemas.microsoft.com/office/drawing/2014/main" id="{9EFDBECE-7009-BB1E-694A-0BE378C8F4AA}"/>
              </a:ext>
            </a:extLst>
          </p:cNvPr>
          <p:cNvSpPr/>
          <p:nvPr/>
        </p:nvSpPr>
        <p:spPr>
          <a:xfrm>
            <a:off x="10131435" y="5277468"/>
            <a:ext cx="1398717" cy="568018"/>
          </a:xfrm>
          <a:prstGeom prst="wedgeRoundRectCallout">
            <a:avLst>
              <a:gd name="adj1" fmla="val -66119"/>
              <a:gd name="adj2" fmla="val 2803"/>
              <a:gd name="adj3" fmla="val 16667"/>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実績・評価から</a:t>
            </a:r>
            <a:endParaRPr kumimoji="1" lang="en-US" altLang="ja-JP" sz="1100" dirty="0">
              <a:solidFill>
                <a:schemeClr val="tx1"/>
              </a:solidFill>
              <a:latin typeface="游ゴシック Medium" panose="020B0500000000000000" pitchFamily="50" charset="-128"/>
              <a:ea typeface="游ゴシック Medium" panose="020B0500000000000000" pitchFamily="50" charset="-128"/>
            </a:endParaRPr>
          </a:p>
          <a:p>
            <a:pP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高単価案件に参画</a:t>
            </a:r>
          </a:p>
        </p:txBody>
      </p:sp>
      <p:grpSp>
        <p:nvGrpSpPr>
          <p:cNvPr id="141" name="グループ化 140">
            <a:extLst>
              <a:ext uri="{FF2B5EF4-FFF2-40B4-BE49-F238E27FC236}">
                <a16:creationId xmlns:a16="http://schemas.microsoft.com/office/drawing/2014/main" id="{501EC559-CA73-5D50-ED28-184BB056F603}"/>
              </a:ext>
            </a:extLst>
          </p:cNvPr>
          <p:cNvGrpSpPr/>
          <p:nvPr/>
        </p:nvGrpSpPr>
        <p:grpSpPr>
          <a:xfrm>
            <a:off x="9032660" y="5943361"/>
            <a:ext cx="961403" cy="308907"/>
            <a:chOff x="9071907" y="6077993"/>
            <a:chExt cx="961403" cy="308907"/>
          </a:xfrm>
        </p:grpSpPr>
        <p:sp>
          <p:nvSpPr>
            <p:cNvPr id="138" name="星: 5 pt 137">
              <a:extLst>
                <a:ext uri="{FF2B5EF4-FFF2-40B4-BE49-F238E27FC236}">
                  <a16:creationId xmlns:a16="http://schemas.microsoft.com/office/drawing/2014/main" id="{29963129-058B-77EA-9C33-ADA83F4C1DE7}"/>
                </a:ext>
              </a:extLst>
            </p:cNvPr>
            <p:cNvSpPr/>
            <p:nvPr/>
          </p:nvSpPr>
          <p:spPr>
            <a:xfrm>
              <a:off x="9071907"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9" name="星: 5 pt 138">
              <a:extLst>
                <a:ext uri="{FF2B5EF4-FFF2-40B4-BE49-F238E27FC236}">
                  <a16:creationId xmlns:a16="http://schemas.microsoft.com/office/drawing/2014/main" id="{549C4607-7D24-9A1D-EBD7-2AF27AEEA551}"/>
                </a:ext>
              </a:extLst>
            </p:cNvPr>
            <p:cNvSpPr/>
            <p:nvPr/>
          </p:nvSpPr>
          <p:spPr>
            <a:xfrm>
              <a:off x="9401104"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0" name="星: 5 pt 139">
              <a:extLst>
                <a:ext uri="{FF2B5EF4-FFF2-40B4-BE49-F238E27FC236}">
                  <a16:creationId xmlns:a16="http://schemas.microsoft.com/office/drawing/2014/main" id="{F5319F57-1D8A-086D-EFB0-F8DD4BE06EB2}"/>
                </a:ext>
              </a:extLst>
            </p:cNvPr>
            <p:cNvSpPr/>
            <p:nvPr/>
          </p:nvSpPr>
          <p:spPr>
            <a:xfrm>
              <a:off x="9724403"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9" name="四角形: 角を丸くする 158">
            <a:extLst>
              <a:ext uri="{FF2B5EF4-FFF2-40B4-BE49-F238E27FC236}">
                <a16:creationId xmlns:a16="http://schemas.microsoft.com/office/drawing/2014/main" id="{29E49F85-DDB3-78EC-497F-B24A51B5ABD4}"/>
              </a:ext>
            </a:extLst>
          </p:cNvPr>
          <p:cNvSpPr/>
          <p:nvPr/>
        </p:nvSpPr>
        <p:spPr>
          <a:xfrm>
            <a:off x="530616" y="3248782"/>
            <a:ext cx="515930" cy="306467"/>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r>
              <a:rPr kumimoji="1" lang="en-US" altLang="ja-JP" sz="1200" dirty="0">
                <a:solidFill>
                  <a:schemeClr val="accent1"/>
                </a:solidFill>
                <a:latin typeface="游ゴシック Medium" panose="020B0500000000000000" pitchFamily="50" charset="-128"/>
                <a:ea typeface="游ゴシック Medium" panose="020B0500000000000000" pitchFamily="50" charset="-128"/>
              </a:rPr>
              <a:t>AsIs</a:t>
            </a:r>
            <a:endParaRPr kumimoji="1" lang="ja-JP" altLang="en-US" sz="1200" dirty="0">
              <a:solidFill>
                <a:schemeClr val="accent1"/>
              </a:solidFill>
              <a:latin typeface="游ゴシック Medium" panose="020B0500000000000000" pitchFamily="50" charset="-128"/>
              <a:ea typeface="游ゴシック Medium" panose="020B0500000000000000" pitchFamily="50" charset="-128"/>
            </a:endParaRPr>
          </a:p>
        </p:txBody>
      </p:sp>
      <p:sp>
        <p:nvSpPr>
          <p:cNvPr id="161" name="四角形: 角を丸くする 160">
            <a:extLst>
              <a:ext uri="{FF2B5EF4-FFF2-40B4-BE49-F238E27FC236}">
                <a16:creationId xmlns:a16="http://schemas.microsoft.com/office/drawing/2014/main" id="{20F3297D-AA16-D379-9D63-D043E0B440DC}"/>
              </a:ext>
            </a:extLst>
          </p:cNvPr>
          <p:cNvSpPr/>
          <p:nvPr/>
        </p:nvSpPr>
        <p:spPr>
          <a:xfrm>
            <a:off x="476677" y="4660021"/>
            <a:ext cx="623808" cy="306467"/>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r>
              <a:rPr lang="en-US" altLang="ja-JP" sz="1200" dirty="0">
                <a:solidFill>
                  <a:schemeClr val="accent1"/>
                </a:solidFill>
                <a:latin typeface="游ゴシック Medium" panose="020B0500000000000000" pitchFamily="50" charset="-128"/>
                <a:ea typeface="游ゴシック Medium" panose="020B0500000000000000" pitchFamily="50" charset="-128"/>
              </a:rPr>
              <a:t>Step1</a:t>
            </a:r>
            <a:endParaRPr kumimoji="1" lang="ja-JP" altLang="en-US" sz="1200" dirty="0">
              <a:solidFill>
                <a:schemeClr val="accent1"/>
              </a:solidFill>
              <a:latin typeface="游ゴシック Medium" panose="020B0500000000000000" pitchFamily="50" charset="-128"/>
              <a:ea typeface="游ゴシック Medium" panose="020B0500000000000000" pitchFamily="50" charset="-128"/>
            </a:endParaRPr>
          </a:p>
        </p:txBody>
      </p:sp>
      <p:cxnSp>
        <p:nvCxnSpPr>
          <p:cNvPr id="156" name="直線コネクタ 155">
            <a:extLst>
              <a:ext uri="{FF2B5EF4-FFF2-40B4-BE49-F238E27FC236}">
                <a16:creationId xmlns:a16="http://schemas.microsoft.com/office/drawing/2014/main" id="{16952B68-BCA5-5A65-63A3-BEAE1A63AC3E}"/>
              </a:ext>
            </a:extLst>
          </p:cNvPr>
          <p:cNvCxnSpPr>
            <a:cxnSpLocks/>
          </p:cNvCxnSpPr>
          <p:nvPr/>
        </p:nvCxnSpPr>
        <p:spPr>
          <a:xfrm>
            <a:off x="491069" y="3539860"/>
            <a:ext cx="11101579"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0" name="直線コネクタ 159">
            <a:extLst>
              <a:ext uri="{FF2B5EF4-FFF2-40B4-BE49-F238E27FC236}">
                <a16:creationId xmlns:a16="http://schemas.microsoft.com/office/drawing/2014/main" id="{71B531BD-6F47-4AFB-6439-74E3C55D5363}"/>
              </a:ext>
            </a:extLst>
          </p:cNvPr>
          <p:cNvCxnSpPr>
            <a:cxnSpLocks/>
          </p:cNvCxnSpPr>
          <p:nvPr/>
        </p:nvCxnSpPr>
        <p:spPr>
          <a:xfrm>
            <a:off x="491068" y="4951099"/>
            <a:ext cx="11101579"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2" name="直線コネクタ 161">
            <a:extLst>
              <a:ext uri="{FF2B5EF4-FFF2-40B4-BE49-F238E27FC236}">
                <a16:creationId xmlns:a16="http://schemas.microsoft.com/office/drawing/2014/main" id="{F7E4F4F3-9666-27BB-49E3-D442FB4B0897}"/>
              </a:ext>
            </a:extLst>
          </p:cNvPr>
          <p:cNvCxnSpPr>
            <a:cxnSpLocks/>
          </p:cNvCxnSpPr>
          <p:nvPr/>
        </p:nvCxnSpPr>
        <p:spPr>
          <a:xfrm>
            <a:off x="491068" y="6362338"/>
            <a:ext cx="11101579" cy="0"/>
          </a:xfrm>
          <a:prstGeom prst="lin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63" name="四角形: 角を丸くする 162">
            <a:extLst>
              <a:ext uri="{FF2B5EF4-FFF2-40B4-BE49-F238E27FC236}">
                <a16:creationId xmlns:a16="http://schemas.microsoft.com/office/drawing/2014/main" id="{0BA38AF4-B485-1FDE-B089-F61CD69CF5BD}"/>
              </a:ext>
            </a:extLst>
          </p:cNvPr>
          <p:cNvSpPr/>
          <p:nvPr/>
        </p:nvSpPr>
        <p:spPr>
          <a:xfrm>
            <a:off x="476677" y="6071260"/>
            <a:ext cx="623808" cy="306467"/>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r>
              <a:rPr lang="en-US" altLang="ja-JP" sz="1200" dirty="0">
                <a:solidFill>
                  <a:schemeClr val="accent1"/>
                </a:solidFill>
                <a:latin typeface="游ゴシック Medium" panose="020B0500000000000000" pitchFamily="50" charset="-128"/>
                <a:ea typeface="游ゴシック Medium" panose="020B0500000000000000" pitchFamily="50" charset="-128"/>
              </a:rPr>
              <a:t>Step2</a:t>
            </a:r>
            <a:endParaRPr kumimoji="1" lang="ja-JP" altLang="en-US" sz="1200" dirty="0">
              <a:solidFill>
                <a:schemeClr val="accent1"/>
              </a:solidFill>
              <a:latin typeface="游ゴシック Medium" panose="020B0500000000000000" pitchFamily="50" charset="-128"/>
              <a:ea typeface="游ゴシック Medium" panose="020B0500000000000000" pitchFamily="50" charset="-128"/>
            </a:endParaRPr>
          </a:p>
        </p:txBody>
      </p:sp>
      <p:sp>
        <p:nvSpPr>
          <p:cNvPr id="172" name="二等辺三角形 171">
            <a:extLst>
              <a:ext uri="{FF2B5EF4-FFF2-40B4-BE49-F238E27FC236}">
                <a16:creationId xmlns:a16="http://schemas.microsoft.com/office/drawing/2014/main" id="{9DAFB3B1-0B20-57D2-55B2-28292263DE11}"/>
              </a:ext>
            </a:extLst>
          </p:cNvPr>
          <p:cNvSpPr/>
          <p:nvPr/>
        </p:nvSpPr>
        <p:spPr>
          <a:xfrm rot="10800000">
            <a:off x="531793" y="4107810"/>
            <a:ext cx="513576" cy="161307"/>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3" name="二等辺三角形 172">
            <a:extLst>
              <a:ext uri="{FF2B5EF4-FFF2-40B4-BE49-F238E27FC236}">
                <a16:creationId xmlns:a16="http://schemas.microsoft.com/office/drawing/2014/main" id="{18AC212D-4918-4562-B7C4-8E9D7395B9EC}"/>
              </a:ext>
            </a:extLst>
          </p:cNvPr>
          <p:cNvSpPr/>
          <p:nvPr/>
        </p:nvSpPr>
        <p:spPr>
          <a:xfrm rot="10800000">
            <a:off x="531793" y="5504382"/>
            <a:ext cx="513576" cy="161307"/>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08594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D3102-9737-9DF0-491E-406FCB5235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DAC05-3321-A4FD-080C-8200EA85A547}"/>
              </a:ext>
            </a:extLst>
          </p:cNvPr>
          <p:cNvSpPr>
            <a:spLocks noGrp="1"/>
          </p:cNvSpPr>
          <p:nvPr>
            <p:ph idx="1"/>
          </p:nvPr>
        </p:nvSpPr>
        <p:spPr>
          <a:xfrm>
            <a:off x="612647" y="931740"/>
            <a:ext cx="10653579" cy="2861327"/>
          </a:xfrm>
        </p:spPr>
        <p:txBody>
          <a:bodyPr vert="horz" lIns="91440" tIns="45720" rIns="91440" bIns="45720" rtlCol="0" anchor="t">
            <a:normAutofit/>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本プロダクトでは以下の理由から仲介会社を経由したマッチングを可能とする方針である</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dirty="0">
                <a:latin typeface="游ゴシック Medium" panose="020B0500000000000000" pitchFamily="50" charset="-128"/>
                <a:ea typeface="游ゴシック Medium" panose="020B0500000000000000" pitchFamily="50" charset="-128"/>
              </a:rPr>
              <a:t>・</a:t>
            </a:r>
            <a:r>
              <a:rPr lang="en-US" altLang="ja-JP" sz="1600" dirty="0">
                <a:latin typeface="游ゴシック Medium" panose="020B0500000000000000" pitchFamily="50" charset="-128"/>
                <a:ea typeface="游ゴシック Medium" panose="020B0500000000000000" pitchFamily="50" charset="-128"/>
              </a:rPr>
              <a:t>IT</a:t>
            </a:r>
            <a:r>
              <a:rPr lang="ja-JP" altLang="en-US" sz="1600" dirty="0">
                <a:latin typeface="游ゴシック Medium" panose="020B0500000000000000" pitchFamily="50" charset="-128"/>
                <a:ea typeface="游ゴシック Medium" panose="020B0500000000000000" pitchFamily="50" charset="-128"/>
              </a:rPr>
              <a:t>業界では要員の一部を外注で賄う動きを各社が行うことで、</a:t>
            </a:r>
            <a:r>
              <a:rPr lang="en-US" altLang="ja-JP" sz="1600" dirty="0">
                <a:latin typeface="游ゴシック Medium" panose="020B0500000000000000" pitchFamily="50" charset="-128"/>
                <a:ea typeface="游ゴシック Medium" panose="020B0500000000000000" pitchFamily="50" charset="-128"/>
              </a:rPr>
              <a:t>SE</a:t>
            </a:r>
            <a:r>
              <a:rPr lang="ja-JP" altLang="en-US" sz="1600" dirty="0">
                <a:latin typeface="游ゴシック Medium" panose="020B0500000000000000" pitchFamily="50" charset="-128"/>
                <a:ea typeface="游ゴシック Medium" panose="020B0500000000000000" pitchFamily="50" charset="-128"/>
              </a:rPr>
              <a:t>は末端の小企業に分散する形となっている</a:t>
            </a:r>
            <a:br>
              <a:rPr lang="en-US" altLang="ja-JP" sz="1600" dirty="0">
                <a:latin typeface="游ゴシック Medium" panose="020B0500000000000000" pitchFamily="50" charset="-128"/>
                <a:ea typeface="游ゴシック Medium" panose="020B0500000000000000" pitchFamily="50" charset="-128"/>
              </a:rPr>
            </a:br>
            <a:r>
              <a:rPr lang="ja-JP" altLang="en-US" sz="1600" dirty="0">
                <a:latin typeface="游ゴシック Medium" panose="020B0500000000000000" pitchFamily="50" charset="-128"/>
                <a:ea typeface="游ゴシック Medium" panose="020B0500000000000000" pitchFamily="50" charset="-128"/>
              </a:rPr>
              <a:t>　仲介業者は末端の小会社に繋がるためのネットワークの役割を持っており、マッチングにおいて欠かせない</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dirty="0">
                <a:latin typeface="游ゴシック Medium" panose="020B0500000000000000" pitchFamily="50" charset="-128"/>
                <a:ea typeface="游ゴシック Medium" panose="020B0500000000000000" pitchFamily="50" charset="-128"/>
              </a:rPr>
              <a:t>・案件</a:t>
            </a:r>
            <a:r>
              <a:rPr lang="en-US" altLang="ja-JP" sz="1600" dirty="0">
                <a:latin typeface="游ゴシック Medium" panose="020B0500000000000000" pitchFamily="50" charset="-128"/>
                <a:ea typeface="游ゴシック Medium" panose="020B0500000000000000" pitchFamily="50" charset="-128"/>
              </a:rPr>
              <a:t>/</a:t>
            </a:r>
            <a:r>
              <a:rPr lang="ja-JP" altLang="en-US" sz="1600" dirty="0">
                <a:latin typeface="游ゴシック Medium" panose="020B0500000000000000" pitchFamily="50" charset="-128"/>
                <a:ea typeface="游ゴシック Medium" panose="020B0500000000000000" pitchFamily="50" charset="-128"/>
              </a:rPr>
              <a:t>要員会社が仲介事業も兼務している場合が多く、市場にフィットさせるために仲介機能が必要</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dirty="0">
                <a:latin typeface="游ゴシック Medium" panose="020B0500000000000000" pitchFamily="50" charset="-128"/>
                <a:ea typeface="游ゴシック Medium" panose="020B0500000000000000" pitchFamily="50" charset="-128"/>
              </a:rPr>
              <a:t>・会社の与信などの制約を解消するため、案件会社</a:t>
            </a:r>
            <a:r>
              <a:rPr lang="en-US" altLang="ja-JP" sz="1600" dirty="0">
                <a:latin typeface="游ゴシック Medium" panose="020B0500000000000000" pitchFamily="50" charset="-128"/>
                <a:ea typeface="游ゴシック Medium" panose="020B0500000000000000" pitchFamily="50" charset="-128"/>
              </a:rPr>
              <a:t>/</a:t>
            </a:r>
            <a:r>
              <a:rPr lang="ja-JP" altLang="en-US" sz="1600" dirty="0">
                <a:latin typeface="游ゴシック Medium" panose="020B0500000000000000" pitchFamily="50" charset="-128"/>
                <a:ea typeface="游ゴシック Medium" panose="020B0500000000000000" pitchFamily="50" charset="-128"/>
              </a:rPr>
              <a:t>要員会社合意の上で仲介会社が必要となるケースがある</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dirty="0">
                <a:latin typeface="游ゴシック Medium" panose="020B0500000000000000" pitchFamily="50" charset="-128"/>
                <a:ea typeface="游ゴシック Medium" panose="020B0500000000000000" pitchFamily="50" charset="-128"/>
              </a:rPr>
              <a:t>仲介会社は繋がっている要員の情報に</a:t>
            </a:r>
            <a:r>
              <a:rPr lang="ja-JP" altLang="en-US" sz="1600" u="sng" dirty="0">
                <a:latin typeface="游ゴシック Medium" panose="020B0500000000000000" pitchFamily="50" charset="-128"/>
                <a:ea typeface="游ゴシック Medium" panose="020B0500000000000000" pitchFamily="50" charset="-128"/>
              </a:rPr>
              <a:t>マージンを上乗せ</a:t>
            </a:r>
            <a:r>
              <a:rPr lang="ja-JP" altLang="en-US" sz="1600" dirty="0">
                <a:latin typeface="游ゴシック Medium" panose="020B0500000000000000" pitchFamily="50" charset="-128"/>
                <a:ea typeface="游ゴシック Medium" panose="020B0500000000000000" pitchFamily="50" charset="-128"/>
              </a:rPr>
              <a:t>して情報公開できる仕組みとする想定</a:t>
            </a:r>
            <a:endParaRPr lang="en-US" altLang="ja-JP" sz="1600" dirty="0">
              <a:latin typeface="游ゴシック Medium" panose="020B0500000000000000" pitchFamily="50" charset="-128"/>
              <a:ea typeface="游ゴシック Medium" panose="020B0500000000000000" pitchFamily="50" charset="-128"/>
            </a:endParaRPr>
          </a:p>
        </p:txBody>
      </p:sp>
      <p:sp>
        <p:nvSpPr>
          <p:cNvPr id="4" name="Date Placeholder 3">
            <a:extLst>
              <a:ext uri="{FF2B5EF4-FFF2-40B4-BE49-F238E27FC236}">
                <a16:creationId xmlns:a16="http://schemas.microsoft.com/office/drawing/2014/main" id="{4BAE4288-E06D-DEAB-17A2-92F4D344EAE2}"/>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ADC3D8C7-2D9D-6A39-E4E0-9B08DCFBE8B2}"/>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ED7AC95D-038C-DBBF-7443-E9EB00A822A1}"/>
              </a:ext>
            </a:extLst>
          </p:cNvPr>
          <p:cNvSpPr>
            <a:spLocks noGrp="1"/>
          </p:cNvSpPr>
          <p:nvPr>
            <p:ph type="sldNum" sz="quarter" idx="12"/>
          </p:nvPr>
        </p:nvSpPr>
        <p:spPr/>
        <p:txBody>
          <a:bodyPr/>
          <a:lstStyle/>
          <a:p>
            <a:fld id="{CC057153-B650-4DEB-B370-79DDCFDCE934}" type="slidenum">
              <a:rPr lang="en-US" dirty="0"/>
              <a:t>7</a:t>
            </a:fld>
            <a:endParaRPr lang="en-US"/>
          </a:p>
        </p:txBody>
      </p:sp>
      <p:sp>
        <p:nvSpPr>
          <p:cNvPr id="18" name="Title 1">
            <a:extLst>
              <a:ext uri="{FF2B5EF4-FFF2-40B4-BE49-F238E27FC236}">
                <a16:creationId xmlns:a16="http://schemas.microsoft.com/office/drawing/2014/main" id="{48803BDF-5F1D-822F-3357-34CC914F4012}"/>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仲介会社の扱い</a:t>
            </a:r>
          </a:p>
        </p:txBody>
      </p:sp>
      <p:sp>
        <p:nvSpPr>
          <p:cNvPr id="30" name="テキスト ボックス 5">
            <a:extLst>
              <a:ext uri="{FF2B5EF4-FFF2-40B4-BE49-F238E27FC236}">
                <a16:creationId xmlns:a16="http://schemas.microsoft.com/office/drawing/2014/main" id="{A6FD3980-6D90-CEB4-E7DC-CCCE82029315}"/>
              </a:ext>
            </a:extLst>
          </p:cNvPr>
          <p:cNvSpPr txBox="1"/>
          <p:nvPr/>
        </p:nvSpPr>
        <p:spPr>
          <a:xfrm>
            <a:off x="2952177" y="3793067"/>
            <a:ext cx="1062587" cy="2481797"/>
          </a:xfrm>
          <a:prstGeom prst="roundRect">
            <a:avLst/>
          </a:prstGeom>
          <a:solidFill>
            <a:schemeClr val="accent5">
              <a:lumMod val="20000"/>
              <a:lumOff val="80000"/>
            </a:schemeClr>
          </a:solidFill>
          <a:ln w="28575">
            <a:solidFill>
              <a:schemeClr val="accent5"/>
            </a:solidFill>
          </a:ln>
        </p:spPr>
        <p:txBody>
          <a:bodyPr wrap="square" rtlCol="0">
            <a:no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100" b="1" u="sng"/>
              <a:t>案件</a:t>
            </a:r>
            <a:r>
              <a:rPr kumimoji="1" lang="ja-JP" altLang="en-US" sz="1100"/>
              <a:t>会社</a:t>
            </a:r>
          </a:p>
        </p:txBody>
      </p:sp>
      <p:sp>
        <p:nvSpPr>
          <p:cNvPr id="27" name="テキスト ボックス 5">
            <a:extLst>
              <a:ext uri="{FF2B5EF4-FFF2-40B4-BE49-F238E27FC236}">
                <a16:creationId xmlns:a16="http://schemas.microsoft.com/office/drawing/2014/main" id="{C4C38EC0-0674-E187-9DB8-5E6C32B13896}"/>
              </a:ext>
            </a:extLst>
          </p:cNvPr>
          <p:cNvSpPr txBox="1"/>
          <p:nvPr/>
        </p:nvSpPr>
        <p:spPr>
          <a:xfrm>
            <a:off x="5197825" y="3793067"/>
            <a:ext cx="1795642" cy="2481797"/>
          </a:xfrm>
          <a:prstGeom prst="roundRect">
            <a:avLst/>
          </a:prstGeom>
          <a:solidFill>
            <a:schemeClr val="accent5">
              <a:lumMod val="20000"/>
              <a:lumOff val="80000"/>
            </a:schemeClr>
          </a:solidFill>
          <a:ln w="28575">
            <a:solidFill>
              <a:schemeClr val="accent5"/>
            </a:solidFill>
          </a:ln>
        </p:spPr>
        <p:txBody>
          <a:bodyPr wrap="square" rtlCol="0">
            <a:noAutofit/>
          </a:bodyPr>
          <a:lstStyle>
            <a:defPPr>
              <a:defRPr lang="ja-JP"/>
            </a:defPPr>
            <a:lvl1pPr>
              <a:defRPr sz="1400" b="1" u="sng"/>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100" b="0" u="none" dirty="0"/>
              <a:t>仲介会社</a:t>
            </a:r>
          </a:p>
        </p:txBody>
      </p:sp>
      <p:sp>
        <p:nvSpPr>
          <p:cNvPr id="22" name="テキスト ボックス 5">
            <a:extLst>
              <a:ext uri="{FF2B5EF4-FFF2-40B4-BE49-F238E27FC236}">
                <a16:creationId xmlns:a16="http://schemas.microsoft.com/office/drawing/2014/main" id="{D68402BC-1FEB-B31E-39AF-11A8B3C359D7}"/>
              </a:ext>
            </a:extLst>
          </p:cNvPr>
          <p:cNvSpPr txBox="1"/>
          <p:nvPr/>
        </p:nvSpPr>
        <p:spPr>
          <a:xfrm>
            <a:off x="8285683" y="3793067"/>
            <a:ext cx="1062587" cy="2481797"/>
          </a:xfrm>
          <a:prstGeom prst="roundRect">
            <a:avLst/>
          </a:prstGeom>
          <a:solidFill>
            <a:schemeClr val="accent5">
              <a:lumMod val="20000"/>
              <a:lumOff val="80000"/>
            </a:schemeClr>
          </a:solidFill>
          <a:ln w="28575">
            <a:solidFill>
              <a:schemeClr val="accent5"/>
            </a:solidFill>
          </a:ln>
        </p:spPr>
        <p:txBody>
          <a:bodyPr wrap="square" rtlCol="0">
            <a:noAutofit/>
          </a:bodyPr>
          <a:lstStyle>
            <a:defPPr>
              <a:defRPr lang="ja-JP"/>
            </a:defPPr>
            <a:lvl1pPr>
              <a:defRPr sz="1400" b="1" u="sng"/>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100" dirty="0"/>
              <a:t>要員</a:t>
            </a:r>
            <a:r>
              <a:rPr lang="ja-JP" altLang="en-US" sz="1100" b="0" u="none" dirty="0"/>
              <a:t>会社</a:t>
            </a:r>
          </a:p>
        </p:txBody>
      </p:sp>
      <p:cxnSp>
        <p:nvCxnSpPr>
          <p:cNvPr id="7" name="直線コネクタ 6">
            <a:extLst>
              <a:ext uri="{FF2B5EF4-FFF2-40B4-BE49-F238E27FC236}">
                <a16:creationId xmlns:a16="http://schemas.microsoft.com/office/drawing/2014/main" id="{E92E28E6-6D66-E8D4-D432-AAAA42CA64AE}"/>
              </a:ext>
            </a:extLst>
          </p:cNvPr>
          <p:cNvCxnSpPr>
            <a:cxnSpLocks/>
            <a:stCxn id="27" idx="1"/>
            <a:endCxn id="30" idx="3"/>
          </p:cNvCxnSpPr>
          <p:nvPr/>
        </p:nvCxnSpPr>
        <p:spPr>
          <a:xfrm flipH="1">
            <a:off x="4014764" y="5033966"/>
            <a:ext cx="1183061" cy="0"/>
          </a:xfrm>
          <a:prstGeom prst="line">
            <a:avLst/>
          </a:prstGeom>
          <a:ln w="76200">
            <a:solidFill>
              <a:schemeClr val="accent5"/>
            </a:solidFill>
          </a:ln>
        </p:spPr>
        <p:style>
          <a:lnRef idx="2">
            <a:schemeClr val="accent1"/>
          </a:lnRef>
          <a:fillRef idx="0">
            <a:schemeClr val="accent1"/>
          </a:fillRef>
          <a:effectRef idx="1">
            <a:schemeClr val="accent1"/>
          </a:effectRef>
          <a:fontRef idx="minor">
            <a:schemeClr val="tx1"/>
          </a:fontRef>
        </p:style>
      </p:cxnSp>
      <p:sp>
        <p:nvSpPr>
          <p:cNvPr id="8" name="コンテンツ プレースホルダー 2">
            <a:extLst>
              <a:ext uri="{FF2B5EF4-FFF2-40B4-BE49-F238E27FC236}">
                <a16:creationId xmlns:a16="http://schemas.microsoft.com/office/drawing/2014/main" id="{895E7788-C2EF-0367-361F-C727FE091337}"/>
              </a:ext>
            </a:extLst>
          </p:cNvPr>
          <p:cNvSpPr txBox="1">
            <a:spLocks/>
          </p:cNvSpPr>
          <p:nvPr/>
        </p:nvSpPr>
        <p:spPr>
          <a:xfrm>
            <a:off x="4090385" y="4672100"/>
            <a:ext cx="1031051" cy="284437"/>
          </a:xfrm>
          <a:prstGeom prst="rect">
            <a:avLst/>
          </a:prstGeom>
        </p:spPr>
        <p:txBody>
          <a:bodyPr vert="horz" wrap="none" lIns="91440" tIns="45720" rIns="91440" bIns="45720" rtlCol="0" anchor="ctr">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100" dirty="0">
                <a:solidFill>
                  <a:schemeClr val="accent5"/>
                </a:solidFill>
                <a:latin typeface="游ゴシック"/>
                <a:ea typeface="游ゴシック"/>
              </a:rPr>
              <a:t>フォロー関係</a:t>
            </a:r>
            <a:endParaRPr lang="en-US" altLang="ja-JP" sz="1100" dirty="0">
              <a:solidFill>
                <a:schemeClr val="accent5"/>
              </a:solidFill>
              <a:latin typeface="游ゴシック"/>
              <a:ea typeface="游ゴシック"/>
            </a:endParaRPr>
          </a:p>
        </p:txBody>
      </p:sp>
      <p:pic>
        <p:nvPicPr>
          <p:cNvPr id="31" name="グラフィックス 30" descr="オフィス ワーカー (男性) 単色塗りつぶし">
            <a:extLst>
              <a:ext uri="{FF2B5EF4-FFF2-40B4-BE49-F238E27FC236}">
                <a16:creationId xmlns:a16="http://schemas.microsoft.com/office/drawing/2014/main" id="{D56B294E-AFEB-9A1E-28DD-69F3424CD5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87305" y="4460549"/>
            <a:ext cx="392329" cy="392330"/>
          </a:xfrm>
          <a:prstGeom prst="rect">
            <a:avLst/>
          </a:prstGeom>
        </p:spPr>
      </p:pic>
      <p:sp>
        <p:nvSpPr>
          <p:cNvPr id="32" name="テキスト ボックス 31">
            <a:extLst>
              <a:ext uri="{FF2B5EF4-FFF2-40B4-BE49-F238E27FC236}">
                <a16:creationId xmlns:a16="http://schemas.microsoft.com/office/drawing/2014/main" id="{6B2E891B-941C-59AE-BB33-70382BEFEF74}"/>
              </a:ext>
            </a:extLst>
          </p:cNvPr>
          <p:cNvSpPr txBox="1"/>
          <p:nvPr/>
        </p:nvSpPr>
        <p:spPr>
          <a:xfrm>
            <a:off x="3250073" y="4856827"/>
            <a:ext cx="466794" cy="261610"/>
          </a:xfrm>
          <a:prstGeom prst="rect">
            <a:avLst/>
          </a:prstGeom>
          <a:noFill/>
        </p:spPr>
        <p:txBody>
          <a:bodyPr wrap="none" rtlCol="0">
            <a:spAutoFit/>
          </a:bodyPr>
          <a:lstStyle/>
          <a:p>
            <a:pPr algn="ctr"/>
            <a:r>
              <a:rPr kumimoji="1" lang="ja-JP" altLang="en-US" sz="1100"/>
              <a:t>営業</a:t>
            </a:r>
          </a:p>
        </p:txBody>
      </p:sp>
      <p:pic>
        <p:nvPicPr>
          <p:cNvPr id="33" name="グラフィックス 32" descr="プログラマー男性 単色塗りつぶし">
            <a:extLst>
              <a:ext uri="{FF2B5EF4-FFF2-40B4-BE49-F238E27FC236}">
                <a16:creationId xmlns:a16="http://schemas.microsoft.com/office/drawing/2014/main" id="{6B8DA238-18AF-23C3-BB2C-DF415071B2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87305" y="5354779"/>
            <a:ext cx="392329" cy="392330"/>
          </a:xfrm>
          <a:prstGeom prst="rect">
            <a:avLst/>
          </a:prstGeom>
        </p:spPr>
      </p:pic>
      <p:sp>
        <p:nvSpPr>
          <p:cNvPr id="34" name="テキスト ボックス 33">
            <a:extLst>
              <a:ext uri="{FF2B5EF4-FFF2-40B4-BE49-F238E27FC236}">
                <a16:creationId xmlns:a16="http://schemas.microsoft.com/office/drawing/2014/main" id="{CEB28F53-4ED7-3073-41F4-94730992E66A}"/>
              </a:ext>
            </a:extLst>
          </p:cNvPr>
          <p:cNvSpPr txBox="1"/>
          <p:nvPr/>
        </p:nvSpPr>
        <p:spPr>
          <a:xfrm>
            <a:off x="3282935" y="5747109"/>
            <a:ext cx="401071" cy="261610"/>
          </a:xfrm>
          <a:prstGeom prst="rect">
            <a:avLst/>
          </a:prstGeom>
          <a:noFill/>
        </p:spPr>
        <p:txBody>
          <a:bodyPr wrap="none" rtlCol="0">
            <a:spAutoFit/>
          </a:bodyPr>
          <a:lstStyle/>
          <a:p>
            <a:pPr algn="ctr"/>
            <a:r>
              <a:rPr lang="en-US" altLang="ja-JP" sz="1100"/>
              <a:t>PM</a:t>
            </a:r>
            <a:endParaRPr kumimoji="1" lang="ja-JP" altLang="en-US" sz="1100"/>
          </a:p>
        </p:txBody>
      </p:sp>
      <p:pic>
        <p:nvPicPr>
          <p:cNvPr id="28" name="グラフィックス 27" descr="オフィス ワーカー (男性) 単色塗りつぶし">
            <a:extLst>
              <a:ext uri="{FF2B5EF4-FFF2-40B4-BE49-F238E27FC236}">
                <a16:creationId xmlns:a16="http://schemas.microsoft.com/office/drawing/2014/main" id="{8B98F91A-942C-85B9-3DA0-BDCF118A584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899480" y="4797781"/>
            <a:ext cx="392329" cy="392330"/>
          </a:xfrm>
          <a:prstGeom prst="rect">
            <a:avLst/>
          </a:prstGeom>
        </p:spPr>
      </p:pic>
      <p:sp>
        <p:nvSpPr>
          <p:cNvPr id="29" name="テキスト ボックス 28">
            <a:extLst>
              <a:ext uri="{FF2B5EF4-FFF2-40B4-BE49-F238E27FC236}">
                <a16:creationId xmlns:a16="http://schemas.microsoft.com/office/drawing/2014/main" id="{0F9DFE7D-ABB1-0B1E-6555-2F1881C71E22}"/>
              </a:ext>
            </a:extLst>
          </p:cNvPr>
          <p:cNvSpPr txBox="1"/>
          <p:nvPr/>
        </p:nvSpPr>
        <p:spPr>
          <a:xfrm>
            <a:off x="5862248" y="5194059"/>
            <a:ext cx="466794" cy="261610"/>
          </a:xfrm>
          <a:prstGeom prst="rect">
            <a:avLst/>
          </a:prstGeom>
          <a:noFill/>
        </p:spPr>
        <p:txBody>
          <a:bodyPr wrap="none" rtlCol="0">
            <a:spAutoFit/>
          </a:bodyPr>
          <a:lstStyle/>
          <a:p>
            <a:pPr algn="ctr"/>
            <a:r>
              <a:rPr kumimoji="1" lang="ja-JP" altLang="en-US" sz="1100"/>
              <a:t>営業</a:t>
            </a:r>
          </a:p>
        </p:txBody>
      </p:sp>
      <p:pic>
        <p:nvPicPr>
          <p:cNvPr id="23" name="グラフィックス 22" descr="オフィス ワーカー (男性) 単色塗りつぶし">
            <a:extLst>
              <a:ext uri="{FF2B5EF4-FFF2-40B4-BE49-F238E27FC236}">
                <a16:creationId xmlns:a16="http://schemas.microsoft.com/office/drawing/2014/main" id="{AC950974-FB6E-82E3-95C1-48F14C8F01A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620811" y="4460549"/>
            <a:ext cx="392329" cy="392330"/>
          </a:xfrm>
          <a:prstGeom prst="rect">
            <a:avLst/>
          </a:prstGeom>
        </p:spPr>
      </p:pic>
      <p:sp>
        <p:nvSpPr>
          <p:cNvPr id="24" name="テキスト ボックス 23">
            <a:extLst>
              <a:ext uri="{FF2B5EF4-FFF2-40B4-BE49-F238E27FC236}">
                <a16:creationId xmlns:a16="http://schemas.microsoft.com/office/drawing/2014/main" id="{D9BBF5B0-6A38-BB16-D45D-ED12E168F5B2}"/>
              </a:ext>
            </a:extLst>
          </p:cNvPr>
          <p:cNvSpPr txBox="1"/>
          <p:nvPr/>
        </p:nvSpPr>
        <p:spPr>
          <a:xfrm>
            <a:off x="8583579" y="4856827"/>
            <a:ext cx="466794" cy="261610"/>
          </a:xfrm>
          <a:prstGeom prst="rect">
            <a:avLst/>
          </a:prstGeom>
          <a:noFill/>
        </p:spPr>
        <p:txBody>
          <a:bodyPr wrap="none" rtlCol="0">
            <a:spAutoFit/>
          </a:bodyPr>
          <a:lstStyle/>
          <a:p>
            <a:pPr algn="ctr"/>
            <a:r>
              <a:rPr kumimoji="1" lang="ja-JP" altLang="en-US" sz="1100"/>
              <a:t>営業</a:t>
            </a:r>
          </a:p>
        </p:txBody>
      </p:sp>
      <p:pic>
        <p:nvPicPr>
          <p:cNvPr id="25" name="グラフィックス 24" descr="プログラマー男性 単色塗りつぶし">
            <a:extLst>
              <a:ext uri="{FF2B5EF4-FFF2-40B4-BE49-F238E27FC236}">
                <a16:creationId xmlns:a16="http://schemas.microsoft.com/office/drawing/2014/main" id="{9A584D7B-2509-EAB2-0458-1C88925417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620811" y="5354779"/>
            <a:ext cx="392329" cy="392330"/>
          </a:xfrm>
          <a:prstGeom prst="rect">
            <a:avLst/>
          </a:prstGeom>
        </p:spPr>
      </p:pic>
      <p:sp>
        <p:nvSpPr>
          <p:cNvPr id="26" name="テキスト ボックス 25">
            <a:extLst>
              <a:ext uri="{FF2B5EF4-FFF2-40B4-BE49-F238E27FC236}">
                <a16:creationId xmlns:a16="http://schemas.microsoft.com/office/drawing/2014/main" id="{0212632A-2D5C-B360-84B1-50AE3927DCDE}"/>
              </a:ext>
            </a:extLst>
          </p:cNvPr>
          <p:cNvSpPr txBox="1"/>
          <p:nvPr/>
        </p:nvSpPr>
        <p:spPr>
          <a:xfrm>
            <a:off x="8630067" y="5747109"/>
            <a:ext cx="373820" cy="261610"/>
          </a:xfrm>
          <a:prstGeom prst="rect">
            <a:avLst/>
          </a:prstGeom>
          <a:noFill/>
        </p:spPr>
        <p:txBody>
          <a:bodyPr wrap="none" rtlCol="0">
            <a:spAutoFit/>
          </a:bodyPr>
          <a:lstStyle/>
          <a:p>
            <a:pPr algn="ctr"/>
            <a:r>
              <a:rPr kumimoji="1" lang="en-US" altLang="ja-JP" sz="1100"/>
              <a:t>SE</a:t>
            </a:r>
            <a:endParaRPr kumimoji="1" lang="ja-JP" altLang="en-US" sz="1100"/>
          </a:p>
        </p:txBody>
      </p:sp>
      <p:pic>
        <p:nvPicPr>
          <p:cNvPr id="12" name="グラフィックス 11" descr="握手 単色塗りつぶし">
            <a:extLst>
              <a:ext uri="{FF2B5EF4-FFF2-40B4-BE49-F238E27FC236}">
                <a16:creationId xmlns:a16="http://schemas.microsoft.com/office/drawing/2014/main" id="{1EB5A984-EE90-84F0-D5E1-AFA36C54B6C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4380426" y="4814319"/>
            <a:ext cx="450888" cy="450888"/>
          </a:xfrm>
          <a:prstGeom prst="rect">
            <a:avLst/>
          </a:prstGeom>
        </p:spPr>
      </p:pic>
      <p:cxnSp>
        <p:nvCxnSpPr>
          <p:cNvPr id="13" name="直線コネクタ 12">
            <a:extLst>
              <a:ext uri="{FF2B5EF4-FFF2-40B4-BE49-F238E27FC236}">
                <a16:creationId xmlns:a16="http://schemas.microsoft.com/office/drawing/2014/main" id="{D7DB5E1A-EC15-6A8E-D9E9-1B688971D2B7}"/>
              </a:ext>
            </a:extLst>
          </p:cNvPr>
          <p:cNvCxnSpPr>
            <a:cxnSpLocks/>
            <a:stCxn id="22" idx="1"/>
            <a:endCxn id="27" idx="3"/>
          </p:cNvCxnSpPr>
          <p:nvPr/>
        </p:nvCxnSpPr>
        <p:spPr>
          <a:xfrm flipH="1">
            <a:off x="6993467" y="5033966"/>
            <a:ext cx="1292216" cy="0"/>
          </a:xfrm>
          <a:prstGeom prst="line">
            <a:avLst/>
          </a:prstGeom>
          <a:ln w="76200">
            <a:solidFill>
              <a:schemeClr val="accent5"/>
            </a:solidFill>
          </a:ln>
        </p:spPr>
        <p:style>
          <a:lnRef idx="2">
            <a:schemeClr val="accent1"/>
          </a:lnRef>
          <a:fillRef idx="0">
            <a:schemeClr val="accent1"/>
          </a:fillRef>
          <a:effectRef idx="1">
            <a:schemeClr val="accent1"/>
          </a:effectRef>
          <a:fontRef idx="minor">
            <a:schemeClr val="tx1"/>
          </a:fontRef>
        </p:style>
      </p:cxnSp>
      <p:sp>
        <p:nvSpPr>
          <p:cNvPr id="14" name="コンテンツ プレースホルダー 2">
            <a:extLst>
              <a:ext uri="{FF2B5EF4-FFF2-40B4-BE49-F238E27FC236}">
                <a16:creationId xmlns:a16="http://schemas.microsoft.com/office/drawing/2014/main" id="{E39443FB-5603-89D8-CF3C-47900E921492}"/>
              </a:ext>
            </a:extLst>
          </p:cNvPr>
          <p:cNvSpPr txBox="1">
            <a:spLocks/>
          </p:cNvSpPr>
          <p:nvPr/>
        </p:nvSpPr>
        <p:spPr>
          <a:xfrm>
            <a:off x="7113632" y="4672100"/>
            <a:ext cx="1031051" cy="284437"/>
          </a:xfrm>
          <a:prstGeom prst="rect">
            <a:avLst/>
          </a:prstGeom>
        </p:spPr>
        <p:txBody>
          <a:bodyPr vert="horz" wrap="none" lIns="91440" tIns="45720" rIns="91440" bIns="45720" rtlCol="0" anchor="ctr">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100" dirty="0">
                <a:solidFill>
                  <a:schemeClr val="accent5"/>
                </a:solidFill>
                <a:latin typeface="游ゴシック"/>
                <a:ea typeface="游ゴシック"/>
              </a:rPr>
              <a:t>フォロー関係</a:t>
            </a:r>
            <a:endParaRPr lang="en-US" altLang="ja-JP" sz="1100" dirty="0">
              <a:solidFill>
                <a:schemeClr val="accent5"/>
              </a:solidFill>
              <a:latin typeface="游ゴシック"/>
              <a:ea typeface="游ゴシック"/>
            </a:endParaRPr>
          </a:p>
        </p:txBody>
      </p:sp>
      <p:pic>
        <p:nvPicPr>
          <p:cNvPr id="15" name="グラフィックス 14" descr="握手 単色塗りつぶし">
            <a:extLst>
              <a:ext uri="{FF2B5EF4-FFF2-40B4-BE49-F238E27FC236}">
                <a16:creationId xmlns:a16="http://schemas.microsoft.com/office/drawing/2014/main" id="{2E75116E-4FEB-AFBF-9D0E-42C4002ABF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p:blipFill>
        <p:spPr>
          <a:xfrm>
            <a:off x="7395766" y="4814319"/>
            <a:ext cx="450888" cy="450888"/>
          </a:xfrm>
          <a:prstGeom prst="rect">
            <a:avLst/>
          </a:prstGeom>
        </p:spPr>
      </p:pic>
      <p:sp>
        <p:nvSpPr>
          <p:cNvPr id="16" name="矢印: 右 15">
            <a:extLst>
              <a:ext uri="{FF2B5EF4-FFF2-40B4-BE49-F238E27FC236}">
                <a16:creationId xmlns:a16="http://schemas.microsoft.com/office/drawing/2014/main" id="{C5AF2D23-E158-75A0-3043-E526369A7744}"/>
              </a:ext>
            </a:extLst>
          </p:cNvPr>
          <p:cNvSpPr/>
          <p:nvPr/>
        </p:nvSpPr>
        <p:spPr>
          <a:xfrm>
            <a:off x="3843867" y="5455669"/>
            <a:ext cx="4583820" cy="393606"/>
          </a:xfrm>
          <a:prstGeom prst="rightArrow">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游ゴシック" panose="020B0400000000000000" pitchFamily="50" charset="-128"/>
                <a:ea typeface="游ゴシック" panose="020B0400000000000000" pitchFamily="50" charset="-128"/>
              </a:rPr>
              <a:t>評価や実績の確認・直接オファー・評価が可能</a:t>
            </a:r>
            <a:endParaRPr lang="ja-JP" altLang="en-US" sz="1400" dirty="0">
              <a:solidFill>
                <a:schemeClr val="tx1"/>
              </a:solidFill>
              <a:latin typeface="游ゴシック" panose="020B0400000000000000" pitchFamily="50" charset="-128"/>
              <a:ea typeface="游ゴシック" panose="020B0400000000000000" pitchFamily="50" charset="-128"/>
            </a:endParaRPr>
          </a:p>
        </p:txBody>
      </p:sp>
      <p:sp>
        <p:nvSpPr>
          <p:cNvPr id="17" name="コンテンツ プレースホルダー 2">
            <a:extLst>
              <a:ext uri="{FF2B5EF4-FFF2-40B4-BE49-F238E27FC236}">
                <a16:creationId xmlns:a16="http://schemas.microsoft.com/office/drawing/2014/main" id="{43FC4B47-D8A5-E50A-D36C-7EDCBBD5F196}"/>
              </a:ext>
            </a:extLst>
          </p:cNvPr>
          <p:cNvSpPr txBox="1">
            <a:spLocks/>
          </p:cNvSpPr>
          <p:nvPr/>
        </p:nvSpPr>
        <p:spPr>
          <a:xfrm>
            <a:off x="3020043" y="6291692"/>
            <a:ext cx="926857" cy="284437"/>
          </a:xfrm>
          <a:prstGeom prst="rect">
            <a:avLst/>
          </a:prstGeom>
        </p:spPr>
        <p:txBody>
          <a:bodyPr vert="horz" wrap="none" lIns="91440" tIns="45720" rIns="91440" bIns="45720" rtlCol="0" anchor="t">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sz="1100" dirty="0">
                <a:solidFill>
                  <a:schemeClr val="accent5"/>
                </a:solidFill>
                <a:latin typeface="游ゴシック"/>
                <a:ea typeface="游ゴシック"/>
              </a:rPr>
              <a:t>要員管理</a:t>
            </a:r>
            <a:r>
              <a:rPr lang="en-US" altLang="ja-JP" sz="1100" dirty="0">
                <a:solidFill>
                  <a:schemeClr val="accent5"/>
                </a:solidFill>
                <a:latin typeface="游ゴシック"/>
                <a:ea typeface="游ゴシック"/>
              </a:rPr>
              <a:t>PF</a:t>
            </a:r>
          </a:p>
        </p:txBody>
      </p:sp>
      <p:sp>
        <p:nvSpPr>
          <p:cNvPr id="19" name="コンテンツ プレースホルダー 2">
            <a:extLst>
              <a:ext uri="{FF2B5EF4-FFF2-40B4-BE49-F238E27FC236}">
                <a16:creationId xmlns:a16="http://schemas.microsoft.com/office/drawing/2014/main" id="{252FC37E-4C4C-F4FE-8B2D-3A30C3C36B87}"/>
              </a:ext>
            </a:extLst>
          </p:cNvPr>
          <p:cNvSpPr txBox="1">
            <a:spLocks/>
          </p:cNvSpPr>
          <p:nvPr/>
        </p:nvSpPr>
        <p:spPr>
          <a:xfrm>
            <a:off x="5665772" y="6291693"/>
            <a:ext cx="926857" cy="284437"/>
          </a:xfrm>
          <a:prstGeom prst="rect">
            <a:avLst/>
          </a:prstGeom>
        </p:spPr>
        <p:txBody>
          <a:bodyPr vert="horz" wrap="none" lIns="91440" tIns="45720" rIns="91440" bIns="45720" rtlCol="0" anchor="t">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1100" dirty="0">
                <a:solidFill>
                  <a:schemeClr val="accent5"/>
                </a:solidFill>
                <a:latin typeface="游ゴシック"/>
                <a:ea typeface="游ゴシック"/>
              </a:rPr>
              <a:t>要員管理</a:t>
            </a:r>
            <a:r>
              <a:rPr lang="en-US" altLang="ja-JP" sz="1100" dirty="0">
                <a:solidFill>
                  <a:schemeClr val="accent5"/>
                </a:solidFill>
                <a:latin typeface="游ゴシック"/>
                <a:ea typeface="游ゴシック"/>
              </a:rPr>
              <a:t>PF</a:t>
            </a:r>
          </a:p>
        </p:txBody>
      </p:sp>
      <p:sp>
        <p:nvSpPr>
          <p:cNvPr id="20" name="コンテンツ プレースホルダー 2">
            <a:extLst>
              <a:ext uri="{FF2B5EF4-FFF2-40B4-BE49-F238E27FC236}">
                <a16:creationId xmlns:a16="http://schemas.microsoft.com/office/drawing/2014/main" id="{6F0E8D00-8C94-A4ED-B808-06B66D865915}"/>
              </a:ext>
            </a:extLst>
          </p:cNvPr>
          <p:cNvSpPr txBox="1">
            <a:spLocks/>
          </p:cNvSpPr>
          <p:nvPr/>
        </p:nvSpPr>
        <p:spPr>
          <a:xfrm>
            <a:off x="8353546" y="6291693"/>
            <a:ext cx="926857" cy="284437"/>
          </a:xfrm>
          <a:prstGeom prst="rect">
            <a:avLst/>
          </a:prstGeom>
        </p:spPr>
        <p:txBody>
          <a:bodyPr vert="horz" wrap="none" lIns="91440" tIns="45720" rIns="91440" bIns="45720" rtlCol="0" anchor="t">
            <a:spAutoFit/>
          </a:bodyPr>
          <a:lstStyle>
            <a:defPPr>
              <a:defRPr lang="ja-JP"/>
            </a:defPPr>
            <a:lvl1pPr marL="228600" indent="-228600" algn="l" defTabSz="914400" rtl="0" eaLnBrk="1" latinLnBrk="0" hangingPunct="1">
              <a:lnSpc>
                <a:spcPct val="120000"/>
              </a:lnSpc>
              <a:spcBef>
                <a:spcPts val="1000"/>
              </a:spcBef>
              <a:buFont typeface="Arial" panose="020B0604020202020204" pitchFamily="34" charset="0"/>
              <a:buChar char="•"/>
              <a:defRPr kumimoji="1" sz="2400" kern="1200">
                <a:solidFill>
                  <a:schemeClr val="tx1"/>
                </a:solidFill>
                <a:latin typeface="游ゴシック" panose="020B0400000000000000" pitchFamily="50" charset="-128"/>
                <a:ea typeface="游ゴシック" panose="020B0400000000000000" pitchFamily="50" charset="-128"/>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kumimoji="1" sz="2000" kern="1200">
                <a:solidFill>
                  <a:schemeClr val="tx1"/>
                </a:solidFill>
                <a:latin typeface="游ゴシック" panose="020B0400000000000000" pitchFamily="50" charset="-128"/>
                <a:ea typeface="游ゴシック" panose="020B0400000000000000" pitchFamily="50" charset="-128"/>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kumimoji="1" sz="1800" kern="1200">
                <a:solidFill>
                  <a:schemeClr val="tx1"/>
                </a:solidFill>
                <a:latin typeface="游ゴシック" panose="020B0400000000000000" pitchFamily="50" charset="-128"/>
                <a:ea typeface="游ゴシック" panose="020B0400000000000000" pitchFamily="50" charset="-128"/>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kumimoji="1" sz="1600" kern="1200">
                <a:solidFill>
                  <a:schemeClr val="tx1"/>
                </a:solidFill>
                <a:latin typeface="游ゴシック" panose="020B0400000000000000" pitchFamily="50" charset="-128"/>
                <a:ea typeface="游ゴシック" panose="020B0400000000000000"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ja-JP" altLang="en-US" sz="1100" dirty="0">
                <a:solidFill>
                  <a:schemeClr val="accent5"/>
                </a:solidFill>
                <a:latin typeface="游ゴシック"/>
                <a:ea typeface="游ゴシック"/>
              </a:rPr>
              <a:t>要員管理</a:t>
            </a:r>
            <a:r>
              <a:rPr lang="en-US" altLang="ja-JP" sz="1100" dirty="0">
                <a:solidFill>
                  <a:schemeClr val="accent5"/>
                </a:solidFill>
                <a:latin typeface="游ゴシック"/>
                <a:ea typeface="游ゴシック"/>
              </a:rPr>
              <a:t>PF</a:t>
            </a:r>
          </a:p>
        </p:txBody>
      </p:sp>
      <p:sp>
        <p:nvSpPr>
          <p:cNvPr id="36" name="矢印: 左 35">
            <a:extLst>
              <a:ext uri="{FF2B5EF4-FFF2-40B4-BE49-F238E27FC236}">
                <a16:creationId xmlns:a16="http://schemas.microsoft.com/office/drawing/2014/main" id="{7DD1355B-10D6-16FE-0B8C-2C92E203EC55}"/>
              </a:ext>
            </a:extLst>
          </p:cNvPr>
          <p:cNvSpPr/>
          <p:nvPr/>
        </p:nvSpPr>
        <p:spPr>
          <a:xfrm>
            <a:off x="6841958" y="4225397"/>
            <a:ext cx="1511588" cy="393606"/>
          </a:xfrm>
          <a:prstGeom prst="leftArrow">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要員公開</a:t>
            </a:r>
            <a:r>
              <a:rPr lang="en-US" altLang="ja-JP" sz="1100" dirty="0">
                <a:solidFill>
                  <a:schemeClr val="tx1"/>
                </a:solidFill>
                <a:latin typeface="游ゴシック Medium" panose="020B0500000000000000" pitchFamily="50" charset="-128"/>
                <a:ea typeface="游ゴシック Medium" panose="020B0500000000000000" pitchFamily="50" charset="-128"/>
              </a:rPr>
              <a:t>(</a:t>
            </a:r>
            <a:r>
              <a:rPr lang="en-US" altLang="ja-JP" sz="1100" b="1" dirty="0">
                <a:solidFill>
                  <a:srgbClr val="FF0000"/>
                </a:solidFill>
                <a:latin typeface="游ゴシック Medium" panose="020B0500000000000000" pitchFamily="50" charset="-128"/>
                <a:ea typeface="游ゴシック Medium" panose="020B0500000000000000" pitchFamily="50" charset="-128"/>
              </a:rPr>
              <a:t>60</a:t>
            </a:r>
            <a:r>
              <a:rPr lang="ja-JP" altLang="en-US" sz="1100" dirty="0">
                <a:solidFill>
                  <a:schemeClr val="tx1"/>
                </a:solidFill>
                <a:latin typeface="游ゴシック Medium" panose="020B0500000000000000" pitchFamily="50" charset="-128"/>
                <a:ea typeface="游ゴシック Medium" panose="020B0500000000000000" pitchFamily="50" charset="-128"/>
              </a:rPr>
              <a:t>万円</a:t>
            </a:r>
            <a:r>
              <a:rPr lang="en-US" altLang="ja-JP" sz="1100" dirty="0">
                <a:solidFill>
                  <a:schemeClr val="tx1"/>
                </a:solidFill>
                <a:latin typeface="游ゴシック Medium" panose="020B0500000000000000" pitchFamily="50" charset="-128"/>
                <a:ea typeface="游ゴシック Medium" panose="020B0500000000000000" pitchFamily="50" charset="-128"/>
              </a:rPr>
              <a:t>)</a:t>
            </a:r>
            <a:endParaRPr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sp>
        <p:nvSpPr>
          <p:cNvPr id="39" name="四角形: 角を丸くする 38">
            <a:extLst>
              <a:ext uri="{FF2B5EF4-FFF2-40B4-BE49-F238E27FC236}">
                <a16:creationId xmlns:a16="http://schemas.microsoft.com/office/drawing/2014/main" id="{6358C140-E7E1-333C-B704-E93F738B119A}"/>
              </a:ext>
            </a:extLst>
          </p:cNvPr>
          <p:cNvSpPr/>
          <p:nvPr/>
        </p:nvSpPr>
        <p:spPr>
          <a:xfrm>
            <a:off x="5565358" y="4167158"/>
            <a:ext cx="1070937" cy="476726"/>
          </a:xfrm>
          <a:prstGeom prst="roundRect">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マージン設定</a:t>
            </a:r>
            <a:endParaRPr lang="en-US" altLang="ja-JP" sz="1100" dirty="0">
              <a:solidFill>
                <a:schemeClr val="tx1"/>
              </a:solidFill>
              <a:latin typeface="游ゴシック Medium" panose="020B0500000000000000" pitchFamily="50" charset="-128"/>
              <a:ea typeface="游ゴシック Medium" panose="020B0500000000000000" pitchFamily="50" charset="-128"/>
            </a:endParaRPr>
          </a:p>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a:t>
            </a:r>
            <a:r>
              <a:rPr lang="en-US" altLang="ja-JP" sz="1100" b="1" dirty="0">
                <a:solidFill>
                  <a:srgbClr val="FF0000"/>
                </a:solidFill>
                <a:latin typeface="游ゴシック Medium" panose="020B0500000000000000" pitchFamily="50" charset="-128"/>
                <a:ea typeface="游ゴシック Medium" panose="020B0500000000000000" pitchFamily="50" charset="-128"/>
              </a:rPr>
              <a:t>+10</a:t>
            </a:r>
            <a:r>
              <a:rPr lang="ja-JP" altLang="en-US" sz="1100" dirty="0">
                <a:solidFill>
                  <a:schemeClr val="tx1"/>
                </a:solidFill>
                <a:latin typeface="游ゴシック Medium" panose="020B0500000000000000" pitchFamily="50" charset="-128"/>
                <a:ea typeface="游ゴシック Medium" panose="020B0500000000000000" pitchFamily="50" charset="-128"/>
              </a:rPr>
              <a:t>万円）</a:t>
            </a:r>
          </a:p>
        </p:txBody>
      </p:sp>
      <p:sp>
        <p:nvSpPr>
          <p:cNvPr id="46" name="矢印: 左 45">
            <a:extLst>
              <a:ext uri="{FF2B5EF4-FFF2-40B4-BE49-F238E27FC236}">
                <a16:creationId xmlns:a16="http://schemas.microsoft.com/office/drawing/2014/main" id="{45E862AD-2012-CF36-AF8D-92664BCB3188}"/>
              </a:ext>
            </a:extLst>
          </p:cNvPr>
          <p:cNvSpPr/>
          <p:nvPr/>
        </p:nvSpPr>
        <p:spPr>
          <a:xfrm>
            <a:off x="3905608" y="4225397"/>
            <a:ext cx="1466627" cy="393606"/>
          </a:xfrm>
          <a:prstGeom prst="leftArrow">
            <a:avLst/>
          </a:prstGeom>
          <a:solidFill>
            <a:schemeClr val="bg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要員公開</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a:t>
            </a:r>
            <a:r>
              <a:rPr lang="en-US" altLang="ja-JP" sz="1100" b="1" dirty="0">
                <a:solidFill>
                  <a:srgbClr val="FF0000"/>
                </a:solidFill>
                <a:latin typeface="游ゴシック Medium" panose="020B0500000000000000" pitchFamily="50" charset="-128"/>
                <a:ea typeface="游ゴシック Medium" panose="020B0500000000000000" pitchFamily="50" charset="-128"/>
              </a:rPr>
              <a:t>7</a:t>
            </a:r>
            <a:r>
              <a:rPr kumimoji="1" lang="en-US" altLang="ja-JP" sz="1100" b="1" dirty="0">
                <a:solidFill>
                  <a:srgbClr val="FF0000"/>
                </a:solidFill>
                <a:latin typeface="游ゴシック Medium" panose="020B0500000000000000" pitchFamily="50" charset="-128"/>
                <a:ea typeface="游ゴシック Medium" panose="020B0500000000000000" pitchFamily="50" charset="-128"/>
              </a:rPr>
              <a:t>0</a:t>
            </a:r>
            <a:r>
              <a:rPr kumimoji="1" lang="ja-JP" altLang="en-US" sz="1100" dirty="0">
                <a:solidFill>
                  <a:schemeClr val="tx1"/>
                </a:solidFill>
                <a:latin typeface="游ゴシック Medium" panose="020B0500000000000000" pitchFamily="50" charset="-128"/>
                <a:ea typeface="游ゴシック Medium" panose="020B0500000000000000" pitchFamily="50" charset="-128"/>
              </a:rPr>
              <a:t>万円</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a:t>
            </a:r>
            <a:endParaRPr kumimoji="1" lang="ja-JP" altLang="en-US" sz="1400" dirty="0">
              <a:solidFill>
                <a:schemeClr val="tx1"/>
              </a:solidFill>
              <a:latin typeface="游ゴシック Medium" panose="020B0500000000000000" pitchFamily="50" charset="-128"/>
              <a:ea typeface="游ゴシック Medium" panose="020B0500000000000000" pitchFamily="50" charset="-128"/>
            </a:endParaRPr>
          </a:p>
        </p:txBody>
      </p:sp>
      <p:sp>
        <p:nvSpPr>
          <p:cNvPr id="2" name="正方形/長方形 1">
            <a:extLst>
              <a:ext uri="{FF2B5EF4-FFF2-40B4-BE49-F238E27FC236}">
                <a16:creationId xmlns:a16="http://schemas.microsoft.com/office/drawing/2014/main" id="{E35FCCFE-90E7-9992-F1E5-6C16C4067161}"/>
              </a:ext>
            </a:extLst>
          </p:cNvPr>
          <p:cNvSpPr/>
          <p:nvPr/>
        </p:nvSpPr>
        <p:spPr>
          <a:xfrm>
            <a:off x="95439" y="78719"/>
            <a:ext cx="12000409" cy="6700562"/>
          </a:xfrm>
          <a:prstGeom prst="rect">
            <a:avLst/>
          </a:prstGeom>
          <a:solidFill>
            <a:schemeClr val="dk1">
              <a:alpha val="7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dirty="0"/>
              <a:t>検討中</a:t>
            </a:r>
          </a:p>
        </p:txBody>
      </p:sp>
    </p:spTree>
    <p:extLst>
      <p:ext uri="{BB962C8B-B14F-4D97-AF65-F5344CB8AC3E}">
        <p14:creationId xmlns:p14="http://schemas.microsoft.com/office/powerpoint/2010/main" val="2425307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41F20-949E-EBAC-0D19-B516A822A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209DC5-64E0-358C-4A31-CDC6A53EA7F7}"/>
              </a:ext>
            </a:extLst>
          </p:cNvPr>
          <p:cNvSpPr>
            <a:spLocks noGrp="1"/>
          </p:cNvSpPr>
          <p:nvPr>
            <p:ph idx="1"/>
          </p:nvPr>
        </p:nvSpPr>
        <p:spPr>
          <a:xfrm>
            <a:off x="612647" y="931741"/>
            <a:ext cx="10653579" cy="1540571"/>
          </a:xfrm>
        </p:spPr>
        <p:txBody>
          <a:bodyPr vert="horz" lIns="91440" tIns="45720" rIns="91440" bIns="45720" rtlCol="0" anchor="t">
            <a:normAutofit/>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ユーザーの属性によって価値（＝他のユーザーが繋がりたいと思う度合）に差異がある</a:t>
            </a:r>
            <a:endParaRPr lang="en-US" altLang="ja-JP" sz="1600" dirty="0">
              <a:latin typeface="游ゴシック Medium" panose="020B0500000000000000" pitchFamily="50" charset="-128"/>
              <a:ea typeface="游ゴシック Medium" panose="020B0500000000000000" pitchFamily="50" charset="-128"/>
            </a:endParaRPr>
          </a:p>
          <a:p>
            <a:r>
              <a:rPr lang="ja-JP" altLang="en-US" sz="1600" dirty="0">
                <a:latin typeface="游ゴシック Medium" panose="020B0500000000000000" pitchFamily="50" charset="-128"/>
                <a:ea typeface="游ゴシック Medium" panose="020B0500000000000000" pitchFamily="50" charset="-128"/>
              </a:rPr>
              <a:t>どのユーザーを最初に集めるか</a:t>
            </a:r>
            <a:endParaRPr lang="en-US" altLang="ja-JP" sz="1600" dirty="0">
              <a:latin typeface="游ゴシック Medium" panose="020B0500000000000000" pitchFamily="50" charset="-128"/>
              <a:ea typeface="游ゴシック Medium" panose="020B0500000000000000" pitchFamily="50" charset="-128"/>
            </a:endParaRPr>
          </a:p>
          <a:p>
            <a:r>
              <a:rPr lang="ja-JP" altLang="en-US" sz="1600" dirty="0">
                <a:latin typeface="游ゴシック Medium" panose="020B0500000000000000" pitchFamily="50" charset="-128"/>
                <a:ea typeface="游ゴシック Medium" panose="020B0500000000000000" pitchFamily="50" charset="-128"/>
              </a:rPr>
              <a:t>どうやって集めるか</a:t>
            </a:r>
            <a:endParaRPr lang="en-US" altLang="ja-JP" sz="1600" dirty="0">
              <a:latin typeface="游ゴシック Medium" panose="020B0500000000000000" pitchFamily="50" charset="-128"/>
              <a:ea typeface="游ゴシック Medium" panose="020B0500000000000000" pitchFamily="50" charset="-128"/>
            </a:endParaRPr>
          </a:p>
        </p:txBody>
      </p:sp>
      <p:sp>
        <p:nvSpPr>
          <p:cNvPr id="4" name="Date Placeholder 3">
            <a:extLst>
              <a:ext uri="{FF2B5EF4-FFF2-40B4-BE49-F238E27FC236}">
                <a16:creationId xmlns:a16="http://schemas.microsoft.com/office/drawing/2014/main" id="{C7A347D5-3C89-9F04-46B1-37B677064064}"/>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F938A034-3891-C50D-3ECA-CB661C0EF93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699A700-D8BD-336F-4D4A-2E471B46D166}"/>
              </a:ext>
            </a:extLst>
          </p:cNvPr>
          <p:cNvSpPr>
            <a:spLocks noGrp="1"/>
          </p:cNvSpPr>
          <p:nvPr>
            <p:ph type="sldNum" sz="quarter" idx="12"/>
          </p:nvPr>
        </p:nvSpPr>
        <p:spPr/>
        <p:txBody>
          <a:bodyPr/>
          <a:lstStyle/>
          <a:p>
            <a:fld id="{CC057153-B650-4DEB-B370-79DDCFDCE934}" type="slidenum">
              <a:rPr lang="en-US" dirty="0"/>
              <a:t>8</a:t>
            </a:fld>
            <a:endParaRPr lang="en-US"/>
          </a:p>
        </p:txBody>
      </p:sp>
      <p:sp>
        <p:nvSpPr>
          <p:cNvPr id="18" name="Title 1">
            <a:extLst>
              <a:ext uri="{FF2B5EF4-FFF2-40B4-BE49-F238E27FC236}">
                <a16:creationId xmlns:a16="http://schemas.microsoft.com/office/drawing/2014/main" id="{1F060982-8627-7A54-16D2-BA723F4F66A0}"/>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ユーザー価値と集め方（議論用）</a:t>
            </a:r>
            <a:endParaRPr kumimoji="1" lang="ja-JP" altLang="en-US" dirty="0">
              <a:solidFill>
                <a:srgbClr val="FF0000"/>
              </a:solidFill>
              <a:latin typeface="+mj-ea"/>
            </a:endParaRPr>
          </a:p>
        </p:txBody>
      </p:sp>
      <p:grpSp>
        <p:nvGrpSpPr>
          <p:cNvPr id="59" name="グループ化 58">
            <a:extLst>
              <a:ext uri="{FF2B5EF4-FFF2-40B4-BE49-F238E27FC236}">
                <a16:creationId xmlns:a16="http://schemas.microsoft.com/office/drawing/2014/main" id="{3DCE6363-2002-BFE5-9B73-860E36DD46BA}"/>
              </a:ext>
            </a:extLst>
          </p:cNvPr>
          <p:cNvGrpSpPr/>
          <p:nvPr/>
        </p:nvGrpSpPr>
        <p:grpSpPr>
          <a:xfrm>
            <a:off x="4819699" y="1444646"/>
            <a:ext cx="5859424" cy="1627381"/>
            <a:chOff x="3156362" y="1449529"/>
            <a:chExt cx="5859424" cy="1627381"/>
          </a:xfrm>
        </p:grpSpPr>
        <p:grpSp>
          <p:nvGrpSpPr>
            <p:cNvPr id="51" name="グループ化 50">
              <a:extLst>
                <a:ext uri="{FF2B5EF4-FFF2-40B4-BE49-F238E27FC236}">
                  <a16:creationId xmlns:a16="http://schemas.microsoft.com/office/drawing/2014/main" id="{A22155B2-F10C-7C06-7D92-E89C62532753}"/>
                </a:ext>
              </a:extLst>
            </p:cNvPr>
            <p:cNvGrpSpPr/>
            <p:nvPr/>
          </p:nvGrpSpPr>
          <p:grpSpPr>
            <a:xfrm>
              <a:off x="3242180" y="1449529"/>
              <a:ext cx="5467091" cy="1051571"/>
              <a:chOff x="1481671" y="2156977"/>
              <a:chExt cx="5467091" cy="1051571"/>
            </a:xfrm>
          </p:grpSpPr>
          <p:sp>
            <p:nvSpPr>
              <p:cNvPr id="7" name="テキスト ボックス 5">
                <a:extLst>
                  <a:ext uri="{FF2B5EF4-FFF2-40B4-BE49-F238E27FC236}">
                    <a16:creationId xmlns:a16="http://schemas.microsoft.com/office/drawing/2014/main" id="{843918AB-25EB-1D27-0F98-67A75519CB11}"/>
                  </a:ext>
                </a:extLst>
              </p:cNvPr>
              <p:cNvSpPr txBox="1"/>
              <p:nvPr/>
            </p:nvSpPr>
            <p:spPr>
              <a:xfrm>
                <a:off x="3209905" y="2351532"/>
                <a:ext cx="596325" cy="578882"/>
              </a:xfrm>
              <a:prstGeom prst="roundRect">
                <a:avLst/>
              </a:prstGeom>
              <a:solidFill>
                <a:schemeClr val="bg1"/>
              </a:solidFill>
              <a:ln w="19050">
                <a:solidFill>
                  <a:schemeClr val="bg1">
                    <a:lumMod val="50000"/>
                  </a:schemeClr>
                </a:solid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kumimoji="1" lang="ja-JP" altLang="en-US" sz="1400" b="1" u="sng" dirty="0">
                    <a:latin typeface="游ゴシック Medium" panose="020B0500000000000000" pitchFamily="50" charset="-128"/>
                    <a:ea typeface="游ゴシック Medium" panose="020B0500000000000000" pitchFamily="50" charset="-128"/>
                  </a:rPr>
                  <a:t>案件</a:t>
                </a:r>
                <a:endParaRPr kumimoji="1" lang="en-US" altLang="ja-JP" sz="1400" b="1" u="sng" dirty="0">
                  <a:latin typeface="游ゴシック Medium" panose="020B0500000000000000" pitchFamily="50" charset="-128"/>
                  <a:ea typeface="游ゴシック Medium" panose="020B0500000000000000" pitchFamily="50" charset="-128"/>
                </a:endParaRPr>
              </a:p>
              <a:p>
                <a:r>
                  <a:rPr kumimoji="1" lang="ja-JP" altLang="en-US" sz="1400" dirty="0">
                    <a:latin typeface="游ゴシック Medium" panose="020B0500000000000000" pitchFamily="50" charset="-128"/>
                    <a:ea typeface="游ゴシック Medium" panose="020B0500000000000000" pitchFamily="50" charset="-128"/>
                  </a:rPr>
                  <a:t>会社</a:t>
                </a:r>
              </a:p>
            </p:txBody>
          </p:sp>
          <p:sp>
            <p:nvSpPr>
              <p:cNvPr id="9" name="テキスト ボックス 8">
                <a:extLst>
                  <a:ext uri="{FF2B5EF4-FFF2-40B4-BE49-F238E27FC236}">
                    <a16:creationId xmlns:a16="http://schemas.microsoft.com/office/drawing/2014/main" id="{C76DEC25-6467-0A6A-4538-4A38874E1FC9}"/>
                  </a:ext>
                </a:extLst>
              </p:cNvPr>
              <p:cNvSpPr txBox="1"/>
              <p:nvPr/>
            </p:nvSpPr>
            <p:spPr>
              <a:xfrm>
                <a:off x="6352437" y="2351532"/>
                <a:ext cx="596325" cy="578882"/>
              </a:xfrm>
              <a:prstGeom prst="roundRect">
                <a:avLst/>
              </a:prstGeom>
              <a:solidFill>
                <a:schemeClr val="bg1"/>
              </a:solidFill>
              <a:ln w="19050">
                <a:solidFill>
                  <a:schemeClr val="bg1">
                    <a:lumMod val="50000"/>
                  </a:schemeClr>
                </a:solidFill>
              </a:ln>
            </p:spPr>
            <p:txBody>
              <a:bodyPr wrap="none" rtlCol="0">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ja-JP" altLang="en-US" sz="1400" dirty="0">
                    <a:latin typeface="游ゴシック Medium" panose="020B0500000000000000" pitchFamily="50" charset="-128"/>
                    <a:ea typeface="游ゴシック Medium" panose="020B0500000000000000" pitchFamily="50" charset="-128"/>
                  </a:rPr>
                  <a:t>仲介</a:t>
                </a:r>
                <a:endParaRPr kumimoji="1" lang="en-US" altLang="ja-JP" sz="1400" dirty="0">
                  <a:latin typeface="游ゴシック Medium" panose="020B0500000000000000" pitchFamily="50" charset="-128"/>
                  <a:ea typeface="游ゴシック Medium" panose="020B0500000000000000" pitchFamily="50" charset="-128"/>
                </a:endParaRPr>
              </a:p>
              <a:p>
                <a:r>
                  <a:rPr kumimoji="1" lang="ja-JP" altLang="en-US" sz="1400" dirty="0">
                    <a:latin typeface="游ゴシック Medium" panose="020B0500000000000000" pitchFamily="50" charset="-128"/>
                    <a:ea typeface="游ゴシック Medium" panose="020B0500000000000000" pitchFamily="50" charset="-128"/>
                  </a:rPr>
                  <a:t>会社</a:t>
                </a:r>
              </a:p>
            </p:txBody>
          </p:sp>
          <p:sp>
            <p:nvSpPr>
              <p:cNvPr id="31" name="テキスト ボックス 30">
                <a:extLst>
                  <a:ext uri="{FF2B5EF4-FFF2-40B4-BE49-F238E27FC236}">
                    <a16:creationId xmlns:a16="http://schemas.microsoft.com/office/drawing/2014/main" id="{D77A6C4A-4B7C-E4B4-8E28-697D152BC11C}"/>
                  </a:ext>
                </a:extLst>
              </p:cNvPr>
              <p:cNvSpPr txBox="1"/>
              <p:nvPr/>
            </p:nvSpPr>
            <p:spPr>
              <a:xfrm>
                <a:off x="2489030" y="2456307"/>
                <a:ext cx="415498" cy="369332"/>
              </a:xfrm>
              <a:prstGeom prst="rect">
                <a:avLst/>
              </a:prstGeom>
              <a:noFill/>
            </p:spPr>
            <p:txBody>
              <a:bodyPr wrap="none" rtlCol="0">
                <a:spAutoFit/>
              </a:bodyPr>
              <a:lstStyle/>
              <a:p>
                <a:r>
                  <a:rPr kumimoji="1" lang="ja-JP" altLang="en-US" dirty="0"/>
                  <a:t>＞</a:t>
                </a:r>
              </a:p>
            </p:txBody>
          </p:sp>
          <p:grpSp>
            <p:nvGrpSpPr>
              <p:cNvPr id="41" name="グループ化 40">
                <a:extLst>
                  <a:ext uri="{FF2B5EF4-FFF2-40B4-BE49-F238E27FC236}">
                    <a16:creationId xmlns:a16="http://schemas.microsoft.com/office/drawing/2014/main" id="{6F752557-07F5-A2F2-768C-CF0E0F8FC912}"/>
                  </a:ext>
                </a:extLst>
              </p:cNvPr>
              <p:cNvGrpSpPr/>
              <p:nvPr/>
            </p:nvGrpSpPr>
            <p:grpSpPr>
              <a:xfrm>
                <a:off x="1481671" y="2156977"/>
                <a:ext cx="805292" cy="1051571"/>
                <a:chOff x="1711041" y="2218970"/>
                <a:chExt cx="805292" cy="1051571"/>
              </a:xfrm>
            </p:grpSpPr>
            <p:grpSp>
              <p:nvGrpSpPr>
                <p:cNvPr id="22" name="グループ化 21">
                  <a:extLst>
                    <a:ext uri="{FF2B5EF4-FFF2-40B4-BE49-F238E27FC236}">
                      <a16:creationId xmlns:a16="http://schemas.microsoft.com/office/drawing/2014/main" id="{80973B15-44C0-0166-A32C-09FDF2E4F1D6}"/>
                    </a:ext>
                  </a:extLst>
                </p:cNvPr>
                <p:cNvGrpSpPr/>
                <p:nvPr/>
              </p:nvGrpSpPr>
              <p:grpSpPr>
                <a:xfrm>
                  <a:off x="1768647" y="3050165"/>
                  <a:ext cx="685865" cy="220376"/>
                  <a:chOff x="9071915" y="6077993"/>
                  <a:chExt cx="961395" cy="308907"/>
                </a:xfrm>
              </p:grpSpPr>
              <p:sp>
                <p:nvSpPr>
                  <p:cNvPr id="23" name="星: 5 pt 22">
                    <a:extLst>
                      <a:ext uri="{FF2B5EF4-FFF2-40B4-BE49-F238E27FC236}">
                        <a16:creationId xmlns:a16="http://schemas.microsoft.com/office/drawing/2014/main" id="{249C9A4A-1FB7-E94E-FFC6-CC8A42A349B1}"/>
                      </a:ext>
                    </a:extLst>
                  </p:cNvPr>
                  <p:cNvSpPr/>
                  <p:nvPr/>
                </p:nvSpPr>
                <p:spPr>
                  <a:xfrm>
                    <a:off x="9071915"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星: 5 pt 23">
                    <a:extLst>
                      <a:ext uri="{FF2B5EF4-FFF2-40B4-BE49-F238E27FC236}">
                        <a16:creationId xmlns:a16="http://schemas.microsoft.com/office/drawing/2014/main" id="{57956F41-2F31-08D7-CE5F-7D09F2BE7F99}"/>
                      </a:ext>
                    </a:extLst>
                  </p:cNvPr>
                  <p:cNvSpPr/>
                  <p:nvPr/>
                </p:nvSpPr>
                <p:spPr>
                  <a:xfrm>
                    <a:off x="9401113"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星: 5 pt 24">
                    <a:extLst>
                      <a:ext uri="{FF2B5EF4-FFF2-40B4-BE49-F238E27FC236}">
                        <a16:creationId xmlns:a16="http://schemas.microsoft.com/office/drawing/2014/main" id="{90799E81-2E35-F501-1C8F-31B759CB95ED}"/>
                      </a:ext>
                    </a:extLst>
                  </p:cNvPr>
                  <p:cNvSpPr/>
                  <p:nvPr/>
                </p:nvSpPr>
                <p:spPr>
                  <a:xfrm>
                    <a:off x="9724403"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39" name="グラフィックス 38" descr="プログラマー男性 単色塗りつぶし">
                  <a:extLst>
                    <a:ext uri="{FF2B5EF4-FFF2-40B4-BE49-F238E27FC236}">
                      <a16:creationId xmlns:a16="http://schemas.microsoft.com/office/drawing/2014/main" id="{D973FEE1-36F1-33CF-E761-4DC62307167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14361" y="2218970"/>
                  <a:ext cx="598662" cy="598661"/>
                </a:xfrm>
                <a:prstGeom prst="rect">
                  <a:avLst/>
                </a:prstGeom>
              </p:spPr>
            </p:pic>
            <p:sp>
              <p:nvSpPr>
                <p:cNvPr id="40" name="四角形: 角を丸くする 39">
                  <a:extLst>
                    <a:ext uri="{FF2B5EF4-FFF2-40B4-BE49-F238E27FC236}">
                      <a16:creationId xmlns:a16="http://schemas.microsoft.com/office/drawing/2014/main" id="{E5CA9693-0DF1-8EAD-693C-B6C1EEBB2C21}"/>
                    </a:ext>
                  </a:extLst>
                </p:cNvPr>
                <p:cNvSpPr/>
                <p:nvPr/>
              </p:nvSpPr>
              <p:spPr>
                <a:xfrm>
                  <a:off x="1711041" y="2812978"/>
                  <a:ext cx="805292"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高評価</a:t>
                  </a:r>
                  <a:r>
                    <a:rPr lang="en-US" altLang="ja-JP" sz="1100" dirty="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42" name="グループ化 41">
                <a:extLst>
                  <a:ext uri="{FF2B5EF4-FFF2-40B4-BE49-F238E27FC236}">
                    <a16:creationId xmlns:a16="http://schemas.microsoft.com/office/drawing/2014/main" id="{A5A8D557-624C-6C1A-4F08-B32F073D5069}"/>
                  </a:ext>
                </a:extLst>
              </p:cNvPr>
              <p:cNvGrpSpPr/>
              <p:nvPr/>
            </p:nvGrpSpPr>
            <p:grpSpPr>
              <a:xfrm>
                <a:off x="4781115" y="2156977"/>
                <a:ext cx="685865" cy="1051571"/>
                <a:chOff x="1768647" y="2218970"/>
                <a:chExt cx="685865" cy="1051571"/>
              </a:xfrm>
            </p:grpSpPr>
            <p:grpSp>
              <p:nvGrpSpPr>
                <p:cNvPr id="43" name="グループ化 42">
                  <a:extLst>
                    <a:ext uri="{FF2B5EF4-FFF2-40B4-BE49-F238E27FC236}">
                      <a16:creationId xmlns:a16="http://schemas.microsoft.com/office/drawing/2014/main" id="{B88D63E1-36E2-E61A-B5B6-E396161129C4}"/>
                    </a:ext>
                  </a:extLst>
                </p:cNvPr>
                <p:cNvGrpSpPr/>
                <p:nvPr/>
              </p:nvGrpSpPr>
              <p:grpSpPr>
                <a:xfrm>
                  <a:off x="1768647" y="3050165"/>
                  <a:ext cx="685865" cy="220376"/>
                  <a:chOff x="9071915" y="6077993"/>
                  <a:chExt cx="961395" cy="308907"/>
                </a:xfrm>
              </p:grpSpPr>
              <p:sp>
                <p:nvSpPr>
                  <p:cNvPr id="46" name="星: 5 pt 45">
                    <a:extLst>
                      <a:ext uri="{FF2B5EF4-FFF2-40B4-BE49-F238E27FC236}">
                        <a16:creationId xmlns:a16="http://schemas.microsoft.com/office/drawing/2014/main" id="{08F9C6F8-1159-7135-A882-780C3D5A0110}"/>
                      </a:ext>
                    </a:extLst>
                  </p:cNvPr>
                  <p:cNvSpPr/>
                  <p:nvPr/>
                </p:nvSpPr>
                <p:spPr>
                  <a:xfrm>
                    <a:off x="9071915"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星: 5 pt 46">
                    <a:extLst>
                      <a:ext uri="{FF2B5EF4-FFF2-40B4-BE49-F238E27FC236}">
                        <a16:creationId xmlns:a16="http://schemas.microsoft.com/office/drawing/2014/main" id="{B14ACBEF-5B62-4E39-EB81-877D274C23F3}"/>
                      </a:ext>
                    </a:extLst>
                  </p:cNvPr>
                  <p:cNvSpPr/>
                  <p:nvPr/>
                </p:nvSpPr>
                <p:spPr>
                  <a:xfrm>
                    <a:off x="9401113" y="6077993"/>
                    <a:ext cx="308907" cy="308907"/>
                  </a:xfrm>
                  <a:prstGeom prst="star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星: 5 pt 47">
                    <a:extLst>
                      <a:ext uri="{FF2B5EF4-FFF2-40B4-BE49-F238E27FC236}">
                        <a16:creationId xmlns:a16="http://schemas.microsoft.com/office/drawing/2014/main" id="{3024940D-4279-A4C1-3AD4-D033683C5557}"/>
                      </a:ext>
                    </a:extLst>
                  </p:cNvPr>
                  <p:cNvSpPr/>
                  <p:nvPr/>
                </p:nvSpPr>
                <p:spPr>
                  <a:xfrm>
                    <a:off x="9724403" y="6077993"/>
                    <a:ext cx="308907" cy="308907"/>
                  </a:xfrm>
                  <a:prstGeom prst="star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44" name="グラフィックス 43" descr="プログラマー男性 単色塗りつぶし">
                  <a:extLst>
                    <a:ext uri="{FF2B5EF4-FFF2-40B4-BE49-F238E27FC236}">
                      <a16:creationId xmlns:a16="http://schemas.microsoft.com/office/drawing/2014/main" id="{43524280-547E-723B-4F5B-731B544E5FF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814361" y="2218970"/>
                  <a:ext cx="598662" cy="598661"/>
                </a:xfrm>
                <a:prstGeom prst="rect">
                  <a:avLst/>
                </a:prstGeom>
              </p:spPr>
            </p:pic>
            <p:sp>
              <p:nvSpPr>
                <p:cNvPr id="45" name="四角形: 角を丸くする 44">
                  <a:extLst>
                    <a:ext uri="{FF2B5EF4-FFF2-40B4-BE49-F238E27FC236}">
                      <a16:creationId xmlns:a16="http://schemas.microsoft.com/office/drawing/2014/main" id="{4E0E0819-CB62-B184-8F97-C14103B29824}"/>
                    </a:ext>
                  </a:extLst>
                </p:cNvPr>
                <p:cNvSpPr/>
                <p:nvPr/>
              </p:nvSpPr>
              <p:spPr>
                <a:xfrm>
                  <a:off x="1780518" y="2812978"/>
                  <a:ext cx="666339"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通常</a:t>
                  </a:r>
                  <a:r>
                    <a:rPr lang="en-US" altLang="ja-JP" sz="1100" dirty="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sp>
            <p:nvSpPr>
              <p:cNvPr id="49" name="テキスト ボックス 48">
                <a:extLst>
                  <a:ext uri="{FF2B5EF4-FFF2-40B4-BE49-F238E27FC236}">
                    <a16:creationId xmlns:a16="http://schemas.microsoft.com/office/drawing/2014/main" id="{E9EBE32A-5175-D9AA-3F20-C74922EFE727}"/>
                  </a:ext>
                </a:extLst>
              </p:cNvPr>
              <p:cNvSpPr txBox="1"/>
              <p:nvPr/>
            </p:nvSpPr>
            <p:spPr>
              <a:xfrm>
                <a:off x="4113884" y="2456307"/>
                <a:ext cx="415498" cy="369332"/>
              </a:xfrm>
              <a:prstGeom prst="rect">
                <a:avLst/>
              </a:prstGeom>
              <a:noFill/>
            </p:spPr>
            <p:txBody>
              <a:bodyPr wrap="none" rtlCol="0">
                <a:spAutoFit/>
              </a:bodyPr>
              <a:lstStyle/>
              <a:p>
                <a:r>
                  <a:rPr kumimoji="1" lang="ja-JP" altLang="en-US" dirty="0"/>
                  <a:t>＞</a:t>
                </a:r>
              </a:p>
            </p:txBody>
          </p:sp>
          <p:sp>
            <p:nvSpPr>
              <p:cNvPr id="50" name="テキスト ボックス 49">
                <a:extLst>
                  <a:ext uri="{FF2B5EF4-FFF2-40B4-BE49-F238E27FC236}">
                    <a16:creationId xmlns:a16="http://schemas.microsoft.com/office/drawing/2014/main" id="{9477A86F-9496-C9FE-60B4-594DD2FB73A1}"/>
                  </a:ext>
                </a:extLst>
              </p:cNvPr>
              <p:cNvSpPr txBox="1"/>
              <p:nvPr/>
            </p:nvSpPr>
            <p:spPr>
              <a:xfrm>
                <a:off x="5734909" y="2456307"/>
                <a:ext cx="415498" cy="369332"/>
              </a:xfrm>
              <a:prstGeom prst="rect">
                <a:avLst/>
              </a:prstGeom>
              <a:noFill/>
            </p:spPr>
            <p:txBody>
              <a:bodyPr wrap="none" rtlCol="0">
                <a:spAutoFit/>
              </a:bodyPr>
              <a:lstStyle/>
              <a:p>
                <a:r>
                  <a:rPr kumimoji="1" lang="ja-JP" altLang="en-US" dirty="0"/>
                  <a:t>＞</a:t>
                </a:r>
              </a:p>
            </p:txBody>
          </p:sp>
        </p:grpSp>
        <p:sp>
          <p:nvSpPr>
            <p:cNvPr id="54" name="吹き出し: 角を丸めた四角形 53">
              <a:extLst>
                <a:ext uri="{FF2B5EF4-FFF2-40B4-BE49-F238E27FC236}">
                  <a16:creationId xmlns:a16="http://schemas.microsoft.com/office/drawing/2014/main" id="{20E15EF1-A1C5-4B22-382D-B29221A3F750}"/>
                </a:ext>
              </a:extLst>
            </p:cNvPr>
            <p:cNvSpPr/>
            <p:nvPr/>
          </p:nvSpPr>
          <p:spPr>
            <a:xfrm>
              <a:off x="3156362" y="2733634"/>
              <a:ext cx="950223" cy="343276"/>
            </a:xfrm>
            <a:prstGeom prst="wedgeRoundRectCallout">
              <a:avLst>
                <a:gd name="adj1" fmla="val -2503"/>
                <a:gd name="adj2" fmla="val -90511"/>
                <a:gd name="adj3" fmla="val 16667"/>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108000" rIns="108000" bIns="72000" rtlCol="0" anchor="ctr">
              <a:spAutoFit/>
            </a:bodyPr>
            <a:lstStyle/>
            <a:p>
              <a:pPr>
                <a:lnSpc>
                  <a:spcPct val="120000"/>
                </a:lnSpc>
              </a:pPr>
              <a:r>
                <a:rPr kumimoji="1" lang="ja-JP" altLang="en-US" sz="1100" dirty="0">
                  <a:solidFill>
                    <a:schemeClr val="tx1"/>
                  </a:solidFill>
                  <a:latin typeface="游ゴシック Medium" panose="020B0500000000000000" pitchFamily="50" charset="-128"/>
                  <a:ea typeface="游ゴシック Medium" panose="020B0500000000000000" pitchFamily="50" charset="-128"/>
                </a:rPr>
                <a:t>集めにくい</a:t>
              </a:r>
            </a:p>
          </p:txBody>
        </p:sp>
        <p:sp>
          <p:nvSpPr>
            <p:cNvPr id="55" name="矢印: 五方向 54">
              <a:extLst>
                <a:ext uri="{FF2B5EF4-FFF2-40B4-BE49-F238E27FC236}">
                  <a16:creationId xmlns:a16="http://schemas.microsoft.com/office/drawing/2014/main" id="{BD679F99-EB76-8A67-6AC5-0063D0E98007}"/>
                </a:ext>
              </a:extLst>
            </p:cNvPr>
            <p:cNvSpPr/>
            <p:nvPr/>
          </p:nvSpPr>
          <p:spPr>
            <a:xfrm flipH="1">
              <a:off x="4578479" y="2725875"/>
              <a:ext cx="1209356" cy="351035"/>
            </a:xfrm>
            <a:prstGeom prst="homePlat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0000" bIns="90000" rtlCol="0" anchor="ctr">
              <a:spAutoFit/>
            </a:bodyPr>
            <a:lstStyle/>
            <a:p>
              <a:pPr algn="ctr"/>
              <a:r>
                <a:rPr kumimoji="1" lang="ja-JP" altLang="en-US" sz="1100" dirty="0">
                  <a:solidFill>
                    <a:schemeClr val="bg2">
                      <a:lumMod val="10000"/>
                    </a:schemeClr>
                  </a:solidFill>
                  <a:latin typeface="游ゴシック Medium" panose="020B0500000000000000" pitchFamily="50" charset="-128"/>
                  <a:ea typeface="游ゴシック Medium" panose="020B0500000000000000" pitchFamily="50" charset="-128"/>
                </a:rPr>
                <a:t>自然と集まる</a:t>
              </a:r>
            </a:p>
          </p:txBody>
        </p:sp>
        <p:sp>
          <p:nvSpPr>
            <p:cNvPr id="56" name="矢印: 五方向 55">
              <a:extLst>
                <a:ext uri="{FF2B5EF4-FFF2-40B4-BE49-F238E27FC236}">
                  <a16:creationId xmlns:a16="http://schemas.microsoft.com/office/drawing/2014/main" id="{749FED25-E7E7-E192-1FF3-4FBB581F1824}"/>
                </a:ext>
              </a:extLst>
            </p:cNvPr>
            <p:cNvSpPr/>
            <p:nvPr/>
          </p:nvSpPr>
          <p:spPr>
            <a:xfrm flipH="1">
              <a:off x="6259729" y="2725875"/>
              <a:ext cx="1209356" cy="351035"/>
            </a:xfrm>
            <a:prstGeom prst="homePlat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0000" bIns="90000" rtlCol="0" anchor="ctr">
              <a:spAutoFit/>
            </a:bodyPr>
            <a:lstStyle/>
            <a:p>
              <a:pPr algn="ctr"/>
              <a:r>
                <a:rPr kumimoji="1" lang="ja-JP" altLang="en-US" sz="1100" dirty="0">
                  <a:solidFill>
                    <a:schemeClr val="bg2">
                      <a:lumMod val="10000"/>
                    </a:schemeClr>
                  </a:solidFill>
                  <a:latin typeface="游ゴシック Medium" panose="020B0500000000000000" pitchFamily="50" charset="-128"/>
                  <a:ea typeface="游ゴシック Medium" panose="020B0500000000000000" pitchFamily="50" charset="-128"/>
                </a:rPr>
                <a:t>自然と集まる</a:t>
              </a:r>
            </a:p>
          </p:txBody>
        </p:sp>
        <p:sp>
          <p:nvSpPr>
            <p:cNvPr id="57" name="矢印: 五方向 56">
              <a:extLst>
                <a:ext uri="{FF2B5EF4-FFF2-40B4-BE49-F238E27FC236}">
                  <a16:creationId xmlns:a16="http://schemas.microsoft.com/office/drawing/2014/main" id="{7BE58ECE-ABB5-0F74-88FE-533412D6AD25}"/>
                </a:ext>
              </a:extLst>
            </p:cNvPr>
            <p:cNvSpPr/>
            <p:nvPr/>
          </p:nvSpPr>
          <p:spPr>
            <a:xfrm flipH="1">
              <a:off x="7806430" y="2725875"/>
              <a:ext cx="1209356" cy="351035"/>
            </a:xfrm>
            <a:prstGeom prst="homePlate">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tIns="90000" bIns="90000" rtlCol="0" anchor="ctr">
              <a:spAutoFit/>
            </a:bodyPr>
            <a:lstStyle/>
            <a:p>
              <a:pPr algn="ctr"/>
              <a:r>
                <a:rPr kumimoji="1" lang="ja-JP" altLang="en-US" sz="1100" dirty="0">
                  <a:solidFill>
                    <a:schemeClr val="bg2">
                      <a:lumMod val="10000"/>
                    </a:schemeClr>
                  </a:solidFill>
                  <a:latin typeface="游ゴシック Medium" panose="020B0500000000000000" pitchFamily="50" charset="-128"/>
                  <a:ea typeface="游ゴシック Medium" panose="020B0500000000000000" pitchFamily="50" charset="-128"/>
                </a:rPr>
                <a:t>自然と集まる</a:t>
              </a:r>
            </a:p>
          </p:txBody>
        </p:sp>
      </p:grpSp>
      <p:sp>
        <p:nvSpPr>
          <p:cNvPr id="61" name="Content Placeholder 2">
            <a:extLst>
              <a:ext uri="{FF2B5EF4-FFF2-40B4-BE49-F238E27FC236}">
                <a16:creationId xmlns:a16="http://schemas.microsoft.com/office/drawing/2014/main" id="{97CC957C-487B-72C2-49B2-0228488E95CA}"/>
              </a:ext>
            </a:extLst>
          </p:cNvPr>
          <p:cNvSpPr txBox="1">
            <a:spLocks/>
          </p:cNvSpPr>
          <p:nvPr/>
        </p:nvSpPr>
        <p:spPr>
          <a:xfrm>
            <a:off x="612647" y="2945549"/>
            <a:ext cx="10653579" cy="338668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0" lang="ja-JP" altLang="en-US" sz="1600" dirty="0">
                <a:latin typeface="游ゴシック Medium" panose="020B0500000000000000" pitchFamily="50" charset="-128"/>
                <a:ea typeface="游ゴシック Medium" panose="020B0500000000000000" pitchFamily="50" charset="-128"/>
              </a:rPr>
              <a:t>検討中の案</a:t>
            </a:r>
            <a:endParaRPr kumimoji="0" lang="en-US" altLang="ja-JP" sz="1600" dirty="0">
              <a:latin typeface="游ゴシック Medium" panose="020B0500000000000000" pitchFamily="50" charset="-128"/>
              <a:ea typeface="游ゴシック Medium" panose="020B0500000000000000" pitchFamily="50" charset="-128"/>
            </a:endParaRPr>
          </a:p>
          <a:p>
            <a:pPr marL="342900" indent="-342900">
              <a:buFont typeface="Arial" panose="020B0604020202020204" pitchFamily="34" charset="0"/>
              <a:buAutoNum type="arabicPeriod"/>
            </a:pPr>
            <a:r>
              <a:rPr kumimoji="0" lang="ja-JP" altLang="en-US" sz="1600" dirty="0">
                <a:latin typeface="游ゴシック Medium" panose="020B0500000000000000" pitchFamily="50" charset="-128"/>
                <a:ea typeface="游ゴシック Medium" panose="020B0500000000000000" pitchFamily="50" charset="-128"/>
              </a:rPr>
              <a:t>案件会社を集める：「中抜き無しの要員紹介」や「協力報酬」などコストをかけて収集する</a:t>
            </a:r>
            <a:endParaRPr kumimoji="0" lang="en-US" altLang="ja-JP" sz="1600" dirty="0">
              <a:latin typeface="游ゴシック Medium" panose="020B0500000000000000" pitchFamily="50" charset="-128"/>
              <a:ea typeface="游ゴシック Medium" panose="020B0500000000000000" pitchFamily="50" charset="-128"/>
            </a:endParaRPr>
          </a:p>
          <a:p>
            <a:pPr marL="342900" indent="-342900">
              <a:buFont typeface="Arial" panose="020B0604020202020204" pitchFamily="34" charset="0"/>
              <a:buAutoNum type="arabicPeriod"/>
            </a:pPr>
            <a:r>
              <a:rPr kumimoji="0" lang="ja-JP" altLang="en-US" sz="1600" dirty="0">
                <a:latin typeface="游ゴシック Medium" panose="020B0500000000000000" pitchFamily="50" charset="-128"/>
                <a:ea typeface="游ゴシック Medium" panose="020B0500000000000000" pitchFamily="50" charset="-128"/>
              </a:rPr>
              <a:t>通常</a:t>
            </a:r>
            <a:r>
              <a:rPr kumimoji="0" lang="en-US" altLang="ja-JP" sz="1600" dirty="0">
                <a:latin typeface="游ゴシック Medium" panose="020B0500000000000000" pitchFamily="50" charset="-128"/>
                <a:ea typeface="游ゴシック Medium" panose="020B0500000000000000" pitchFamily="50" charset="-128"/>
              </a:rPr>
              <a:t>SE</a:t>
            </a:r>
            <a:r>
              <a:rPr kumimoji="0" lang="ja-JP" altLang="en-US" sz="1600" dirty="0">
                <a:latin typeface="游ゴシック Medium" panose="020B0500000000000000" pitchFamily="50" charset="-128"/>
                <a:ea typeface="游ゴシック Medium" panose="020B0500000000000000" pitchFamily="50" charset="-128"/>
              </a:rPr>
              <a:t>を集める：</a:t>
            </a:r>
            <a:r>
              <a:rPr kumimoji="0" lang="en-US" altLang="ja-JP" sz="1600" dirty="0">
                <a:latin typeface="游ゴシック Medium" panose="020B0500000000000000" pitchFamily="50" charset="-128"/>
                <a:ea typeface="游ゴシック Medium" panose="020B0500000000000000" pitchFamily="50" charset="-128"/>
              </a:rPr>
              <a:t>1</a:t>
            </a:r>
            <a:r>
              <a:rPr kumimoji="0" lang="ja-JP" altLang="en-US" sz="1600" dirty="0">
                <a:latin typeface="游ゴシック Medium" panose="020B0500000000000000" pitchFamily="50" charset="-128"/>
                <a:ea typeface="游ゴシック Medium" panose="020B0500000000000000" pitchFamily="50" charset="-128"/>
              </a:rPr>
              <a:t>で収集した案件のアサイン要員として通常</a:t>
            </a:r>
            <a:r>
              <a:rPr kumimoji="0" lang="en-US" altLang="ja-JP" sz="1600" dirty="0">
                <a:latin typeface="游ゴシック Medium" panose="020B0500000000000000" pitchFamily="50" charset="-128"/>
                <a:ea typeface="游ゴシック Medium" panose="020B0500000000000000" pitchFamily="50" charset="-128"/>
              </a:rPr>
              <a:t>SE</a:t>
            </a:r>
            <a:r>
              <a:rPr kumimoji="0" lang="ja-JP" altLang="en-US" sz="1600" dirty="0">
                <a:latin typeface="游ゴシック Medium" panose="020B0500000000000000" pitchFamily="50" charset="-128"/>
                <a:ea typeface="游ゴシック Medium" panose="020B0500000000000000" pitchFamily="50" charset="-128"/>
              </a:rPr>
              <a:t>を集める</a:t>
            </a:r>
            <a:endParaRPr kumimoji="0" lang="en-US" altLang="ja-JP" sz="1600" dirty="0">
              <a:latin typeface="游ゴシック Medium" panose="020B0500000000000000" pitchFamily="50" charset="-128"/>
              <a:ea typeface="游ゴシック Medium" panose="020B0500000000000000" pitchFamily="50" charset="-128"/>
            </a:endParaRPr>
          </a:p>
          <a:p>
            <a:pPr marL="342900" indent="-342900">
              <a:buFont typeface="Arial" panose="020B0604020202020204" pitchFamily="34" charset="0"/>
              <a:buAutoNum type="arabicPeriod"/>
            </a:pPr>
            <a:r>
              <a:rPr kumimoji="0" lang="ja-JP" altLang="en-US" sz="1600" dirty="0">
                <a:latin typeface="游ゴシック Medium" panose="020B0500000000000000" pitchFamily="50" charset="-128"/>
                <a:ea typeface="游ゴシック Medium" panose="020B0500000000000000" pitchFamily="50" charset="-128"/>
              </a:rPr>
              <a:t>通常</a:t>
            </a:r>
            <a:r>
              <a:rPr kumimoji="0" lang="en-US" altLang="ja-JP" sz="1600" dirty="0">
                <a:latin typeface="游ゴシック Medium" panose="020B0500000000000000" pitchFamily="50" charset="-128"/>
                <a:ea typeface="游ゴシック Medium" panose="020B0500000000000000" pitchFamily="50" charset="-128"/>
              </a:rPr>
              <a:t>SE</a:t>
            </a:r>
            <a:r>
              <a:rPr kumimoji="0" lang="ja-JP" altLang="en-US" sz="1600" dirty="0">
                <a:latin typeface="游ゴシック Medium" panose="020B0500000000000000" pitchFamily="50" charset="-128"/>
                <a:ea typeface="游ゴシック Medium" panose="020B0500000000000000" pitchFamily="50" charset="-128"/>
              </a:rPr>
              <a:t>を高評価</a:t>
            </a:r>
            <a:r>
              <a:rPr kumimoji="0" lang="en-US" altLang="ja-JP" sz="1600" dirty="0">
                <a:latin typeface="游ゴシック Medium" panose="020B0500000000000000" pitchFamily="50" charset="-128"/>
                <a:ea typeface="游ゴシック Medium" panose="020B0500000000000000" pitchFamily="50" charset="-128"/>
              </a:rPr>
              <a:t>SE</a:t>
            </a:r>
            <a:r>
              <a:rPr kumimoji="0" lang="ja-JP" altLang="en-US" sz="1600" dirty="0">
                <a:latin typeface="游ゴシック Medium" panose="020B0500000000000000" pitchFamily="50" charset="-128"/>
                <a:ea typeface="游ゴシック Medium" panose="020B0500000000000000" pitchFamily="50" charset="-128"/>
              </a:rPr>
              <a:t>に育てる：過去に遡り実績や評価を収集して記録するなどを行い、高評価</a:t>
            </a:r>
            <a:r>
              <a:rPr kumimoji="0" lang="en-US" altLang="ja-JP" sz="1600" dirty="0">
                <a:latin typeface="游ゴシック Medium" panose="020B0500000000000000" pitchFamily="50" charset="-128"/>
                <a:ea typeface="游ゴシック Medium" panose="020B0500000000000000" pitchFamily="50" charset="-128"/>
              </a:rPr>
              <a:t>SE</a:t>
            </a:r>
            <a:r>
              <a:rPr kumimoji="0" lang="ja-JP" altLang="en-US" sz="1600" dirty="0">
                <a:latin typeface="游ゴシック Medium" panose="020B0500000000000000" pitchFamily="50" charset="-128"/>
                <a:ea typeface="游ゴシック Medium" panose="020B0500000000000000" pitchFamily="50" charset="-128"/>
              </a:rPr>
              <a:t>に育てる</a:t>
            </a:r>
            <a:endParaRPr kumimoji="0" lang="en-US" altLang="ja-JP" sz="1600" dirty="0">
              <a:latin typeface="游ゴシック Medium" panose="020B0500000000000000" pitchFamily="50" charset="-128"/>
              <a:ea typeface="游ゴシック Medium" panose="020B0500000000000000" pitchFamily="50" charset="-128"/>
            </a:endParaRPr>
          </a:p>
          <a:p>
            <a:pPr marL="0" indent="0">
              <a:buNone/>
            </a:pPr>
            <a:endParaRPr kumimoji="0" lang="en-US" altLang="ja-JP" sz="1600" dirty="0">
              <a:latin typeface="游ゴシック Medium" panose="020B0500000000000000" pitchFamily="50" charset="-128"/>
              <a:ea typeface="游ゴシック Medium" panose="020B0500000000000000" pitchFamily="50" charset="-128"/>
            </a:endParaRPr>
          </a:p>
          <a:p>
            <a:pPr marL="0" indent="0">
              <a:buNone/>
            </a:pPr>
            <a:r>
              <a:rPr kumimoji="0" lang="ja-JP" altLang="en-US" sz="1600" dirty="0">
                <a:latin typeface="游ゴシック Medium" panose="020B0500000000000000" pitchFamily="50" charset="-128"/>
                <a:ea typeface="游ゴシック Medium" panose="020B0500000000000000" pitchFamily="50" charset="-128"/>
              </a:rPr>
              <a:t>オプション的に以下のような要素も検討</a:t>
            </a:r>
            <a:endParaRPr kumimoji="0" lang="en-US" altLang="ja-JP" sz="1600" dirty="0">
              <a:latin typeface="游ゴシック Medium" panose="020B0500000000000000" pitchFamily="50" charset="-128"/>
              <a:ea typeface="游ゴシック Medium" panose="020B0500000000000000" pitchFamily="50" charset="-128"/>
            </a:endParaRPr>
          </a:p>
          <a:p>
            <a:r>
              <a:rPr kumimoji="0" lang="ja-JP" altLang="en-US" sz="1600" dirty="0">
                <a:latin typeface="游ゴシック Medium" panose="020B0500000000000000" pitchFamily="50" charset="-128"/>
                <a:ea typeface="游ゴシック Medium" panose="020B0500000000000000" pitchFamily="50" charset="-128"/>
              </a:rPr>
              <a:t>開始してしばらくは</a:t>
            </a:r>
            <a:r>
              <a:rPr kumimoji="0" lang="ja-JP" altLang="en-US" sz="1600" u="sng" dirty="0">
                <a:latin typeface="游ゴシック Medium" panose="020B0500000000000000" pitchFamily="50" charset="-128"/>
                <a:ea typeface="游ゴシック Medium" panose="020B0500000000000000" pitchFamily="50" charset="-128"/>
              </a:rPr>
              <a:t>完全紹介制</a:t>
            </a:r>
            <a:r>
              <a:rPr kumimoji="0" lang="ja-JP" altLang="en-US" sz="1600" dirty="0">
                <a:latin typeface="游ゴシック Medium" panose="020B0500000000000000" pitchFamily="50" charset="-128"/>
                <a:ea typeface="游ゴシック Medium" panose="020B0500000000000000" pitchFamily="50" charset="-128"/>
              </a:rPr>
              <a:t>にしてユーザーの品質を優先する</a:t>
            </a:r>
            <a:endParaRPr kumimoji="0" lang="en-US" altLang="ja-JP" sz="1600" dirty="0">
              <a:latin typeface="游ゴシック Medium" panose="020B0500000000000000" pitchFamily="50" charset="-128"/>
              <a:ea typeface="游ゴシック Medium" panose="020B0500000000000000" pitchFamily="50" charset="-128"/>
            </a:endParaRPr>
          </a:p>
          <a:p>
            <a:r>
              <a:rPr kumimoji="0" lang="ja-JP" altLang="en-US" sz="1600" u="sng" dirty="0">
                <a:latin typeface="游ゴシック Medium" panose="020B0500000000000000" pitchFamily="50" charset="-128"/>
                <a:ea typeface="游ゴシック Medium" panose="020B0500000000000000" pitchFamily="50" charset="-128"/>
              </a:rPr>
              <a:t>高評価</a:t>
            </a:r>
            <a:r>
              <a:rPr kumimoji="0" lang="en-US" altLang="ja-JP" sz="1600" u="sng" dirty="0">
                <a:latin typeface="游ゴシック Medium" panose="020B0500000000000000" pitchFamily="50" charset="-128"/>
                <a:ea typeface="游ゴシック Medium" panose="020B0500000000000000" pitchFamily="50" charset="-128"/>
              </a:rPr>
              <a:t>SE</a:t>
            </a:r>
            <a:r>
              <a:rPr kumimoji="0" lang="ja-JP" altLang="en-US" sz="1600" u="sng" dirty="0">
                <a:latin typeface="游ゴシック Medium" panose="020B0500000000000000" pitchFamily="50" charset="-128"/>
                <a:ea typeface="游ゴシック Medium" panose="020B0500000000000000" pitchFamily="50" charset="-128"/>
              </a:rPr>
              <a:t>の多い企業を</a:t>
            </a:r>
            <a:r>
              <a:rPr kumimoji="0" lang="en-US" altLang="ja-JP" sz="1600" u="sng" dirty="0">
                <a:latin typeface="游ゴシック Medium" panose="020B0500000000000000" pitchFamily="50" charset="-128"/>
                <a:ea typeface="游ゴシック Medium" panose="020B0500000000000000" pitchFamily="50" charset="-128"/>
              </a:rPr>
              <a:t>VIP</a:t>
            </a:r>
            <a:r>
              <a:rPr kumimoji="0" lang="ja-JP" altLang="en-US" sz="1600" dirty="0">
                <a:latin typeface="游ゴシック Medium" panose="020B0500000000000000" pitchFamily="50" charset="-128"/>
                <a:ea typeface="游ゴシック Medium" panose="020B0500000000000000" pitchFamily="50" charset="-128"/>
              </a:rPr>
              <a:t>扱いにして、</a:t>
            </a:r>
            <a:r>
              <a:rPr kumimoji="0" lang="en-US" altLang="ja-JP" sz="1600" dirty="0">
                <a:latin typeface="游ゴシック Medium" panose="020B0500000000000000" pitchFamily="50" charset="-128"/>
                <a:ea typeface="游ゴシック Medium" panose="020B0500000000000000" pitchFamily="50" charset="-128"/>
              </a:rPr>
              <a:t>VIP</a:t>
            </a:r>
            <a:r>
              <a:rPr kumimoji="0" lang="ja-JP" altLang="en-US" sz="1600" dirty="0">
                <a:latin typeface="游ゴシック Medium" panose="020B0500000000000000" pitchFamily="50" charset="-128"/>
                <a:ea typeface="游ゴシック Medium" panose="020B0500000000000000" pitchFamily="50" charset="-128"/>
              </a:rPr>
              <a:t>だけ参加可能なオフラインイベントを開催するなど付加価値を作る</a:t>
            </a:r>
            <a:endParaRPr kumimoji="0" lang="en-US" altLang="ja-JP" sz="16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3462272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F660A-B22E-DD72-98C3-48A638BE2F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3B03A-B747-CBC4-F66E-3FBB64FA89CB}"/>
              </a:ext>
            </a:extLst>
          </p:cNvPr>
          <p:cNvSpPr>
            <a:spLocks noGrp="1"/>
          </p:cNvSpPr>
          <p:nvPr>
            <p:ph idx="1"/>
          </p:nvPr>
        </p:nvSpPr>
        <p:spPr>
          <a:xfrm>
            <a:off x="612647" y="931741"/>
            <a:ext cx="10653579" cy="2497259"/>
          </a:xfrm>
        </p:spPr>
        <p:txBody>
          <a:bodyPr vert="horz" lIns="91440" tIns="45720" rIns="91440" bIns="45720" rtlCol="0" anchor="t">
            <a:normAutofit/>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別の方法として「マッチング以外のコンテンツ」を作成して、その利用者をプールとする方法がある</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dirty="0">
                <a:latin typeface="游ゴシック Medium" panose="020B0500000000000000" pitchFamily="50" charset="-128"/>
                <a:ea typeface="游ゴシック Medium" panose="020B0500000000000000" pitchFamily="50" charset="-128"/>
              </a:rPr>
              <a:t>（例）</a:t>
            </a:r>
            <a:endParaRPr lang="en-US" altLang="ja-JP" sz="1600" dirty="0">
              <a:latin typeface="游ゴシック Medium" panose="020B0500000000000000" pitchFamily="50" charset="-128"/>
              <a:ea typeface="游ゴシック Medium" panose="020B0500000000000000" pitchFamily="50" charset="-128"/>
            </a:endParaRPr>
          </a:p>
          <a:p>
            <a:r>
              <a:rPr lang="ja-JP" altLang="en-US" sz="1600" dirty="0">
                <a:latin typeface="游ゴシック Medium" panose="020B0500000000000000" pitchFamily="50" charset="-128"/>
                <a:ea typeface="游ゴシック Medium" panose="020B0500000000000000" pitchFamily="50" charset="-128"/>
              </a:rPr>
              <a:t>要員管理ツールを作成して要員会社に使ってもらい、その後マッチングサービスとして展開</a:t>
            </a:r>
            <a:endParaRPr lang="en-US" altLang="ja-JP" sz="1600" dirty="0">
              <a:latin typeface="游ゴシック Medium" panose="020B0500000000000000" pitchFamily="50" charset="-128"/>
              <a:ea typeface="游ゴシック Medium" panose="020B0500000000000000" pitchFamily="50" charset="-128"/>
            </a:endParaRPr>
          </a:p>
          <a:p>
            <a:r>
              <a:rPr lang="ja-JP" altLang="en-US" sz="1600" dirty="0">
                <a:latin typeface="游ゴシック Medium" panose="020B0500000000000000" pitchFamily="50" charset="-128"/>
                <a:ea typeface="游ゴシック Medium" panose="020B0500000000000000" pitchFamily="50" charset="-128"/>
              </a:rPr>
              <a:t>他には、</a:t>
            </a:r>
            <a:r>
              <a:rPr lang="en-US" altLang="ja-JP" sz="1600" dirty="0">
                <a:latin typeface="游ゴシック Medium" panose="020B0500000000000000" pitchFamily="50" charset="-128"/>
                <a:ea typeface="游ゴシック Medium" panose="020B0500000000000000" pitchFamily="50" charset="-128"/>
              </a:rPr>
              <a:t>SES</a:t>
            </a:r>
            <a:r>
              <a:rPr lang="ja-JP" altLang="en-US" sz="1600" dirty="0">
                <a:latin typeface="游ゴシック Medium" panose="020B0500000000000000" pitchFamily="50" charset="-128"/>
                <a:ea typeface="游ゴシック Medium" panose="020B0500000000000000" pitchFamily="50" charset="-128"/>
              </a:rPr>
              <a:t>の契約書を</a:t>
            </a:r>
            <a:r>
              <a:rPr lang="en-US" altLang="ja-JP" sz="1600" dirty="0">
                <a:latin typeface="游ゴシック Medium" panose="020B0500000000000000" pitchFamily="50" charset="-128"/>
                <a:ea typeface="游ゴシック Medium" panose="020B0500000000000000" pitchFamily="50" charset="-128"/>
              </a:rPr>
              <a:t>AI</a:t>
            </a:r>
            <a:r>
              <a:rPr lang="ja-JP" altLang="en-US" sz="1600" dirty="0">
                <a:latin typeface="游ゴシック Medium" panose="020B0500000000000000" pitchFamily="50" charset="-128"/>
                <a:ea typeface="游ゴシック Medium" panose="020B0500000000000000" pitchFamily="50" charset="-128"/>
              </a:rPr>
              <a:t>が解析してくれるツール、エンジニアの稼働を管理するツール、などが候補</a:t>
            </a:r>
            <a:endParaRPr lang="en-US" altLang="ja-JP" sz="1600" dirty="0">
              <a:latin typeface="游ゴシック Medium" panose="020B0500000000000000" pitchFamily="50" charset="-128"/>
              <a:ea typeface="游ゴシック Medium" panose="020B0500000000000000" pitchFamily="50" charset="-128"/>
            </a:endParaRPr>
          </a:p>
          <a:p>
            <a:r>
              <a:rPr lang="ja-JP" altLang="en-US" sz="1600" dirty="0">
                <a:latin typeface="游ゴシック Medium" panose="020B0500000000000000" pitchFamily="50" charset="-128"/>
                <a:ea typeface="游ゴシック Medium" panose="020B0500000000000000" pitchFamily="50" charset="-128"/>
              </a:rPr>
              <a:t>ただし、そのコンテンツ自体に競争力が必要となるため、追加の課題発見が必要</a:t>
            </a:r>
            <a:endParaRPr lang="en-US" altLang="ja-JP" sz="1600" dirty="0">
              <a:latin typeface="游ゴシック Medium" panose="020B0500000000000000" pitchFamily="50" charset="-128"/>
              <a:ea typeface="游ゴシック Medium" panose="020B0500000000000000" pitchFamily="50" charset="-128"/>
            </a:endParaRPr>
          </a:p>
        </p:txBody>
      </p:sp>
      <p:sp>
        <p:nvSpPr>
          <p:cNvPr id="4" name="Date Placeholder 3">
            <a:extLst>
              <a:ext uri="{FF2B5EF4-FFF2-40B4-BE49-F238E27FC236}">
                <a16:creationId xmlns:a16="http://schemas.microsoft.com/office/drawing/2014/main" id="{8DC05886-F082-5AEE-1088-0C0D8BC91520}"/>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32B75A3C-E41C-6919-0FB1-802AF45A34D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8A352832-F9FD-A77B-AB39-F36E46DE1C6A}"/>
              </a:ext>
            </a:extLst>
          </p:cNvPr>
          <p:cNvSpPr>
            <a:spLocks noGrp="1"/>
          </p:cNvSpPr>
          <p:nvPr>
            <p:ph type="sldNum" sz="quarter" idx="12"/>
          </p:nvPr>
        </p:nvSpPr>
        <p:spPr/>
        <p:txBody>
          <a:bodyPr/>
          <a:lstStyle/>
          <a:p>
            <a:fld id="{CC057153-B650-4DEB-B370-79DDCFDCE934}" type="slidenum">
              <a:rPr lang="en-US" dirty="0"/>
              <a:t>9</a:t>
            </a:fld>
            <a:endParaRPr lang="en-US"/>
          </a:p>
        </p:txBody>
      </p:sp>
      <p:sp>
        <p:nvSpPr>
          <p:cNvPr id="18" name="Title 1">
            <a:extLst>
              <a:ext uri="{FF2B5EF4-FFF2-40B4-BE49-F238E27FC236}">
                <a16:creationId xmlns:a16="http://schemas.microsoft.com/office/drawing/2014/main" id="{EC306FAC-40C8-9826-5DA8-8336B1E489C1}"/>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ユーザー価値と集め方（議論用）</a:t>
            </a:r>
            <a:endParaRPr kumimoji="1" lang="ja-JP" altLang="en-US" dirty="0">
              <a:solidFill>
                <a:srgbClr val="FF0000"/>
              </a:solidFill>
              <a:latin typeface="+mj-ea"/>
            </a:endParaRPr>
          </a:p>
        </p:txBody>
      </p:sp>
    </p:spTree>
    <p:extLst>
      <p:ext uri="{BB962C8B-B14F-4D97-AF65-F5344CB8AC3E}">
        <p14:creationId xmlns:p14="http://schemas.microsoft.com/office/powerpoint/2010/main" val="3006439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3FFAB-CEBE-B324-82E3-172DCE4C40EC}"/>
            </a:ext>
          </a:extLst>
        </p:cNvPr>
        <p:cNvGrpSpPr/>
        <p:nvPr/>
      </p:nvGrpSpPr>
      <p:grpSpPr>
        <a:xfrm>
          <a:off x="0" y="0"/>
          <a:ext cx="0" cy="0"/>
          <a:chOff x="0" y="0"/>
          <a:chExt cx="0" cy="0"/>
        </a:xfrm>
      </p:grpSpPr>
      <p:sp>
        <p:nvSpPr>
          <p:cNvPr id="81" name="四角形: 角を丸くする 80">
            <a:extLst>
              <a:ext uri="{FF2B5EF4-FFF2-40B4-BE49-F238E27FC236}">
                <a16:creationId xmlns:a16="http://schemas.microsoft.com/office/drawing/2014/main" id="{64EDC911-42F7-5841-04D9-5297C431EA16}"/>
              </a:ext>
            </a:extLst>
          </p:cNvPr>
          <p:cNvSpPr/>
          <p:nvPr/>
        </p:nvSpPr>
        <p:spPr>
          <a:xfrm>
            <a:off x="5406846" y="2499360"/>
            <a:ext cx="2337108" cy="3492137"/>
          </a:xfrm>
          <a:prstGeom prst="roundRect">
            <a:avLst>
              <a:gd name="adj" fmla="val 8002"/>
            </a:avLst>
          </a:prstGeom>
          <a:solidFill>
            <a:schemeClr val="accent5">
              <a:lumMod val="20000"/>
              <a:lumOff val="80000"/>
              <a:alpha val="50000"/>
            </a:schemeClr>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2" name="四角形: 角を丸くする 81">
            <a:extLst>
              <a:ext uri="{FF2B5EF4-FFF2-40B4-BE49-F238E27FC236}">
                <a16:creationId xmlns:a16="http://schemas.microsoft.com/office/drawing/2014/main" id="{48038CFD-2D5C-568A-CD02-BDBDC7AAA4ED}"/>
              </a:ext>
            </a:extLst>
          </p:cNvPr>
          <p:cNvSpPr/>
          <p:nvPr/>
        </p:nvSpPr>
        <p:spPr>
          <a:xfrm>
            <a:off x="6635694" y="2328984"/>
            <a:ext cx="3191459" cy="3878502"/>
          </a:xfrm>
          <a:prstGeom prst="roundRect">
            <a:avLst>
              <a:gd name="adj" fmla="val 8002"/>
            </a:avLst>
          </a:prstGeom>
          <a:solidFill>
            <a:schemeClr val="accent5">
              <a:lumMod val="20000"/>
              <a:lumOff val="80000"/>
              <a:alpha val="50000"/>
            </a:schemeClr>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9" name="四角形: 角を丸くする 78">
            <a:extLst>
              <a:ext uri="{FF2B5EF4-FFF2-40B4-BE49-F238E27FC236}">
                <a16:creationId xmlns:a16="http://schemas.microsoft.com/office/drawing/2014/main" id="{87B9DE8A-5764-E430-AA51-8BA48DF0F6C9}"/>
              </a:ext>
            </a:extLst>
          </p:cNvPr>
          <p:cNvSpPr/>
          <p:nvPr/>
        </p:nvSpPr>
        <p:spPr>
          <a:xfrm>
            <a:off x="4406741" y="2328984"/>
            <a:ext cx="2136845" cy="3878502"/>
          </a:xfrm>
          <a:prstGeom prst="roundRect">
            <a:avLst>
              <a:gd name="adj" fmla="val 8002"/>
            </a:avLst>
          </a:prstGeom>
          <a:solidFill>
            <a:schemeClr val="accent5">
              <a:lumMod val="20000"/>
              <a:lumOff val="80000"/>
              <a:alpha val="50000"/>
            </a:schemeClr>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14" name="グループ化 13">
            <a:extLst>
              <a:ext uri="{FF2B5EF4-FFF2-40B4-BE49-F238E27FC236}">
                <a16:creationId xmlns:a16="http://schemas.microsoft.com/office/drawing/2014/main" id="{1623CD3D-F1DB-7474-BCB1-53539F0F255A}"/>
              </a:ext>
            </a:extLst>
          </p:cNvPr>
          <p:cNvGrpSpPr/>
          <p:nvPr/>
        </p:nvGrpSpPr>
        <p:grpSpPr>
          <a:xfrm>
            <a:off x="4406741" y="2710030"/>
            <a:ext cx="3378517" cy="2810486"/>
            <a:chOff x="4230392" y="2727959"/>
            <a:chExt cx="3378517" cy="2810486"/>
          </a:xfrm>
        </p:grpSpPr>
        <p:pic>
          <p:nvPicPr>
            <p:cNvPr id="10" name="グラフィックス 9" descr="ソーシャル ネットワーク 枠線">
              <a:extLst>
                <a:ext uri="{FF2B5EF4-FFF2-40B4-BE49-F238E27FC236}">
                  <a16:creationId xmlns:a16="http://schemas.microsoft.com/office/drawing/2014/main" id="{B03712EA-3E9B-9417-06AF-23841ABDD4B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16285" y="2727959"/>
              <a:ext cx="1606731" cy="1606731"/>
            </a:xfrm>
            <a:prstGeom prst="rect">
              <a:avLst/>
            </a:prstGeom>
          </p:spPr>
        </p:pic>
        <p:pic>
          <p:nvPicPr>
            <p:cNvPr id="11" name="グラフィックス 10" descr="ソーシャル ネットワーク 枠線">
              <a:extLst>
                <a:ext uri="{FF2B5EF4-FFF2-40B4-BE49-F238E27FC236}">
                  <a16:creationId xmlns:a16="http://schemas.microsoft.com/office/drawing/2014/main" id="{52E4F880-D3C4-391A-C0E5-27C4CC217A0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02178" y="3328646"/>
              <a:ext cx="1606731" cy="1606731"/>
            </a:xfrm>
            <a:prstGeom prst="rect">
              <a:avLst/>
            </a:prstGeom>
          </p:spPr>
        </p:pic>
        <p:pic>
          <p:nvPicPr>
            <p:cNvPr id="12" name="グラフィックス 11" descr="ソーシャル ネットワーク 枠線">
              <a:extLst>
                <a:ext uri="{FF2B5EF4-FFF2-40B4-BE49-F238E27FC236}">
                  <a16:creationId xmlns:a16="http://schemas.microsoft.com/office/drawing/2014/main" id="{FCE91F09-89DD-E833-F516-99AF65C6A45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16285" y="3931714"/>
              <a:ext cx="1606731" cy="1606731"/>
            </a:xfrm>
            <a:prstGeom prst="rect">
              <a:avLst/>
            </a:prstGeom>
          </p:spPr>
        </p:pic>
        <p:pic>
          <p:nvPicPr>
            <p:cNvPr id="13" name="グラフィックス 12" descr="ソーシャル ネットワーク 枠線">
              <a:extLst>
                <a:ext uri="{FF2B5EF4-FFF2-40B4-BE49-F238E27FC236}">
                  <a16:creationId xmlns:a16="http://schemas.microsoft.com/office/drawing/2014/main" id="{8C95FB7F-63E9-9832-5154-B7A64310B1A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30392" y="3328645"/>
              <a:ext cx="1606731" cy="1606731"/>
            </a:xfrm>
            <a:prstGeom prst="rect">
              <a:avLst/>
            </a:prstGeom>
          </p:spPr>
        </p:pic>
      </p:grpSp>
      <p:sp>
        <p:nvSpPr>
          <p:cNvPr id="53" name="矢印: 右 52">
            <a:extLst>
              <a:ext uri="{FF2B5EF4-FFF2-40B4-BE49-F238E27FC236}">
                <a16:creationId xmlns:a16="http://schemas.microsoft.com/office/drawing/2014/main" id="{1315C9B3-8229-84A8-F50D-5DE0DC80B922}"/>
              </a:ext>
            </a:extLst>
          </p:cNvPr>
          <p:cNvSpPr/>
          <p:nvPr/>
        </p:nvSpPr>
        <p:spPr>
          <a:xfrm rot="21362222">
            <a:off x="5560311" y="3885333"/>
            <a:ext cx="3378946" cy="383395"/>
          </a:xfrm>
          <a:prstGeom prst="rightArrow">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chemeClr val="tx1">
                  <a:lumMod val="85000"/>
                  <a:lumOff val="15000"/>
                </a:schemeClr>
              </a:solidFill>
              <a:latin typeface="游ゴシック" panose="020B0400000000000000" pitchFamily="50" charset="-128"/>
              <a:ea typeface="游ゴシック" panose="020B0400000000000000" pitchFamily="50" charset="-128"/>
            </a:endParaRPr>
          </a:p>
        </p:txBody>
      </p:sp>
      <p:sp>
        <p:nvSpPr>
          <p:cNvPr id="4" name="Date Placeholder 3">
            <a:extLst>
              <a:ext uri="{FF2B5EF4-FFF2-40B4-BE49-F238E27FC236}">
                <a16:creationId xmlns:a16="http://schemas.microsoft.com/office/drawing/2014/main" id="{677764FF-D0A1-57AF-9402-A76BEB5C9748}"/>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CC25467C-945B-AF97-288F-86021F798CAF}"/>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CFA7063D-CEB6-590F-04C8-0B25558E5DFD}"/>
              </a:ext>
            </a:extLst>
          </p:cNvPr>
          <p:cNvSpPr>
            <a:spLocks noGrp="1"/>
          </p:cNvSpPr>
          <p:nvPr>
            <p:ph type="sldNum" sz="quarter" idx="12"/>
          </p:nvPr>
        </p:nvSpPr>
        <p:spPr/>
        <p:txBody>
          <a:bodyPr/>
          <a:lstStyle/>
          <a:p>
            <a:fld id="{CC057153-B650-4DEB-B370-79DDCFDCE934}" type="slidenum">
              <a:rPr lang="en-US" dirty="0"/>
              <a:t>10</a:t>
            </a:fld>
            <a:endParaRPr lang="en-US"/>
          </a:p>
        </p:txBody>
      </p:sp>
      <p:sp>
        <p:nvSpPr>
          <p:cNvPr id="18" name="Title 1">
            <a:extLst>
              <a:ext uri="{FF2B5EF4-FFF2-40B4-BE49-F238E27FC236}">
                <a16:creationId xmlns:a16="http://schemas.microsoft.com/office/drawing/2014/main" id="{36DF38AF-BCB8-0230-7721-C955CA236FC7}"/>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各会社の求めるもの</a:t>
            </a:r>
            <a:endParaRPr kumimoji="1" lang="ja-JP" altLang="en-US" dirty="0">
              <a:solidFill>
                <a:srgbClr val="FF0000"/>
              </a:solidFill>
              <a:latin typeface="+mj-ea"/>
            </a:endParaRPr>
          </a:p>
        </p:txBody>
      </p:sp>
      <p:graphicFrame>
        <p:nvGraphicFramePr>
          <p:cNvPr id="2" name="表 1">
            <a:extLst>
              <a:ext uri="{FF2B5EF4-FFF2-40B4-BE49-F238E27FC236}">
                <a16:creationId xmlns:a16="http://schemas.microsoft.com/office/drawing/2014/main" id="{0B9B753C-C549-999E-5125-B5641063BF85}"/>
              </a:ext>
            </a:extLst>
          </p:cNvPr>
          <p:cNvGraphicFramePr>
            <a:graphicFrameLocks noGrp="1"/>
          </p:cNvGraphicFramePr>
          <p:nvPr>
            <p:extLst>
              <p:ext uri="{D42A27DB-BD31-4B8C-83A1-F6EECF244321}">
                <p14:modId xmlns:p14="http://schemas.microsoft.com/office/powerpoint/2010/main" val="1321663034"/>
              </p:ext>
            </p:extLst>
          </p:nvPr>
        </p:nvGraphicFramePr>
        <p:xfrm>
          <a:off x="1532328" y="930749"/>
          <a:ext cx="8814216" cy="914400"/>
        </p:xfrm>
        <a:graphic>
          <a:graphicData uri="http://schemas.openxmlformats.org/drawingml/2006/table">
            <a:tbl>
              <a:tblPr firstRow="1" bandRow="1">
                <a:tableStyleId>{5940675A-B579-460E-94D1-54222C63F5DA}</a:tableStyleId>
              </a:tblPr>
              <a:tblGrid>
                <a:gridCol w="623910">
                  <a:extLst>
                    <a:ext uri="{9D8B030D-6E8A-4147-A177-3AD203B41FA5}">
                      <a16:colId xmlns:a16="http://schemas.microsoft.com/office/drawing/2014/main" val="3230237105"/>
                    </a:ext>
                  </a:extLst>
                </a:gridCol>
                <a:gridCol w="2993335">
                  <a:extLst>
                    <a:ext uri="{9D8B030D-6E8A-4147-A177-3AD203B41FA5}">
                      <a16:colId xmlns:a16="http://schemas.microsoft.com/office/drawing/2014/main" val="3838589455"/>
                    </a:ext>
                  </a:extLst>
                </a:gridCol>
                <a:gridCol w="2880521">
                  <a:extLst>
                    <a:ext uri="{9D8B030D-6E8A-4147-A177-3AD203B41FA5}">
                      <a16:colId xmlns:a16="http://schemas.microsoft.com/office/drawing/2014/main" val="4013795392"/>
                    </a:ext>
                  </a:extLst>
                </a:gridCol>
                <a:gridCol w="2316450">
                  <a:extLst>
                    <a:ext uri="{9D8B030D-6E8A-4147-A177-3AD203B41FA5}">
                      <a16:colId xmlns:a16="http://schemas.microsoft.com/office/drawing/2014/main" val="1060430644"/>
                    </a:ext>
                  </a:extLst>
                </a:gridCol>
              </a:tblGrid>
              <a:tr h="268471">
                <a:tc>
                  <a:txBody>
                    <a:bodyPr/>
                    <a:lstStyle/>
                    <a:p>
                      <a:endParaRPr kumimoji="1" lang="ja-JP" altLang="en-US" sz="1400" dirty="0"/>
                    </a:p>
                  </a:txBody>
                  <a:tcPr/>
                </a:tc>
                <a:tc>
                  <a:txBody>
                    <a:bodyPr/>
                    <a:lstStyle/>
                    <a:p>
                      <a:r>
                        <a:rPr kumimoji="1" lang="ja-JP" altLang="en-US" sz="1400" dirty="0"/>
                        <a:t>案件企業</a:t>
                      </a:r>
                    </a:p>
                  </a:txBody>
                  <a:tcPr/>
                </a:tc>
                <a:tc>
                  <a:txBody>
                    <a:bodyPr/>
                    <a:lstStyle/>
                    <a:p>
                      <a:r>
                        <a:rPr kumimoji="1" lang="ja-JP" altLang="en-US" sz="1400" dirty="0"/>
                        <a:t>要員企業</a:t>
                      </a:r>
                    </a:p>
                  </a:txBody>
                  <a:tcPr/>
                </a:tc>
                <a:tc>
                  <a:txBody>
                    <a:bodyPr/>
                    <a:lstStyle/>
                    <a:p>
                      <a:r>
                        <a:rPr kumimoji="1" lang="ja-JP" altLang="en-US" sz="1400" dirty="0"/>
                        <a:t>仲介企業</a:t>
                      </a:r>
                    </a:p>
                  </a:txBody>
                  <a:tcPr/>
                </a:tc>
                <a:extLst>
                  <a:ext uri="{0D108BD9-81ED-4DB2-BD59-A6C34878D82A}">
                    <a16:rowId xmlns:a16="http://schemas.microsoft.com/office/drawing/2014/main" val="434439960"/>
                  </a:ext>
                </a:extLst>
              </a:tr>
              <a:tr h="268471">
                <a:tc>
                  <a:txBody>
                    <a:bodyPr/>
                    <a:lstStyle/>
                    <a:p>
                      <a:r>
                        <a:rPr kumimoji="1" lang="ja-JP" altLang="en-US" sz="1400" dirty="0"/>
                        <a:t>企業</a:t>
                      </a:r>
                      <a:endParaRPr kumimoji="1" lang="en-US" altLang="ja-JP" sz="1400" dirty="0"/>
                    </a:p>
                  </a:txBody>
                  <a:tcPr/>
                </a:tc>
                <a:tc>
                  <a:txBody>
                    <a:bodyPr/>
                    <a:lstStyle/>
                    <a:p>
                      <a:r>
                        <a:rPr kumimoji="1" lang="ja-JP" altLang="en-US" sz="1400" dirty="0"/>
                        <a:t>要員会社の信頼度</a:t>
                      </a:r>
                    </a:p>
                  </a:txBody>
                  <a:tcPr/>
                </a:tc>
                <a:tc>
                  <a:txBody>
                    <a:bodyPr/>
                    <a:lstStyle/>
                    <a:p>
                      <a:r>
                        <a:rPr kumimoji="1" lang="ja-JP" altLang="en-US" sz="1400" dirty="0"/>
                        <a:t>長期高単価案件</a:t>
                      </a:r>
                    </a:p>
                  </a:txBody>
                  <a:tcPr/>
                </a:tc>
                <a:tc>
                  <a:txBody>
                    <a:bodyPr/>
                    <a:lstStyle/>
                    <a:p>
                      <a:r>
                        <a:rPr kumimoji="1" lang="ja-JP" altLang="en-US" sz="1400" dirty="0"/>
                        <a:t>高マージン案件</a:t>
                      </a:r>
                    </a:p>
                  </a:txBody>
                  <a:tcPr/>
                </a:tc>
                <a:extLst>
                  <a:ext uri="{0D108BD9-81ED-4DB2-BD59-A6C34878D82A}">
                    <a16:rowId xmlns:a16="http://schemas.microsoft.com/office/drawing/2014/main" val="3008996272"/>
                  </a:ext>
                </a:extLst>
              </a:tr>
              <a:tr h="268471">
                <a:tc>
                  <a:txBody>
                    <a:bodyPr/>
                    <a:lstStyle/>
                    <a:p>
                      <a:r>
                        <a:rPr kumimoji="1" lang="ja-JP" altLang="en-US" sz="1400" dirty="0"/>
                        <a:t>個人</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t>(PM)</a:t>
                      </a:r>
                      <a:r>
                        <a:rPr kumimoji="1" lang="ja-JP" altLang="en-US" sz="1400" dirty="0"/>
                        <a:t>要員プール＆適切な提案</a:t>
                      </a:r>
                    </a:p>
                  </a:txBody>
                  <a:tcPr/>
                </a:tc>
                <a:tc>
                  <a:txBody>
                    <a:bodyPr/>
                    <a:lstStyle/>
                    <a:p>
                      <a:r>
                        <a:rPr kumimoji="1" lang="en-US" altLang="ja-JP" sz="1400" dirty="0"/>
                        <a:t>(SE)</a:t>
                      </a:r>
                      <a:r>
                        <a:rPr kumimoji="1" lang="ja-JP" altLang="en-US" sz="1400" dirty="0"/>
                        <a:t>希望の単価</a:t>
                      </a:r>
                      <a:r>
                        <a:rPr kumimoji="1" lang="en-US" altLang="ja-JP" sz="1400" dirty="0"/>
                        <a:t>/</a:t>
                      </a:r>
                      <a:r>
                        <a:rPr kumimoji="1" lang="ja-JP" altLang="en-US" sz="1400" dirty="0"/>
                        <a:t>技術の案件</a:t>
                      </a:r>
                    </a:p>
                  </a:txBody>
                  <a:tcPr/>
                </a:tc>
                <a:tc>
                  <a:txBody>
                    <a:bodyPr/>
                    <a:lstStyle/>
                    <a:p>
                      <a:r>
                        <a:rPr kumimoji="1" lang="ja-JP" altLang="en-US" sz="1400" dirty="0"/>
                        <a:t>同上</a:t>
                      </a:r>
                    </a:p>
                  </a:txBody>
                  <a:tcPr/>
                </a:tc>
                <a:extLst>
                  <a:ext uri="{0D108BD9-81ED-4DB2-BD59-A6C34878D82A}">
                    <a16:rowId xmlns:a16="http://schemas.microsoft.com/office/drawing/2014/main" val="2142754356"/>
                  </a:ext>
                </a:extLst>
              </a:tr>
            </a:tbl>
          </a:graphicData>
        </a:graphic>
      </p:graphicFrame>
      <p:grpSp>
        <p:nvGrpSpPr>
          <p:cNvPr id="15" name="グループ化 14">
            <a:extLst>
              <a:ext uri="{FF2B5EF4-FFF2-40B4-BE49-F238E27FC236}">
                <a16:creationId xmlns:a16="http://schemas.microsoft.com/office/drawing/2014/main" id="{2E11D026-F335-EFDD-63C6-9DB91567875B}"/>
              </a:ext>
            </a:extLst>
          </p:cNvPr>
          <p:cNvGrpSpPr/>
          <p:nvPr/>
        </p:nvGrpSpPr>
        <p:grpSpPr>
          <a:xfrm>
            <a:off x="2203549" y="3708390"/>
            <a:ext cx="1098380" cy="883449"/>
            <a:chOff x="10399049" y="5216994"/>
            <a:chExt cx="1220615" cy="981767"/>
          </a:xfrm>
        </p:grpSpPr>
        <p:pic>
          <p:nvPicPr>
            <p:cNvPr id="16" name="グラフィックス 15" descr="プログラマー男性 単色塗りつぶし">
              <a:extLst>
                <a:ext uri="{FF2B5EF4-FFF2-40B4-BE49-F238E27FC236}">
                  <a16:creationId xmlns:a16="http://schemas.microsoft.com/office/drawing/2014/main" id="{DD57D2E3-E61F-73C2-9D83-3CDB0337A2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17" name="四角形: 角を丸くする 16">
              <a:extLst>
                <a:ext uri="{FF2B5EF4-FFF2-40B4-BE49-F238E27FC236}">
                  <a16:creationId xmlns:a16="http://schemas.microsoft.com/office/drawing/2014/main" id="{8B5C872E-E4DF-8C3A-2DC8-FBF396785253}"/>
                </a:ext>
              </a:extLst>
            </p:cNvPr>
            <p:cNvSpPr/>
            <p:nvPr/>
          </p:nvSpPr>
          <p:spPr>
            <a:xfrm>
              <a:off x="10399049" y="5877108"/>
              <a:ext cx="1220615" cy="321653"/>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案件会社</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(PM)</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19" name="グループ化 18">
            <a:extLst>
              <a:ext uri="{FF2B5EF4-FFF2-40B4-BE49-F238E27FC236}">
                <a16:creationId xmlns:a16="http://schemas.microsoft.com/office/drawing/2014/main" id="{FFFBBF6A-3AC0-B866-49D2-87F6B6E2650E}"/>
              </a:ext>
            </a:extLst>
          </p:cNvPr>
          <p:cNvGrpSpPr/>
          <p:nvPr/>
        </p:nvGrpSpPr>
        <p:grpSpPr>
          <a:xfrm>
            <a:off x="8689228" y="2562484"/>
            <a:ext cx="1049360" cy="883449"/>
            <a:chOff x="10426287" y="5216994"/>
            <a:chExt cx="1166142" cy="981765"/>
          </a:xfrm>
        </p:grpSpPr>
        <p:pic>
          <p:nvPicPr>
            <p:cNvPr id="20" name="グラフィックス 19" descr="プログラマー男性 単色塗りつぶし">
              <a:extLst>
                <a:ext uri="{FF2B5EF4-FFF2-40B4-BE49-F238E27FC236}">
                  <a16:creationId xmlns:a16="http://schemas.microsoft.com/office/drawing/2014/main" id="{6CF6E57F-ACD7-A9E5-D44C-582C23A11F3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21" name="四角形: 角を丸くする 20">
              <a:extLst>
                <a:ext uri="{FF2B5EF4-FFF2-40B4-BE49-F238E27FC236}">
                  <a16:creationId xmlns:a16="http://schemas.microsoft.com/office/drawing/2014/main" id="{FB730344-F290-2A99-04D5-541A33DA0247}"/>
                </a:ext>
              </a:extLst>
            </p:cNvPr>
            <p:cNvSpPr/>
            <p:nvPr/>
          </p:nvSpPr>
          <p:spPr>
            <a:xfrm>
              <a:off x="10426287" y="5877107"/>
              <a:ext cx="1166142"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a:solidFill>
                    <a:schemeClr val="tx1"/>
                  </a:solidFill>
                  <a:latin typeface="游ゴシック Medium" panose="020B0500000000000000" pitchFamily="50" charset="-128"/>
                  <a:ea typeface="游ゴシック Medium" panose="020B0500000000000000" pitchFamily="50" charset="-128"/>
                </a:rPr>
                <a:t>要員会社</a:t>
              </a:r>
              <a:r>
                <a:rPr kumimoji="1" lang="en-US" altLang="ja-JP" sz="110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a:solidFill>
                  <a:schemeClr val="tx1"/>
                </a:solidFill>
                <a:latin typeface="游ゴシック Medium" panose="020B0500000000000000" pitchFamily="50" charset="-128"/>
                <a:ea typeface="游ゴシック Medium" panose="020B0500000000000000" pitchFamily="50" charset="-128"/>
              </a:endParaRPr>
            </a:p>
          </p:txBody>
        </p:sp>
      </p:grpSp>
      <p:pic>
        <p:nvPicPr>
          <p:cNvPr id="23" name="グラフィックス 22" descr="プログラマー男性 単色塗りつぶし">
            <a:extLst>
              <a:ext uri="{FF2B5EF4-FFF2-40B4-BE49-F238E27FC236}">
                <a16:creationId xmlns:a16="http://schemas.microsoft.com/office/drawing/2014/main" id="{78F6F1A7-C826-25B9-0CF2-77C32FB0A6E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914580" y="3445933"/>
            <a:ext cx="598661" cy="598662"/>
          </a:xfrm>
          <a:prstGeom prst="rect">
            <a:avLst/>
          </a:prstGeom>
        </p:spPr>
      </p:pic>
      <p:grpSp>
        <p:nvGrpSpPr>
          <p:cNvPr id="25" name="グループ化 24">
            <a:extLst>
              <a:ext uri="{FF2B5EF4-FFF2-40B4-BE49-F238E27FC236}">
                <a16:creationId xmlns:a16="http://schemas.microsoft.com/office/drawing/2014/main" id="{3B20CE26-892E-2869-2C30-9650B6B9C52F}"/>
              </a:ext>
            </a:extLst>
          </p:cNvPr>
          <p:cNvGrpSpPr/>
          <p:nvPr/>
        </p:nvGrpSpPr>
        <p:grpSpPr>
          <a:xfrm>
            <a:off x="8689228" y="4342224"/>
            <a:ext cx="1049360" cy="883449"/>
            <a:chOff x="10426287" y="5216994"/>
            <a:chExt cx="1166142" cy="981765"/>
          </a:xfrm>
        </p:grpSpPr>
        <p:pic>
          <p:nvPicPr>
            <p:cNvPr id="26" name="グラフィックス 25" descr="プログラマー男性 単色塗りつぶし">
              <a:extLst>
                <a:ext uri="{FF2B5EF4-FFF2-40B4-BE49-F238E27FC236}">
                  <a16:creationId xmlns:a16="http://schemas.microsoft.com/office/drawing/2014/main" id="{6BEE3EF2-8709-3AE5-8175-AA6BBACC7B7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27" name="四角形: 角を丸くする 26">
              <a:extLst>
                <a:ext uri="{FF2B5EF4-FFF2-40B4-BE49-F238E27FC236}">
                  <a16:creationId xmlns:a16="http://schemas.microsoft.com/office/drawing/2014/main" id="{616EF299-8EEE-8270-BAFF-8EF11982A6D5}"/>
                </a:ext>
              </a:extLst>
            </p:cNvPr>
            <p:cNvSpPr/>
            <p:nvPr/>
          </p:nvSpPr>
          <p:spPr>
            <a:xfrm>
              <a:off x="10426287" y="5877107"/>
              <a:ext cx="1166142"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要員会社</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28" name="グループ化 27">
            <a:extLst>
              <a:ext uri="{FF2B5EF4-FFF2-40B4-BE49-F238E27FC236}">
                <a16:creationId xmlns:a16="http://schemas.microsoft.com/office/drawing/2014/main" id="{0116711C-022C-D95A-D594-554FBAB1FA68}"/>
              </a:ext>
            </a:extLst>
          </p:cNvPr>
          <p:cNvGrpSpPr/>
          <p:nvPr/>
        </p:nvGrpSpPr>
        <p:grpSpPr>
          <a:xfrm>
            <a:off x="8689228" y="5225673"/>
            <a:ext cx="1049360" cy="883449"/>
            <a:chOff x="10426287" y="5216994"/>
            <a:chExt cx="1166142" cy="981765"/>
          </a:xfrm>
        </p:grpSpPr>
        <p:pic>
          <p:nvPicPr>
            <p:cNvPr id="29" name="グラフィックス 28" descr="プログラマー男性 単色塗りつぶし">
              <a:extLst>
                <a:ext uri="{FF2B5EF4-FFF2-40B4-BE49-F238E27FC236}">
                  <a16:creationId xmlns:a16="http://schemas.microsoft.com/office/drawing/2014/main" id="{E06B7D1D-9B17-3478-3ED0-4FDE482ED86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30" name="四角形: 角を丸くする 29">
              <a:extLst>
                <a:ext uri="{FF2B5EF4-FFF2-40B4-BE49-F238E27FC236}">
                  <a16:creationId xmlns:a16="http://schemas.microsoft.com/office/drawing/2014/main" id="{D54215C1-C6FF-D215-D67F-4A4CED4886B0}"/>
                </a:ext>
              </a:extLst>
            </p:cNvPr>
            <p:cNvSpPr/>
            <p:nvPr/>
          </p:nvSpPr>
          <p:spPr>
            <a:xfrm>
              <a:off x="10426287" y="5877107"/>
              <a:ext cx="1166142"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a:solidFill>
                    <a:schemeClr val="tx1"/>
                  </a:solidFill>
                  <a:latin typeface="游ゴシック Medium" panose="020B0500000000000000" pitchFamily="50" charset="-128"/>
                  <a:ea typeface="游ゴシック Medium" panose="020B0500000000000000" pitchFamily="50" charset="-128"/>
                </a:rPr>
                <a:t>要員会社</a:t>
              </a:r>
              <a:r>
                <a:rPr kumimoji="1" lang="en-US" altLang="ja-JP" sz="110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a:solidFill>
                  <a:schemeClr val="tx1"/>
                </a:solidFill>
                <a:latin typeface="游ゴシック Medium" panose="020B0500000000000000" pitchFamily="50" charset="-128"/>
                <a:ea typeface="游ゴシック Medium" panose="020B0500000000000000" pitchFamily="50" charset="-128"/>
              </a:endParaRPr>
            </a:p>
          </p:txBody>
        </p:sp>
      </p:grpSp>
      <p:sp>
        <p:nvSpPr>
          <p:cNvPr id="31" name="四角形: 角を丸くする 30">
            <a:extLst>
              <a:ext uri="{FF2B5EF4-FFF2-40B4-BE49-F238E27FC236}">
                <a16:creationId xmlns:a16="http://schemas.microsoft.com/office/drawing/2014/main" id="{5564E0E3-C0FC-F64F-385F-E9308C3E38CF}"/>
              </a:ext>
            </a:extLst>
          </p:cNvPr>
          <p:cNvSpPr/>
          <p:nvPr/>
        </p:nvSpPr>
        <p:spPr>
          <a:xfrm>
            <a:off x="4794632" y="4773918"/>
            <a:ext cx="770652"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仲介</a:t>
            </a:r>
            <a:r>
              <a:rPr kumimoji="1" lang="ja-JP" altLang="en-US" sz="1100" dirty="0">
                <a:solidFill>
                  <a:schemeClr val="tx1"/>
                </a:solidFill>
                <a:latin typeface="游ゴシック Medium" panose="020B0500000000000000" pitchFamily="50" charset="-128"/>
                <a:ea typeface="游ゴシック Medium" panose="020B0500000000000000" pitchFamily="50" charset="-128"/>
              </a:rPr>
              <a:t>会社</a:t>
            </a:r>
          </a:p>
        </p:txBody>
      </p:sp>
      <p:cxnSp>
        <p:nvCxnSpPr>
          <p:cNvPr id="33" name="直線矢印コネクタ 32">
            <a:extLst>
              <a:ext uri="{FF2B5EF4-FFF2-40B4-BE49-F238E27FC236}">
                <a16:creationId xmlns:a16="http://schemas.microsoft.com/office/drawing/2014/main" id="{5DF5250A-A300-12B5-E57F-0E6ABC8F25D3}"/>
              </a:ext>
            </a:extLst>
          </p:cNvPr>
          <p:cNvCxnSpPr/>
          <p:nvPr/>
        </p:nvCxnSpPr>
        <p:spPr>
          <a:xfrm>
            <a:off x="3301929" y="4158906"/>
            <a:ext cx="100010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596B30BF-DE49-6574-D4FD-781FDBB5F658}"/>
              </a:ext>
            </a:extLst>
          </p:cNvPr>
          <p:cNvCxnSpPr/>
          <p:nvPr/>
        </p:nvCxnSpPr>
        <p:spPr>
          <a:xfrm>
            <a:off x="3301929" y="4267847"/>
            <a:ext cx="1000105" cy="0"/>
          </a:xfrm>
          <a:prstGeom prst="straightConnector1">
            <a:avLst/>
          </a:prstGeom>
          <a:ln w="19050">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37" name="直線コネクタ 36">
            <a:extLst>
              <a:ext uri="{FF2B5EF4-FFF2-40B4-BE49-F238E27FC236}">
                <a16:creationId xmlns:a16="http://schemas.microsoft.com/office/drawing/2014/main" id="{190573A4-1168-26DD-CC53-D09057A54E65}"/>
              </a:ext>
            </a:extLst>
          </p:cNvPr>
          <p:cNvCxnSpPr/>
          <p:nvPr/>
        </p:nvCxnSpPr>
        <p:spPr>
          <a:xfrm flipH="1">
            <a:off x="6714309" y="2861815"/>
            <a:ext cx="2200271" cy="448901"/>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0F7A5976-A708-5769-DB33-DB56C28B7217}"/>
              </a:ext>
            </a:extLst>
          </p:cNvPr>
          <p:cNvCxnSpPr>
            <a:cxnSpLocks/>
          </p:cNvCxnSpPr>
          <p:nvPr/>
        </p:nvCxnSpPr>
        <p:spPr>
          <a:xfrm flipH="1" flipV="1">
            <a:off x="6577472" y="5202235"/>
            <a:ext cx="2337108" cy="31590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264530A1-700F-AF8C-373F-C04AE4433A66}"/>
              </a:ext>
            </a:extLst>
          </p:cNvPr>
          <p:cNvCxnSpPr>
            <a:cxnSpLocks/>
            <a:stCxn id="23" idx="1"/>
          </p:cNvCxnSpPr>
          <p:nvPr/>
        </p:nvCxnSpPr>
        <p:spPr>
          <a:xfrm flipH="1">
            <a:off x="7600202" y="3745264"/>
            <a:ext cx="1314378" cy="19643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50FABD4-4A2E-A062-F36B-F5F61DBE43B1}"/>
              </a:ext>
            </a:extLst>
          </p:cNvPr>
          <p:cNvCxnSpPr>
            <a:cxnSpLocks/>
            <a:stCxn id="26" idx="1"/>
          </p:cNvCxnSpPr>
          <p:nvPr/>
        </p:nvCxnSpPr>
        <p:spPr>
          <a:xfrm flipH="1" flipV="1">
            <a:off x="7463365" y="4556801"/>
            <a:ext cx="1451215" cy="84754"/>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50" name="楕円 49">
            <a:extLst>
              <a:ext uri="{FF2B5EF4-FFF2-40B4-BE49-F238E27FC236}">
                <a16:creationId xmlns:a16="http://schemas.microsoft.com/office/drawing/2014/main" id="{90F50A8D-9513-5E95-176B-76C62A380B4D}"/>
              </a:ext>
            </a:extLst>
          </p:cNvPr>
          <p:cNvSpPr/>
          <p:nvPr/>
        </p:nvSpPr>
        <p:spPr>
          <a:xfrm>
            <a:off x="4887558" y="3879641"/>
            <a:ext cx="618815" cy="618815"/>
          </a:xfrm>
          <a:prstGeom prst="ellipse">
            <a:avLst/>
          </a:prstGeom>
          <a:solidFill>
            <a:schemeClr val="accent5">
              <a:lumMod val="20000"/>
              <a:lumOff val="80000"/>
            </a:schemeClr>
          </a:solidFill>
          <a:ln w="38100">
            <a:solidFill>
              <a:schemeClr val="tx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51" name="グラフィックス 50" descr="オフィス ワーカー (男性) 単色塗りつぶし">
            <a:extLst>
              <a:ext uri="{FF2B5EF4-FFF2-40B4-BE49-F238E27FC236}">
                <a16:creationId xmlns:a16="http://schemas.microsoft.com/office/drawing/2014/main" id="{253195CB-DEAF-B04F-131D-3E44F26CFA0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97192" y="3879641"/>
            <a:ext cx="599545" cy="599546"/>
          </a:xfrm>
          <a:prstGeom prst="rect">
            <a:avLst/>
          </a:prstGeom>
        </p:spPr>
      </p:pic>
      <p:sp>
        <p:nvSpPr>
          <p:cNvPr id="35" name="矢印: 右 34">
            <a:extLst>
              <a:ext uri="{FF2B5EF4-FFF2-40B4-BE49-F238E27FC236}">
                <a16:creationId xmlns:a16="http://schemas.microsoft.com/office/drawing/2014/main" id="{6D31CA79-A002-9ADE-A40E-DCA32EBD4E2B}"/>
              </a:ext>
            </a:extLst>
          </p:cNvPr>
          <p:cNvSpPr/>
          <p:nvPr/>
        </p:nvSpPr>
        <p:spPr>
          <a:xfrm rot="21362222">
            <a:off x="5560311" y="3885332"/>
            <a:ext cx="3378946" cy="383395"/>
          </a:xfrm>
          <a:prstGeom prst="rightArrow">
            <a:avLst/>
          </a:prstGeom>
          <a:solidFill>
            <a:schemeClr val="accent5">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85000"/>
                    <a:lumOff val="15000"/>
                  </a:schemeClr>
                </a:solidFill>
                <a:latin typeface="游ゴシック" panose="020B0400000000000000" pitchFamily="50" charset="-128"/>
                <a:ea typeface="游ゴシック" panose="020B0400000000000000" pitchFamily="50" charset="-128"/>
              </a:rPr>
              <a:t>直接検索</a:t>
            </a:r>
          </a:p>
        </p:txBody>
      </p:sp>
      <p:sp>
        <p:nvSpPr>
          <p:cNvPr id="54" name="四角形: 角を丸くする 53">
            <a:extLst>
              <a:ext uri="{FF2B5EF4-FFF2-40B4-BE49-F238E27FC236}">
                <a16:creationId xmlns:a16="http://schemas.microsoft.com/office/drawing/2014/main" id="{6E1F2791-7295-C3EC-8FF9-842910D79F3D}"/>
              </a:ext>
            </a:extLst>
          </p:cNvPr>
          <p:cNvSpPr/>
          <p:nvPr/>
        </p:nvSpPr>
        <p:spPr>
          <a:xfrm>
            <a:off x="3396995" y="3837694"/>
            <a:ext cx="770652"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案件情報</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sp>
        <p:nvSpPr>
          <p:cNvPr id="55" name="四角形: 角を丸くする 54">
            <a:extLst>
              <a:ext uri="{FF2B5EF4-FFF2-40B4-BE49-F238E27FC236}">
                <a16:creationId xmlns:a16="http://schemas.microsoft.com/office/drawing/2014/main" id="{062A1FD6-344F-B09E-1F2D-9BC0295D6B13}"/>
              </a:ext>
            </a:extLst>
          </p:cNvPr>
          <p:cNvSpPr/>
          <p:nvPr/>
        </p:nvSpPr>
        <p:spPr>
          <a:xfrm>
            <a:off x="3537220" y="4268279"/>
            <a:ext cx="493881"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提案</a:t>
            </a:r>
          </a:p>
        </p:txBody>
      </p:sp>
      <p:cxnSp>
        <p:nvCxnSpPr>
          <p:cNvPr id="58" name="コネクタ: 曲線 57">
            <a:extLst>
              <a:ext uri="{FF2B5EF4-FFF2-40B4-BE49-F238E27FC236}">
                <a16:creationId xmlns:a16="http://schemas.microsoft.com/office/drawing/2014/main" id="{652A9CC4-5856-E44C-1454-A175F9534005}"/>
              </a:ext>
            </a:extLst>
          </p:cNvPr>
          <p:cNvCxnSpPr>
            <a:cxnSpLocks/>
            <a:stCxn id="17" idx="2"/>
            <a:endCxn id="51" idx="2"/>
          </p:cNvCxnSpPr>
          <p:nvPr/>
        </p:nvCxnSpPr>
        <p:spPr>
          <a:xfrm rot="5400000" flipH="1" flipV="1">
            <a:off x="3918526" y="3313400"/>
            <a:ext cx="112652" cy="2444226"/>
          </a:xfrm>
          <a:prstGeom prst="curvedConnector3">
            <a:avLst>
              <a:gd name="adj1" fmla="val -411055"/>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0" name="コネクタ: 曲線 59">
            <a:extLst>
              <a:ext uri="{FF2B5EF4-FFF2-40B4-BE49-F238E27FC236}">
                <a16:creationId xmlns:a16="http://schemas.microsoft.com/office/drawing/2014/main" id="{DF8532DE-F4CD-4B12-C306-B36BBE43EAC1}"/>
              </a:ext>
            </a:extLst>
          </p:cNvPr>
          <p:cNvCxnSpPr>
            <a:cxnSpLocks/>
            <a:stCxn id="17" idx="2"/>
            <a:endCxn id="23" idx="2"/>
          </p:cNvCxnSpPr>
          <p:nvPr/>
        </p:nvCxnSpPr>
        <p:spPr>
          <a:xfrm rot="5400000" flipH="1" flipV="1">
            <a:off x="5709703" y="1087631"/>
            <a:ext cx="547244" cy="6461172"/>
          </a:xfrm>
          <a:prstGeom prst="curvedConnector3">
            <a:avLst>
              <a:gd name="adj1" fmla="val -228359"/>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67" name="四角形: 角を丸くする 66">
            <a:extLst>
              <a:ext uri="{FF2B5EF4-FFF2-40B4-BE49-F238E27FC236}">
                <a16:creationId xmlns:a16="http://schemas.microsoft.com/office/drawing/2014/main" id="{A428A65E-283B-32F3-082D-BE00BE6B3ABC}"/>
              </a:ext>
            </a:extLst>
          </p:cNvPr>
          <p:cNvSpPr/>
          <p:nvPr/>
        </p:nvSpPr>
        <p:spPr>
          <a:xfrm>
            <a:off x="3212023" y="4697837"/>
            <a:ext cx="493881"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b="1" dirty="0">
                <a:solidFill>
                  <a:schemeClr val="accent4"/>
                </a:solidFill>
                <a:latin typeface="游ゴシック Medium" panose="020B0500000000000000" pitchFamily="50" charset="-128"/>
                <a:ea typeface="游ゴシック Medium" panose="020B0500000000000000" pitchFamily="50" charset="-128"/>
              </a:rPr>
              <a:t>評価</a:t>
            </a:r>
            <a:endParaRPr kumimoji="1" lang="ja-JP" altLang="en-US" sz="1100" b="1" dirty="0">
              <a:solidFill>
                <a:schemeClr val="accent4"/>
              </a:solidFill>
              <a:latin typeface="游ゴシック Medium" panose="020B0500000000000000" pitchFamily="50" charset="-128"/>
              <a:ea typeface="游ゴシック Medium" panose="020B0500000000000000" pitchFamily="50" charset="-128"/>
            </a:endParaRPr>
          </a:p>
        </p:txBody>
      </p:sp>
      <p:sp>
        <p:nvSpPr>
          <p:cNvPr id="68" name="四角形: 角を丸くする 67">
            <a:extLst>
              <a:ext uri="{FF2B5EF4-FFF2-40B4-BE49-F238E27FC236}">
                <a16:creationId xmlns:a16="http://schemas.microsoft.com/office/drawing/2014/main" id="{0F82A4B1-C95E-26B0-401E-5FDB03A5F1C4}"/>
              </a:ext>
            </a:extLst>
          </p:cNvPr>
          <p:cNvSpPr/>
          <p:nvPr/>
        </p:nvSpPr>
        <p:spPr>
          <a:xfrm>
            <a:off x="3076531" y="5615065"/>
            <a:ext cx="493881"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b="1" dirty="0">
                <a:solidFill>
                  <a:schemeClr val="accent4"/>
                </a:solidFill>
                <a:latin typeface="游ゴシック Medium" panose="020B0500000000000000" pitchFamily="50" charset="-128"/>
                <a:ea typeface="游ゴシック Medium" panose="020B0500000000000000" pitchFamily="50" charset="-128"/>
              </a:rPr>
              <a:t>評価</a:t>
            </a:r>
          </a:p>
        </p:txBody>
      </p:sp>
      <p:grpSp>
        <p:nvGrpSpPr>
          <p:cNvPr id="71" name="グループ化 70">
            <a:extLst>
              <a:ext uri="{FF2B5EF4-FFF2-40B4-BE49-F238E27FC236}">
                <a16:creationId xmlns:a16="http://schemas.microsoft.com/office/drawing/2014/main" id="{FB4FDE53-073D-B7F3-47CE-1CAE28FE17A3}"/>
              </a:ext>
            </a:extLst>
          </p:cNvPr>
          <p:cNvGrpSpPr/>
          <p:nvPr/>
        </p:nvGrpSpPr>
        <p:grpSpPr>
          <a:xfrm>
            <a:off x="3679787" y="4722677"/>
            <a:ext cx="646158" cy="207616"/>
            <a:chOff x="9071907" y="6077993"/>
            <a:chExt cx="961403" cy="308907"/>
          </a:xfrm>
        </p:grpSpPr>
        <p:sp>
          <p:nvSpPr>
            <p:cNvPr id="72" name="星: 5 pt 71">
              <a:extLst>
                <a:ext uri="{FF2B5EF4-FFF2-40B4-BE49-F238E27FC236}">
                  <a16:creationId xmlns:a16="http://schemas.microsoft.com/office/drawing/2014/main" id="{59402505-4FD8-B6AF-60E0-03E1CFB55177}"/>
                </a:ext>
              </a:extLst>
            </p:cNvPr>
            <p:cNvSpPr/>
            <p:nvPr/>
          </p:nvSpPr>
          <p:spPr>
            <a:xfrm>
              <a:off x="9071907"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星: 5 pt 72">
              <a:extLst>
                <a:ext uri="{FF2B5EF4-FFF2-40B4-BE49-F238E27FC236}">
                  <a16:creationId xmlns:a16="http://schemas.microsoft.com/office/drawing/2014/main" id="{F9A53D4E-DF79-571A-9A09-BFA1A1654BB5}"/>
                </a:ext>
              </a:extLst>
            </p:cNvPr>
            <p:cNvSpPr/>
            <p:nvPr/>
          </p:nvSpPr>
          <p:spPr>
            <a:xfrm>
              <a:off x="9401104"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星: 5 pt 73">
              <a:extLst>
                <a:ext uri="{FF2B5EF4-FFF2-40B4-BE49-F238E27FC236}">
                  <a16:creationId xmlns:a16="http://schemas.microsoft.com/office/drawing/2014/main" id="{0141919E-6F5E-7248-E9F5-9B2C34304FD2}"/>
                </a:ext>
              </a:extLst>
            </p:cNvPr>
            <p:cNvSpPr/>
            <p:nvPr/>
          </p:nvSpPr>
          <p:spPr>
            <a:xfrm>
              <a:off x="9724403"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75" name="グループ化 74">
            <a:extLst>
              <a:ext uri="{FF2B5EF4-FFF2-40B4-BE49-F238E27FC236}">
                <a16:creationId xmlns:a16="http://schemas.microsoft.com/office/drawing/2014/main" id="{5A223ACC-7C62-CC11-91E6-738A96476B25}"/>
              </a:ext>
            </a:extLst>
          </p:cNvPr>
          <p:cNvGrpSpPr/>
          <p:nvPr/>
        </p:nvGrpSpPr>
        <p:grpSpPr>
          <a:xfrm>
            <a:off x="3570412" y="5655977"/>
            <a:ext cx="646158" cy="207616"/>
            <a:chOff x="9071907" y="6077993"/>
            <a:chExt cx="961403" cy="308907"/>
          </a:xfrm>
        </p:grpSpPr>
        <p:sp>
          <p:nvSpPr>
            <p:cNvPr id="76" name="星: 5 pt 75">
              <a:extLst>
                <a:ext uri="{FF2B5EF4-FFF2-40B4-BE49-F238E27FC236}">
                  <a16:creationId xmlns:a16="http://schemas.microsoft.com/office/drawing/2014/main" id="{73F40B88-9BBA-D7D9-61C0-81C810E72046}"/>
                </a:ext>
              </a:extLst>
            </p:cNvPr>
            <p:cNvSpPr/>
            <p:nvPr/>
          </p:nvSpPr>
          <p:spPr>
            <a:xfrm>
              <a:off x="9071907"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星: 5 pt 76">
              <a:extLst>
                <a:ext uri="{FF2B5EF4-FFF2-40B4-BE49-F238E27FC236}">
                  <a16:creationId xmlns:a16="http://schemas.microsoft.com/office/drawing/2014/main" id="{1D76AC04-C6A8-A043-5346-1ABF34E09048}"/>
                </a:ext>
              </a:extLst>
            </p:cNvPr>
            <p:cNvSpPr/>
            <p:nvPr/>
          </p:nvSpPr>
          <p:spPr>
            <a:xfrm>
              <a:off x="9401104"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星: 5 pt 77">
              <a:extLst>
                <a:ext uri="{FF2B5EF4-FFF2-40B4-BE49-F238E27FC236}">
                  <a16:creationId xmlns:a16="http://schemas.microsoft.com/office/drawing/2014/main" id="{6304780A-38D4-BBB3-DAC7-7E8187EE5BDE}"/>
                </a:ext>
              </a:extLst>
            </p:cNvPr>
            <p:cNvSpPr/>
            <p:nvPr/>
          </p:nvSpPr>
          <p:spPr>
            <a:xfrm>
              <a:off x="9724403"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0" name="テキスト ボックス 79">
            <a:extLst>
              <a:ext uri="{FF2B5EF4-FFF2-40B4-BE49-F238E27FC236}">
                <a16:creationId xmlns:a16="http://schemas.microsoft.com/office/drawing/2014/main" id="{2FBBFF38-AF0C-73F2-875C-E27AC447B0BF}"/>
              </a:ext>
            </a:extLst>
          </p:cNvPr>
          <p:cNvSpPr txBox="1"/>
          <p:nvPr/>
        </p:nvSpPr>
        <p:spPr>
          <a:xfrm>
            <a:off x="4434916" y="2366182"/>
            <a:ext cx="1031051" cy="261610"/>
          </a:xfrm>
          <a:prstGeom prst="rect">
            <a:avLst/>
          </a:prstGeom>
          <a:noFill/>
        </p:spPr>
        <p:txBody>
          <a:bodyPr wrap="none" rtlCol="0">
            <a:spAutoFit/>
          </a:bodyPr>
          <a:lstStyle/>
          <a:p>
            <a:r>
              <a:rPr kumimoji="1" lang="ja-JP" altLang="en-US" sz="1050" dirty="0">
                <a:solidFill>
                  <a:schemeClr val="accent5">
                    <a:lumMod val="75000"/>
                  </a:schemeClr>
                </a:solidFill>
                <a:latin typeface="游ゴシック Medium" panose="020B0500000000000000" pitchFamily="50" charset="-128"/>
                <a:ea typeface="游ゴシック Medium" panose="020B0500000000000000" pitchFamily="50" charset="-128"/>
              </a:rPr>
              <a:t>フォロー関係</a:t>
            </a:r>
          </a:p>
        </p:txBody>
      </p:sp>
      <p:sp>
        <p:nvSpPr>
          <p:cNvPr id="8" name="正方形/長方形 7">
            <a:extLst>
              <a:ext uri="{FF2B5EF4-FFF2-40B4-BE49-F238E27FC236}">
                <a16:creationId xmlns:a16="http://schemas.microsoft.com/office/drawing/2014/main" id="{5840A3BE-EC84-C680-CCC6-1A843E1FB050}"/>
              </a:ext>
            </a:extLst>
          </p:cNvPr>
          <p:cNvSpPr/>
          <p:nvPr/>
        </p:nvSpPr>
        <p:spPr>
          <a:xfrm>
            <a:off x="95439" y="78719"/>
            <a:ext cx="12000409" cy="6700562"/>
          </a:xfrm>
          <a:prstGeom prst="rect">
            <a:avLst/>
          </a:prstGeom>
          <a:solidFill>
            <a:schemeClr val="dk1">
              <a:alpha val="70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kumimoji="1" lang="ja-JP" altLang="en-US" dirty="0"/>
              <a:t>検討中</a:t>
            </a:r>
          </a:p>
        </p:txBody>
      </p:sp>
    </p:spTree>
    <p:extLst>
      <p:ext uri="{BB962C8B-B14F-4D97-AF65-F5344CB8AC3E}">
        <p14:creationId xmlns:p14="http://schemas.microsoft.com/office/powerpoint/2010/main" val="997773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0D319-EB8A-C025-A614-DE9CC26D31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AF6562-E215-4EFC-4CC9-9830E26CD22D}"/>
              </a:ext>
            </a:extLst>
          </p:cNvPr>
          <p:cNvSpPr>
            <a:spLocks noGrp="1"/>
          </p:cNvSpPr>
          <p:nvPr>
            <p:ph idx="1"/>
          </p:nvPr>
        </p:nvSpPr>
        <p:spPr>
          <a:xfrm>
            <a:off x="612647" y="931741"/>
            <a:ext cx="10653579" cy="365125"/>
          </a:xfrm>
        </p:spPr>
        <p:txBody>
          <a:bodyPr vert="horz" lIns="91440" tIns="45720" rIns="91440" bIns="45720" rtlCol="0" anchor="t">
            <a:normAutofit lnSpcReduction="10000"/>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各社の各役割の課題・ニーズを網羅的に把握を行おうとして</a:t>
            </a:r>
            <a:r>
              <a:rPr lang="ja-JP" altLang="en-US" sz="1600" b="1" u="sng" dirty="0">
                <a:latin typeface="游ゴシック Medium" panose="020B0500000000000000" pitchFamily="50" charset="-128"/>
                <a:ea typeface="游ゴシック Medium" panose="020B0500000000000000" pitchFamily="50" charset="-128"/>
              </a:rPr>
              <a:t>発散している</a:t>
            </a:r>
            <a:endParaRPr lang="en-US" altLang="ja-JP" sz="1600" b="1" u="sng" dirty="0">
              <a:latin typeface="游ゴシック Medium" panose="020B0500000000000000" pitchFamily="50" charset="-128"/>
              <a:ea typeface="游ゴシック Medium" panose="020B0500000000000000" pitchFamily="50" charset="-128"/>
            </a:endParaRPr>
          </a:p>
        </p:txBody>
      </p:sp>
      <p:sp>
        <p:nvSpPr>
          <p:cNvPr id="4" name="Date Placeholder 3">
            <a:extLst>
              <a:ext uri="{FF2B5EF4-FFF2-40B4-BE49-F238E27FC236}">
                <a16:creationId xmlns:a16="http://schemas.microsoft.com/office/drawing/2014/main" id="{887E6B0E-EC70-E790-B75A-8878C00B004F}"/>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781D0DDF-46FE-690D-3A2D-2C75CAE3BB28}"/>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2EDD0C76-0523-D348-DD27-9561942FB198}"/>
              </a:ext>
            </a:extLst>
          </p:cNvPr>
          <p:cNvSpPr>
            <a:spLocks noGrp="1"/>
          </p:cNvSpPr>
          <p:nvPr>
            <p:ph type="sldNum" sz="quarter" idx="12"/>
          </p:nvPr>
        </p:nvSpPr>
        <p:spPr/>
        <p:txBody>
          <a:bodyPr/>
          <a:lstStyle/>
          <a:p>
            <a:fld id="{CC057153-B650-4DEB-B370-79DDCFDCE934}" type="slidenum">
              <a:rPr lang="en-US" dirty="0"/>
              <a:t>11</a:t>
            </a:fld>
            <a:endParaRPr lang="en-US"/>
          </a:p>
        </p:txBody>
      </p:sp>
      <p:sp>
        <p:nvSpPr>
          <p:cNvPr id="18" name="Title 1">
            <a:extLst>
              <a:ext uri="{FF2B5EF4-FFF2-40B4-BE49-F238E27FC236}">
                <a16:creationId xmlns:a16="http://schemas.microsoft.com/office/drawing/2014/main" id="{1B30A758-C195-5A0D-5CE7-5E774B6BB227}"/>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筆が進まない。。。</a:t>
            </a:r>
            <a:endParaRPr kumimoji="1" lang="ja-JP" altLang="en-US" dirty="0">
              <a:solidFill>
                <a:srgbClr val="FF0000"/>
              </a:solidFill>
              <a:latin typeface="+mj-ea"/>
            </a:endParaRPr>
          </a:p>
        </p:txBody>
      </p:sp>
      <p:graphicFrame>
        <p:nvGraphicFramePr>
          <p:cNvPr id="2" name="表 1">
            <a:extLst>
              <a:ext uri="{FF2B5EF4-FFF2-40B4-BE49-F238E27FC236}">
                <a16:creationId xmlns:a16="http://schemas.microsoft.com/office/drawing/2014/main" id="{70FF7783-E8D7-89F1-50BB-CBC96117130E}"/>
              </a:ext>
            </a:extLst>
          </p:cNvPr>
          <p:cNvGraphicFramePr>
            <a:graphicFrameLocks noGrp="1"/>
          </p:cNvGraphicFramePr>
          <p:nvPr>
            <p:extLst>
              <p:ext uri="{D42A27DB-BD31-4B8C-83A1-F6EECF244321}">
                <p14:modId xmlns:p14="http://schemas.microsoft.com/office/powerpoint/2010/main" val="283714452"/>
              </p:ext>
            </p:extLst>
          </p:nvPr>
        </p:nvGraphicFramePr>
        <p:xfrm>
          <a:off x="1010195" y="1488098"/>
          <a:ext cx="9831977" cy="4701572"/>
        </p:xfrm>
        <a:graphic>
          <a:graphicData uri="http://schemas.openxmlformats.org/drawingml/2006/table">
            <a:tbl>
              <a:tblPr firstRow="1" bandRow="1">
                <a:tableStyleId>{5940675A-B579-460E-94D1-54222C63F5DA}</a:tableStyleId>
              </a:tblPr>
              <a:tblGrid>
                <a:gridCol w="566056">
                  <a:extLst>
                    <a:ext uri="{9D8B030D-6E8A-4147-A177-3AD203B41FA5}">
                      <a16:colId xmlns:a16="http://schemas.microsoft.com/office/drawing/2014/main" val="3230237105"/>
                    </a:ext>
                  </a:extLst>
                </a:gridCol>
                <a:gridCol w="2410533">
                  <a:extLst>
                    <a:ext uri="{9D8B030D-6E8A-4147-A177-3AD203B41FA5}">
                      <a16:colId xmlns:a16="http://schemas.microsoft.com/office/drawing/2014/main" val="3838589455"/>
                    </a:ext>
                  </a:extLst>
                </a:gridCol>
                <a:gridCol w="559090">
                  <a:extLst>
                    <a:ext uri="{9D8B030D-6E8A-4147-A177-3AD203B41FA5}">
                      <a16:colId xmlns:a16="http://schemas.microsoft.com/office/drawing/2014/main" val="1669561720"/>
                    </a:ext>
                  </a:extLst>
                </a:gridCol>
                <a:gridCol w="2868604">
                  <a:extLst>
                    <a:ext uri="{9D8B030D-6E8A-4147-A177-3AD203B41FA5}">
                      <a16:colId xmlns:a16="http://schemas.microsoft.com/office/drawing/2014/main" val="4013795392"/>
                    </a:ext>
                  </a:extLst>
                </a:gridCol>
                <a:gridCol w="658368">
                  <a:extLst>
                    <a:ext uri="{9D8B030D-6E8A-4147-A177-3AD203B41FA5}">
                      <a16:colId xmlns:a16="http://schemas.microsoft.com/office/drawing/2014/main" val="791159089"/>
                    </a:ext>
                  </a:extLst>
                </a:gridCol>
                <a:gridCol w="2769326">
                  <a:extLst>
                    <a:ext uri="{9D8B030D-6E8A-4147-A177-3AD203B41FA5}">
                      <a16:colId xmlns:a16="http://schemas.microsoft.com/office/drawing/2014/main" val="1060430644"/>
                    </a:ext>
                  </a:extLst>
                </a:gridCol>
              </a:tblGrid>
              <a:tr h="268471">
                <a:tc gridSpan="2">
                  <a:txBody>
                    <a:bodyPr/>
                    <a:lstStyle/>
                    <a:p>
                      <a:pPr algn="ctr">
                        <a:lnSpc>
                          <a:spcPct val="150000"/>
                        </a:lnSpc>
                      </a:pPr>
                      <a:r>
                        <a:rPr kumimoji="1" lang="ja-JP" altLang="en-US" sz="1400" dirty="0">
                          <a:latin typeface="BIZ UDゴシック" panose="020B0400000000000000" pitchFamily="49" charset="-128"/>
                          <a:ea typeface="BIZ UDゴシック" panose="020B0400000000000000" pitchFamily="49" charset="-128"/>
                        </a:rPr>
                        <a:t>案件企業</a:t>
                      </a:r>
                    </a:p>
                  </a:txBody>
                  <a:tcPr>
                    <a:solidFill>
                      <a:schemeClr val="accent2">
                        <a:lumMod val="20000"/>
                        <a:lumOff val="80000"/>
                      </a:schemeClr>
                    </a:solidFill>
                  </a:tcPr>
                </a:tc>
                <a:tc hMerge="1">
                  <a:txBody>
                    <a:bodyPr/>
                    <a:lstStyle/>
                    <a:p>
                      <a:endParaRPr dirty="0"/>
                    </a:p>
                  </a:txBody>
                  <a:tcPr/>
                </a:tc>
                <a:tc gridSpan="2">
                  <a:txBody>
                    <a:bodyPr/>
                    <a:lstStyle/>
                    <a:p>
                      <a:pPr algn="ctr">
                        <a:lnSpc>
                          <a:spcPct val="150000"/>
                        </a:lnSpc>
                      </a:pPr>
                      <a:r>
                        <a:rPr kumimoji="1" lang="ja-JP" altLang="en-US" sz="1400" dirty="0">
                          <a:latin typeface="BIZ UDゴシック" panose="020B0400000000000000" pitchFamily="49" charset="-128"/>
                          <a:ea typeface="BIZ UDゴシック" panose="020B0400000000000000" pitchFamily="49" charset="-128"/>
                        </a:rPr>
                        <a:t>要員企業</a:t>
                      </a:r>
                    </a:p>
                  </a:txBody>
                  <a:tcPr>
                    <a:solidFill>
                      <a:schemeClr val="accent5">
                        <a:lumMod val="20000"/>
                        <a:lumOff val="80000"/>
                      </a:schemeClr>
                    </a:solidFill>
                  </a:tcPr>
                </a:tc>
                <a:tc hMerge="1">
                  <a:txBody>
                    <a:bodyPr/>
                    <a:lstStyle/>
                    <a:p>
                      <a:endParaRPr dirty="0"/>
                    </a:p>
                  </a:txBody>
                  <a:tcPr/>
                </a:tc>
                <a:tc gridSpan="2">
                  <a:txBody>
                    <a:bodyPr/>
                    <a:lstStyle/>
                    <a:p>
                      <a:pPr algn="ctr">
                        <a:lnSpc>
                          <a:spcPct val="150000"/>
                        </a:lnSpc>
                      </a:pPr>
                      <a:r>
                        <a:rPr kumimoji="1" lang="ja-JP" altLang="en-US" sz="1400" dirty="0">
                          <a:latin typeface="BIZ UDゴシック" panose="020B0400000000000000" pitchFamily="49" charset="-128"/>
                          <a:ea typeface="BIZ UDゴシック" panose="020B0400000000000000" pitchFamily="49" charset="-128"/>
                        </a:rPr>
                        <a:t>仲介企業</a:t>
                      </a:r>
                    </a:p>
                  </a:txBody>
                  <a:tcPr>
                    <a:solidFill>
                      <a:schemeClr val="accent6">
                        <a:lumMod val="20000"/>
                        <a:lumOff val="80000"/>
                      </a:schemeClr>
                    </a:solidFill>
                  </a:tcPr>
                </a:tc>
                <a:tc hMerge="1">
                  <a:txBody>
                    <a:bodyPr/>
                    <a:lstStyle/>
                    <a:p>
                      <a:endParaRPr dirty="0"/>
                    </a:p>
                  </a:txBody>
                  <a:tcPr/>
                </a:tc>
                <a:extLst>
                  <a:ext uri="{0D108BD9-81ED-4DB2-BD59-A6C34878D82A}">
                    <a16:rowId xmlns:a16="http://schemas.microsoft.com/office/drawing/2014/main" val="434439960"/>
                  </a:ext>
                </a:extLst>
              </a:tr>
              <a:tr h="1440000">
                <a:tc>
                  <a:txBody>
                    <a:bodyPr/>
                    <a:lstStyle/>
                    <a:p>
                      <a:r>
                        <a:rPr kumimoji="1" lang="ja-JP" altLang="en-US" sz="1400" dirty="0">
                          <a:latin typeface="BIZ UDゴシック" panose="020B0400000000000000" pitchFamily="49" charset="-128"/>
                          <a:ea typeface="BIZ UDゴシック" panose="020B0400000000000000" pitchFamily="49" charset="-128"/>
                        </a:rPr>
                        <a:t>経営</a:t>
                      </a:r>
                      <a:endParaRPr kumimoji="1" lang="en-US" altLang="ja-JP" sz="1400" dirty="0">
                        <a:latin typeface="BIZ UDゴシック" panose="020B0400000000000000" pitchFamily="49" charset="-128"/>
                        <a:ea typeface="BIZ UDゴシック" panose="020B0400000000000000" pitchFamily="49" charset="-128"/>
                      </a:endParaRPr>
                    </a:p>
                  </a:txBody>
                  <a:tcPr>
                    <a:solidFill>
                      <a:schemeClr val="bg2">
                        <a:lumMod val="90000"/>
                      </a:schemeClr>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社内へのナレッジ蓄積</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信頼できる要員会社の確保</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請負で受けて</a:t>
                      </a:r>
                      <a:r>
                        <a:rPr kumimoji="1" lang="en-US" altLang="ja-JP" sz="1400" dirty="0">
                          <a:latin typeface="BIZ UDゴシック" panose="020B0400000000000000" pitchFamily="49" charset="-128"/>
                          <a:ea typeface="BIZ UDゴシック" panose="020B0400000000000000" pitchFamily="49" charset="-128"/>
                        </a:rPr>
                        <a:t>SES</a:t>
                      </a:r>
                      <a:r>
                        <a:rPr kumimoji="1" lang="ja-JP" altLang="en-US" sz="1400" dirty="0">
                          <a:latin typeface="BIZ UDゴシック" panose="020B0400000000000000" pitchFamily="49" charset="-128"/>
                          <a:ea typeface="BIZ UDゴシック" panose="020B0400000000000000" pitchFamily="49" charset="-128"/>
                        </a:rPr>
                        <a:t>で募集する場合の差によるリスク</a:t>
                      </a:r>
                    </a:p>
                  </a:txBody>
                  <a:tcPr>
                    <a:solidFill>
                      <a:schemeClr val="bg1"/>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経営</a:t>
                      </a:r>
                      <a:endParaRPr kumimoji="1" lang="en-US" altLang="ja-JP" sz="1400" dirty="0">
                        <a:latin typeface="BIZ UDゴシック" panose="020B0400000000000000" pitchFamily="49" charset="-128"/>
                        <a:ea typeface="BIZ UDゴシック" panose="020B0400000000000000" pitchFamily="49" charset="-128"/>
                      </a:endParaRPr>
                    </a:p>
                  </a:txBody>
                  <a:tcPr>
                    <a:solidFill>
                      <a:schemeClr val="bg2">
                        <a:lumMod val="90000"/>
                      </a:schemeClr>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待機要員の回避</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商流のポジショニング</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要員への還元率</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要員採用・維持</a:t>
                      </a:r>
                    </a:p>
                  </a:txBody>
                  <a:tcPr>
                    <a:solidFill>
                      <a:schemeClr val="bg1"/>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経営</a:t>
                      </a:r>
                      <a:endParaRPr kumimoji="1" lang="en-US" altLang="ja-JP" sz="1400" dirty="0">
                        <a:latin typeface="BIZ UDゴシック" panose="020B0400000000000000" pitchFamily="49" charset="-128"/>
                        <a:ea typeface="BIZ UDゴシック" panose="020B0400000000000000" pitchFamily="49" charset="-128"/>
                      </a:endParaRPr>
                    </a:p>
                  </a:txBody>
                  <a:tcPr>
                    <a:solidFill>
                      <a:schemeClr val="bg2">
                        <a:lumMod val="90000"/>
                      </a:schemeClr>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参入障壁が低く競合が乱立</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他社との差別化</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利益の薄さ</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多契約でセキュリティリスク増</a:t>
                      </a:r>
                    </a:p>
                  </a:txBody>
                  <a:tcPr>
                    <a:solidFill>
                      <a:schemeClr val="bg1"/>
                    </a:solidFill>
                  </a:tcPr>
                </a:tc>
                <a:extLst>
                  <a:ext uri="{0D108BD9-81ED-4DB2-BD59-A6C34878D82A}">
                    <a16:rowId xmlns:a16="http://schemas.microsoft.com/office/drawing/2014/main" val="3008996272"/>
                  </a:ext>
                </a:extLst>
              </a:tr>
              <a:tr h="1440000">
                <a:tc>
                  <a:txBody>
                    <a:bodyPr/>
                    <a:lstStyle/>
                    <a:p>
                      <a:r>
                        <a:rPr kumimoji="1" lang="ja-JP" altLang="en-US" sz="1400" dirty="0">
                          <a:latin typeface="BIZ UDゴシック" panose="020B0400000000000000" pitchFamily="49" charset="-128"/>
                          <a:ea typeface="BIZ UDゴシック" panose="020B0400000000000000" pitchFamily="49" charset="-128"/>
                        </a:rPr>
                        <a:t>営業</a:t>
                      </a:r>
                    </a:p>
                  </a:txBody>
                  <a:tcPr>
                    <a:solidFill>
                      <a:schemeClr val="bg2">
                        <a:lumMod val="90000"/>
                      </a:schemeClr>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400" dirty="0">
                          <a:latin typeface="BIZ UDゴシック" panose="020B0400000000000000" pitchFamily="49" charset="-128"/>
                          <a:ea typeface="BIZ UDゴシック" panose="020B0400000000000000" pitchFamily="49" charset="-128"/>
                        </a:rPr>
                        <a:t>リソース確保と受注のタイミングのズレ</a:t>
                      </a:r>
                      <a:endParaRPr kumimoji="1" lang="en-US" altLang="ja-JP" sz="1400" dirty="0">
                        <a:latin typeface="BIZ UDゴシック" panose="020B0400000000000000" pitchFamily="49" charset="-128"/>
                        <a:ea typeface="BIZ UDゴシック" panose="020B0400000000000000" pitchFamily="49"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400" dirty="0">
                          <a:latin typeface="BIZ UDゴシック" panose="020B0400000000000000" pitchFamily="49" charset="-128"/>
                          <a:ea typeface="BIZ UDゴシック" panose="020B0400000000000000" pitchFamily="49" charset="-128"/>
                        </a:rPr>
                        <a:t>単価調整コスト</a:t>
                      </a:r>
                      <a:endParaRPr kumimoji="1" lang="en-US" altLang="ja-JP" sz="1400" dirty="0">
                        <a:latin typeface="BIZ UDゴシック" panose="020B0400000000000000" pitchFamily="49" charset="-128"/>
                        <a:ea typeface="BIZ UDゴシック" panose="020B0400000000000000" pitchFamily="49"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400" dirty="0">
                          <a:latin typeface="BIZ UDゴシック" panose="020B0400000000000000" pitchFamily="49" charset="-128"/>
                          <a:ea typeface="BIZ UDゴシック" panose="020B0400000000000000" pitchFamily="49" charset="-128"/>
                        </a:rPr>
                        <a:t>流れてくる情報過多</a:t>
                      </a:r>
                    </a:p>
                  </a:txBody>
                  <a:tcPr>
                    <a:solidFill>
                      <a:schemeClr val="bg1"/>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営業</a:t>
                      </a:r>
                    </a:p>
                  </a:txBody>
                  <a:tcPr>
                    <a:solidFill>
                      <a:schemeClr val="bg2">
                        <a:lumMod val="90000"/>
                      </a:schemeClr>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顧客との関係維持</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単価交渉・マージン率</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待機要員の営業コスト</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新規開拓</a:t>
                      </a:r>
                    </a:p>
                  </a:txBody>
                  <a:tcPr>
                    <a:solidFill>
                      <a:schemeClr val="bg1"/>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営業</a:t>
                      </a:r>
                    </a:p>
                  </a:txBody>
                  <a:tcPr>
                    <a:solidFill>
                      <a:schemeClr val="bg2">
                        <a:lumMod val="90000"/>
                      </a:schemeClr>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案件・要員双方の開拓が必要</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情報は自社で囲い込みたい</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マージンの率とその理由</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処理スピード感・手間の多さ</a:t>
                      </a:r>
                    </a:p>
                  </a:txBody>
                  <a:tcPr>
                    <a:solidFill>
                      <a:schemeClr val="bg1"/>
                    </a:solidFill>
                  </a:tcPr>
                </a:tc>
                <a:extLst>
                  <a:ext uri="{0D108BD9-81ED-4DB2-BD59-A6C34878D82A}">
                    <a16:rowId xmlns:a16="http://schemas.microsoft.com/office/drawing/2014/main" val="2142754356"/>
                  </a:ext>
                </a:extLst>
              </a:tr>
              <a:tr h="1440000">
                <a:tc>
                  <a:txBody>
                    <a:bodyPr/>
                    <a:lstStyle/>
                    <a:p>
                      <a:r>
                        <a:rPr kumimoji="1" lang="en-US" altLang="ja-JP" sz="1400" dirty="0">
                          <a:latin typeface="BIZ UDゴシック" panose="020B0400000000000000" pitchFamily="49" charset="-128"/>
                          <a:ea typeface="BIZ UDゴシック" panose="020B0400000000000000" pitchFamily="49" charset="-128"/>
                        </a:rPr>
                        <a:t>PM</a:t>
                      </a:r>
                      <a:endParaRPr kumimoji="1" lang="ja-JP" altLang="en-US" sz="1400" dirty="0">
                        <a:latin typeface="BIZ UDゴシック" panose="020B0400000000000000" pitchFamily="49" charset="-128"/>
                        <a:ea typeface="BIZ UDゴシック" panose="020B0400000000000000" pitchFamily="49" charset="-128"/>
                      </a:endParaRPr>
                    </a:p>
                  </a:txBody>
                  <a:tcPr>
                    <a:solidFill>
                      <a:schemeClr val="bg2">
                        <a:lumMod val="90000"/>
                      </a:schemeClr>
                    </a:solidFill>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400" dirty="0">
                          <a:latin typeface="BIZ UDゴシック" panose="020B0400000000000000" pitchFamily="49" charset="-128"/>
                          <a:ea typeface="BIZ UDゴシック" panose="020B0400000000000000" pitchFamily="49" charset="-128"/>
                        </a:rPr>
                        <a:t>経歴書のみでの要員判別</a:t>
                      </a:r>
                      <a:endParaRPr kumimoji="1" lang="en-US" altLang="ja-JP" sz="1400" dirty="0">
                        <a:latin typeface="BIZ UDゴシック" panose="020B0400000000000000" pitchFamily="49" charset="-128"/>
                        <a:ea typeface="BIZ UDゴシック" panose="020B0400000000000000" pitchFamily="49"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400" dirty="0">
                          <a:latin typeface="BIZ UDゴシック" panose="020B0400000000000000" pitchFamily="49" charset="-128"/>
                          <a:ea typeface="BIZ UDゴシック" panose="020B0400000000000000" pitchFamily="49" charset="-128"/>
                        </a:rPr>
                        <a:t>交代リスク・リカバリ</a:t>
                      </a:r>
                      <a:endParaRPr kumimoji="1" lang="en-US" altLang="ja-JP" sz="1400" dirty="0">
                        <a:latin typeface="BIZ UDゴシック" panose="020B0400000000000000" pitchFamily="49" charset="-128"/>
                        <a:ea typeface="BIZ UDゴシック" panose="020B0400000000000000" pitchFamily="49"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400" dirty="0">
                          <a:latin typeface="BIZ UDゴシック" panose="020B0400000000000000" pitchFamily="49" charset="-128"/>
                          <a:ea typeface="BIZ UDゴシック" panose="020B0400000000000000" pitchFamily="49" charset="-128"/>
                        </a:rPr>
                        <a:t>面談などの調達コスト</a:t>
                      </a:r>
                      <a:endParaRPr kumimoji="1" lang="en-US" altLang="ja-JP" sz="1400" dirty="0">
                        <a:latin typeface="BIZ UDゴシック" panose="020B0400000000000000" pitchFamily="49" charset="-128"/>
                        <a:ea typeface="BIZ UDゴシック" panose="020B0400000000000000" pitchFamily="49" charset="-128"/>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1" lang="ja-JP" altLang="en-US" sz="1400" dirty="0">
                          <a:latin typeface="BIZ UDゴシック" panose="020B0400000000000000" pitchFamily="49" charset="-128"/>
                          <a:ea typeface="BIZ UDゴシック" panose="020B0400000000000000" pitchFamily="49" charset="-128"/>
                        </a:rPr>
                        <a:t>値段に見合うスキルなのか</a:t>
                      </a:r>
                    </a:p>
                  </a:txBody>
                  <a:tcPr>
                    <a:solidFill>
                      <a:schemeClr val="bg1"/>
                    </a:solidFill>
                  </a:tcPr>
                </a:tc>
                <a:tc>
                  <a:txBody>
                    <a:bodyPr/>
                    <a:lstStyle/>
                    <a:p>
                      <a:pPr>
                        <a:lnSpc>
                          <a:spcPct val="150000"/>
                        </a:lnSpc>
                      </a:pPr>
                      <a:r>
                        <a:rPr kumimoji="1" lang="en-US" altLang="ja-JP" sz="1400" dirty="0">
                          <a:latin typeface="BIZ UDゴシック" panose="020B0400000000000000" pitchFamily="49" charset="-128"/>
                          <a:ea typeface="BIZ UDゴシック" panose="020B0400000000000000" pitchFamily="49" charset="-128"/>
                        </a:rPr>
                        <a:t>SE</a:t>
                      </a:r>
                      <a:endParaRPr kumimoji="1" lang="ja-JP" altLang="en-US" sz="1400" dirty="0">
                        <a:latin typeface="BIZ UDゴシック" panose="020B0400000000000000" pitchFamily="49" charset="-128"/>
                        <a:ea typeface="BIZ UDゴシック" panose="020B0400000000000000" pitchFamily="49" charset="-128"/>
                      </a:endParaRPr>
                    </a:p>
                  </a:txBody>
                  <a:tcPr>
                    <a:solidFill>
                      <a:schemeClr val="bg2">
                        <a:lumMod val="90000"/>
                      </a:schemeClr>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スキルセット・キャリア形成</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現場での孤立・教育されない</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単価や待遇</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現場の過酷さ</a:t>
                      </a:r>
                    </a:p>
                  </a:txBody>
                  <a:tcPr>
                    <a:solidFill>
                      <a:schemeClr val="bg1"/>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ー</a:t>
                      </a:r>
                    </a:p>
                  </a:txBody>
                  <a:tcPr>
                    <a:solidFill>
                      <a:schemeClr val="bg2">
                        <a:lumMod val="90000"/>
                      </a:schemeClr>
                    </a:solidFill>
                  </a:tcPr>
                </a:tc>
                <a:tc>
                  <a:txBody>
                    <a:bodyPr/>
                    <a:lstStyle/>
                    <a:p>
                      <a:pPr>
                        <a:lnSpc>
                          <a:spcPct val="150000"/>
                        </a:lnSpc>
                      </a:pPr>
                      <a:endParaRPr kumimoji="1" lang="ja-JP" altLang="en-US" sz="1400" dirty="0">
                        <a:latin typeface="BIZ UDゴシック" panose="020B0400000000000000" pitchFamily="49" charset="-128"/>
                        <a:ea typeface="BIZ UDゴシック" panose="020B0400000000000000" pitchFamily="49" charset="-128"/>
                      </a:endParaRPr>
                    </a:p>
                  </a:txBody>
                  <a:tcPr>
                    <a:solidFill>
                      <a:schemeClr val="bg2">
                        <a:lumMod val="75000"/>
                      </a:schemeClr>
                    </a:solidFill>
                  </a:tcPr>
                </a:tc>
                <a:extLst>
                  <a:ext uri="{0D108BD9-81ED-4DB2-BD59-A6C34878D82A}">
                    <a16:rowId xmlns:a16="http://schemas.microsoft.com/office/drawing/2014/main" val="153002860"/>
                  </a:ext>
                </a:extLst>
              </a:tr>
            </a:tbl>
          </a:graphicData>
        </a:graphic>
      </p:graphicFrame>
    </p:spTree>
    <p:extLst>
      <p:ext uri="{BB962C8B-B14F-4D97-AF65-F5344CB8AC3E}">
        <p14:creationId xmlns:p14="http://schemas.microsoft.com/office/powerpoint/2010/main" val="86497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537B1-CDD5-C3C2-FE31-0151D97F9F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982CBD-5F69-01AB-9135-343ECDD95280}"/>
              </a:ext>
            </a:extLst>
          </p:cNvPr>
          <p:cNvSpPr>
            <a:spLocks noGrp="1"/>
          </p:cNvSpPr>
          <p:nvPr>
            <p:ph idx="1"/>
          </p:nvPr>
        </p:nvSpPr>
        <p:spPr>
          <a:xfrm>
            <a:off x="612647" y="931741"/>
            <a:ext cx="10653579" cy="365125"/>
          </a:xfrm>
        </p:spPr>
        <p:txBody>
          <a:bodyPr vert="horz" lIns="91440" tIns="45720" rIns="91440" bIns="45720" rtlCol="0" anchor="t">
            <a:normAutofit lnSpcReduction="10000"/>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以下の課題が重要かつ中心にあると仮説設定する</a:t>
            </a:r>
            <a:endParaRPr lang="en-US" altLang="ja-JP" sz="1600" dirty="0">
              <a:latin typeface="游ゴシック Medium" panose="020B0500000000000000" pitchFamily="50" charset="-128"/>
              <a:ea typeface="游ゴシック Medium" panose="020B0500000000000000" pitchFamily="50" charset="-128"/>
            </a:endParaRPr>
          </a:p>
        </p:txBody>
      </p:sp>
      <p:sp>
        <p:nvSpPr>
          <p:cNvPr id="4" name="Date Placeholder 3">
            <a:extLst>
              <a:ext uri="{FF2B5EF4-FFF2-40B4-BE49-F238E27FC236}">
                <a16:creationId xmlns:a16="http://schemas.microsoft.com/office/drawing/2014/main" id="{A47E93E8-3393-8386-9EDA-37CE21D9131D}"/>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A82A6FD8-E341-9E34-00D6-ADCB7FA683FA}"/>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18A4120-139C-417B-D545-3943366DA7F1}"/>
              </a:ext>
            </a:extLst>
          </p:cNvPr>
          <p:cNvSpPr>
            <a:spLocks noGrp="1"/>
          </p:cNvSpPr>
          <p:nvPr>
            <p:ph type="sldNum" sz="quarter" idx="12"/>
          </p:nvPr>
        </p:nvSpPr>
        <p:spPr/>
        <p:txBody>
          <a:bodyPr/>
          <a:lstStyle/>
          <a:p>
            <a:fld id="{CC057153-B650-4DEB-B370-79DDCFDCE934}" type="slidenum">
              <a:rPr lang="en-US" dirty="0"/>
              <a:t>12</a:t>
            </a:fld>
            <a:endParaRPr lang="en-US"/>
          </a:p>
        </p:txBody>
      </p:sp>
      <p:sp>
        <p:nvSpPr>
          <p:cNvPr id="18" name="Title 1">
            <a:extLst>
              <a:ext uri="{FF2B5EF4-FFF2-40B4-BE49-F238E27FC236}">
                <a16:creationId xmlns:a16="http://schemas.microsoft.com/office/drawing/2014/main" id="{F0E1DE2E-AB4D-210F-A91E-46077199C67B}"/>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仮説設定</a:t>
            </a:r>
            <a:endParaRPr kumimoji="1" lang="ja-JP" altLang="en-US" dirty="0">
              <a:solidFill>
                <a:srgbClr val="FF0000"/>
              </a:solidFill>
              <a:latin typeface="+mj-ea"/>
            </a:endParaRPr>
          </a:p>
        </p:txBody>
      </p:sp>
      <p:graphicFrame>
        <p:nvGraphicFramePr>
          <p:cNvPr id="2" name="表 1">
            <a:extLst>
              <a:ext uri="{FF2B5EF4-FFF2-40B4-BE49-F238E27FC236}">
                <a16:creationId xmlns:a16="http://schemas.microsoft.com/office/drawing/2014/main" id="{E72D041F-118C-407A-B56A-1EB98CB726C1}"/>
              </a:ext>
            </a:extLst>
          </p:cNvPr>
          <p:cNvGraphicFramePr>
            <a:graphicFrameLocks noGrp="1"/>
          </p:cNvGraphicFramePr>
          <p:nvPr>
            <p:extLst>
              <p:ext uri="{D42A27DB-BD31-4B8C-83A1-F6EECF244321}">
                <p14:modId xmlns:p14="http://schemas.microsoft.com/office/powerpoint/2010/main" val="2561687910"/>
              </p:ext>
            </p:extLst>
          </p:nvPr>
        </p:nvGraphicFramePr>
        <p:xfrm>
          <a:off x="918754" y="1488098"/>
          <a:ext cx="10080000" cy="1326452"/>
        </p:xfrm>
        <a:graphic>
          <a:graphicData uri="http://schemas.openxmlformats.org/drawingml/2006/table">
            <a:tbl>
              <a:tblPr firstRow="1" bandRow="1">
                <a:tableStyleId>{5940675A-B579-460E-94D1-54222C63F5DA}</a:tableStyleId>
              </a:tblPr>
              <a:tblGrid>
                <a:gridCol w="5040000">
                  <a:extLst>
                    <a:ext uri="{9D8B030D-6E8A-4147-A177-3AD203B41FA5}">
                      <a16:colId xmlns:a16="http://schemas.microsoft.com/office/drawing/2014/main" val="3838589455"/>
                    </a:ext>
                  </a:extLst>
                </a:gridCol>
                <a:gridCol w="5040000">
                  <a:extLst>
                    <a:ext uri="{9D8B030D-6E8A-4147-A177-3AD203B41FA5}">
                      <a16:colId xmlns:a16="http://schemas.microsoft.com/office/drawing/2014/main" val="4013795392"/>
                    </a:ext>
                  </a:extLst>
                </a:gridCol>
              </a:tblGrid>
              <a:tr h="0">
                <a:tc>
                  <a:txBody>
                    <a:bodyPr/>
                    <a:lstStyle/>
                    <a:p>
                      <a:r>
                        <a:rPr kumimoji="1" lang="ja-JP" altLang="en-US" sz="1400" dirty="0">
                          <a:latin typeface="BIZ UDゴシック" panose="020B0400000000000000" pitchFamily="49" charset="-128"/>
                          <a:ea typeface="BIZ UDゴシック" panose="020B0400000000000000" pitchFamily="49" charset="-128"/>
                        </a:rPr>
                        <a:t>案件企業</a:t>
                      </a:r>
                      <a:endParaRPr dirty="0"/>
                    </a:p>
                  </a:txBody>
                  <a:tcPr>
                    <a:solidFill>
                      <a:schemeClr val="accent2">
                        <a:lumMod val="20000"/>
                        <a:lumOff val="80000"/>
                      </a:schemeClr>
                    </a:solidFill>
                  </a:tcPr>
                </a:tc>
                <a:tc>
                  <a:txBody>
                    <a:bodyPr/>
                    <a:lstStyle/>
                    <a:p>
                      <a:r>
                        <a:rPr kumimoji="1" lang="ja-JP" altLang="en-US" sz="1400" dirty="0">
                          <a:latin typeface="BIZ UDゴシック" panose="020B0400000000000000" pitchFamily="49" charset="-128"/>
                          <a:ea typeface="BIZ UDゴシック" panose="020B0400000000000000" pitchFamily="49" charset="-128"/>
                        </a:rPr>
                        <a:t>要員企業</a:t>
                      </a:r>
                      <a:endParaRPr dirty="0"/>
                    </a:p>
                  </a:txBody>
                  <a:tcPr>
                    <a:solidFill>
                      <a:schemeClr val="accent5">
                        <a:lumMod val="20000"/>
                        <a:lumOff val="80000"/>
                      </a:schemeClr>
                    </a:solidFill>
                  </a:tcPr>
                </a:tc>
                <a:extLst>
                  <a:ext uri="{0D108BD9-81ED-4DB2-BD59-A6C34878D82A}">
                    <a16:rowId xmlns:a16="http://schemas.microsoft.com/office/drawing/2014/main" val="434439960"/>
                  </a:ext>
                </a:extLst>
              </a:tr>
              <a:tr h="526852">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要員の「実績・評価」が見えること</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 金額</a:t>
                      </a:r>
                      <a:r>
                        <a:rPr kumimoji="1" lang="en-US" altLang="ja-JP" sz="1400" dirty="0">
                          <a:latin typeface="BIZ UDゴシック" panose="020B0400000000000000" pitchFamily="49" charset="-128"/>
                          <a:ea typeface="BIZ UDゴシック" panose="020B0400000000000000" pitchFamily="49" charset="-128"/>
                        </a:rPr>
                        <a:t>/</a:t>
                      </a:r>
                      <a:r>
                        <a:rPr kumimoji="1" lang="ja-JP" altLang="en-US" sz="1400" dirty="0">
                          <a:latin typeface="BIZ UDゴシック" panose="020B0400000000000000" pitchFamily="49" charset="-128"/>
                          <a:ea typeface="BIZ UDゴシック" panose="020B0400000000000000" pitchFamily="49" charset="-128"/>
                        </a:rPr>
                        <a:t>評価から判断可能になり、戦略的に調達できる</a:t>
                      </a:r>
                      <a:endParaRPr kumimoji="1" lang="en-US" altLang="ja-JP" sz="1400" dirty="0">
                        <a:latin typeface="BIZ UDゴシック" panose="020B0400000000000000" pitchFamily="49" charset="-128"/>
                        <a:ea typeface="BIZ UDゴシック" panose="020B0400000000000000" pitchFamily="49" charset="-128"/>
                      </a:endParaRPr>
                    </a:p>
                  </a:txBody>
                  <a:tcPr>
                    <a:solidFill>
                      <a:schemeClr val="bg1"/>
                    </a:solidFill>
                  </a:tcPr>
                </a:tc>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要員に「実績・評価」が溜まること</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 単価調整の根拠がより明確になり交渉しやすくなる</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　 評価を元に方針を持って要員を教育することができる</a:t>
                      </a:r>
                    </a:p>
                  </a:txBody>
                  <a:tcPr>
                    <a:solidFill>
                      <a:schemeClr val="bg1"/>
                    </a:solidFill>
                  </a:tcPr>
                </a:tc>
                <a:extLst>
                  <a:ext uri="{0D108BD9-81ED-4DB2-BD59-A6C34878D82A}">
                    <a16:rowId xmlns:a16="http://schemas.microsoft.com/office/drawing/2014/main" val="3008996272"/>
                  </a:ext>
                </a:extLst>
              </a:tr>
            </a:tbl>
          </a:graphicData>
        </a:graphic>
      </p:graphicFrame>
      <p:graphicFrame>
        <p:nvGraphicFramePr>
          <p:cNvPr id="7" name="表 6">
            <a:extLst>
              <a:ext uri="{FF2B5EF4-FFF2-40B4-BE49-F238E27FC236}">
                <a16:creationId xmlns:a16="http://schemas.microsoft.com/office/drawing/2014/main" id="{3B80B339-3FD7-B9DC-5BC6-D2B4B271262D}"/>
              </a:ext>
            </a:extLst>
          </p:cNvPr>
          <p:cNvGraphicFramePr>
            <a:graphicFrameLocks noGrp="1"/>
          </p:cNvGraphicFramePr>
          <p:nvPr>
            <p:extLst>
              <p:ext uri="{D42A27DB-BD31-4B8C-83A1-F6EECF244321}">
                <p14:modId xmlns:p14="http://schemas.microsoft.com/office/powerpoint/2010/main" val="1863764579"/>
              </p:ext>
            </p:extLst>
          </p:nvPr>
        </p:nvGraphicFramePr>
        <p:xfrm>
          <a:off x="3398710" y="4099643"/>
          <a:ext cx="5081452" cy="1006412"/>
        </p:xfrm>
        <a:graphic>
          <a:graphicData uri="http://schemas.openxmlformats.org/drawingml/2006/table">
            <a:tbl>
              <a:tblPr firstRow="1" bandRow="1">
                <a:tableStyleId>{5940675A-B579-460E-94D1-54222C63F5DA}</a:tableStyleId>
              </a:tblPr>
              <a:tblGrid>
                <a:gridCol w="5081452">
                  <a:extLst>
                    <a:ext uri="{9D8B030D-6E8A-4147-A177-3AD203B41FA5}">
                      <a16:colId xmlns:a16="http://schemas.microsoft.com/office/drawing/2014/main" val="1060430644"/>
                    </a:ext>
                  </a:extLst>
                </a:gridCol>
              </a:tblGrid>
              <a:tr h="0">
                <a:tc>
                  <a:txBody>
                    <a:bodyPr/>
                    <a:lstStyle/>
                    <a:p>
                      <a:r>
                        <a:rPr kumimoji="1" lang="ja-JP" altLang="en-US" sz="1400" dirty="0">
                          <a:latin typeface="BIZ UDゴシック" panose="020B0400000000000000" pitchFamily="49" charset="-128"/>
                          <a:ea typeface="BIZ UDゴシック" panose="020B0400000000000000" pitchFamily="49" charset="-128"/>
                        </a:rPr>
                        <a:t>仲介企業</a:t>
                      </a:r>
                      <a:endParaRPr dirty="0"/>
                    </a:p>
                  </a:txBody>
                  <a:tcPr>
                    <a:solidFill>
                      <a:schemeClr val="accent6">
                        <a:lumMod val="20000"/>
                        <a:lumOff val="80000"/>
                      </a:schemeClr>
                    </a:solidFill>
                  </a:tcPr>
                </a:tc>
                <a:extLst>
                  <a:ext uri="{0D108BD9-81ED-4DB2-BD59-A6C34878D82A}">
                    <a16:rowId xmlns:a16="http://schemas.microsoft.com/office/drawing/2014/main" val="434439960"/>
                  </a:ext>
                </a:extLst>
              </a:tr>
              <a:tr h="544415">
                <a:tc>
                  <a:txBody>
                    <a:bodyPr/>
                    <a:lstStyle/>
                    <a:p>
                      <a:pPr>
                        <a:lnSpc>
                          <a:spcPct val="150000"/>
                        </a:lnSpc>
                      </a:pPr>
                      <a:r>
                        <a:rPr kumimoji="1" lang="ja-JP" altLang="en-US" sz="1400" dirty="0">
                          <a:latin typeface="BIZ UDゴシック" panose="020B0400000000000000" pitchFamily="49" charset="-128"/>
                          <a:ea typeface="BIZ UDゴシック" panose="020B0400000000000000" pitchFamily="49" charset="-128"/>
                        </a:rPr>
                        <a:t>仲介者の「実績・評価」が溜まること</a:t>
                      </a:r>
                      <a:endParaRPr kumimoji="1" lang="en-US" altLang="ja-JP" sz="1400" dirty="0">
                        <a:latin typeface="BIZ UDゴシック" panose="020B0400000000000000" pitchFamily="49" charset="-128"/>
                        <a:ea typeface="BIZ UDゴシック" panose="020B0400000000000000" pitchFamily="49" charset="-128"/>
                      </a:endParaRPr>
                    </a:p>
                    <a:p>
                      <a:pPr>
                        <a:lnSpc>
                          <a:spcPct val="150000"/>
                        </a:lnSpc>
                      </a:pPr>
                      <a:r>
                        <a:rPr kumimoji="1" lang="ja-JP" altLang="en-US" sz="1400" dirty="0">
                          <a:latin typeface="BIZ UDゴシック" panose="020B0400000000000000" pitchFamily="49" charset="-128"/>
                          <a:ea typeface="BIZ UDゴシック" panose="020B0400000000000000" pitchFamily="49" charset="-128"/>
                        </a:rPr>
                        <a:t>→ 他社と差別化となるため、優秀な営業は高利益が狙える</a:t>
                      </a:r>
                    </a:p>
                  </a:txBody>
                  <a:tcPr>
                    <a:solidFill>
                      <a:schemeClr val="bg1"/>
                    </a:solidFill>
                  </a:tcPr>
                </a:tc>
                <a:extLst>
                  <a:ext uri="{0D108BD9-81ED-4DB2-BD59-A6C34878D82A}">
                    <a16:rowId xmlns:a16="http://schemas.microsoft.com/office/drawing/2014/main" val="3008996272"/>
                  </a:ext>
                </a:extLst>
              </a:tr>
            </a:tbl>
          </a:graphicData>
        </a:graphic>
      </p:graphicFrame>
      <p:sp>
        <p:nvSpPr>
          <p:cNvPr id="8" name="二等辺三角形 7">
            <a:extLst>
              <a:ext uri="{FF2B5EF4-FFF2-40B4-BE49-F238E27FC236}">
                <a16:creationId xmlns:a16="http://schemas.microsoft.com/office/drawing/2014/main" id="{5DC20E09-4AEF-264B-098C-FA6F59D090A5}"/>
              </a:ext>
            </a:extLst>
          </p:cNvPr>
          <p:cNvSpPr/>
          <p:nvPr/>
        </p:nvSpPr>
        <p:spPr>
          <a:xfrm rot="10800000">
            <a:off x="5629918" y="2907939"/>
            <a:ext cx="657670" cy="167852"/>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Content Placeholder 2">
            <a:extLst>
              <a:ext uri="{FF2B5EF4-FFF2-40B4-BE49-F238E27FC236}">
                <a16:creationId xmlns:a16="http://schemas.microsoft.com/office/drawing/2014/main" id="{E3CAEB92-7721-54DF-06EB-800F2A7FF75D}"/>
              </a:ext>
            </a:extLst>
          </p:cNvPr>
          <p:cNvSpPr txBox="1">
            <a:spLocks/>
          </p:cNvSpPr>
          <p:nvPr/>
        </p:nvSpPr>
        <p:spPr>
          <a:xfrm>
            <a:off x="612647" y="3193690"/>
            <a:ext cx="10653579" cy="36512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kumimoji="0" lang="ja-JP" altLang="en-US" sz="1600" b="1" u="sng" dirty="0">
                <a:latin typeface="游ゴシック Medium" panose="020B0500000000000000" pitchFamily="50" charset="-128"/>
                <a:ea typeface="游ゴシック Medium" panose="020B0500000000000000" pitchFamily="50" charset="-128"/>
              </a:rPr>
              <a:t>要員に対してフィードバックがあり評価される仕組みを提供する</a:t>
            </a:r>
            <a:endParaRPr kumimoji="0" lang="en-US" altLang="ja-JP" sz="1600" b="1" u="sng" dirty="0">
              <a:latin typeface="游ゴシック Medium" panose="020B0500000000000000" pitchFamily="50" charset="-128"/>
              <a:ea typeface="游ゴシック Medium" panose="020B0500000000000000" pitchFamily="50" charset="-128"/>
            </a:endParaRPr>
          </a:p>
        </p:txBody>
      </p:sp>
      <p:sp>
        <p:nvSpPr>
          <p:cNvPr id="12" name="二等辺三角形 11">
            <a:extLst>
              <a:ext uri="{FF2B5EF4-FFF2-40B4-BE49-F238E27FC236}">
                <a16:creationId xmlns:a16="http://schemas.microsoft.com/office/drawing/2014/main" id="{2BCD6587-1811-78FE-94C3-2AA70D3136DD}"/>
              </a:ext>
            </a:extLst>
          </p:cNvPr>
          <p:cNvSpPr/>
          <p:nvPr/>
        </p:nvSpPr>
        <p:spPr>
          <a:xfrm rot="10800000">
            <a:off x="5610601" y="5202050"/>
            <a:ext cx="657670" cy="167852"/>
          </a:xfrm>
          <a:prstGeom prst="triangle">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Content Placeholder 2">
            <a:extLst>
              <a:ext uri="{FF2B5EF4-FFF2-40B4-BE49-F238E27FC236}">
                <a16:creationId xmlns:a16="http://schemas.microsoft.com/office/drawing/2014/main" id="{7FA412B3-4826-D6DA-6060-4C19657E21D5}"/>
              </a:ext>
            </a:extLst>
          </p:cNvPr>
          <p:cNvSpPr txBox="1">
            <a:spLocks/>
          </p:cNvSpPr>
          <p:nvPr/>
        </p:nvSpPr>
        <p:spPr>
          <a:xfrm>
            <a:off x="612647" y="5546616"/>
            <a:ext cx="10653579" cy="365125"/>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kumimoji="0" lang="ja-JP" altLang="en-US" sz="1600" b="1" u="sng" dirty="0">
                <a:latin typeface="游ゴシック Medium" panose="020B0500000000000000" pitchFamily="50" charset="-128"/>
                <a:ea typeface="游ゴシック Medium" panose="020B0500000000000000" pitchFamily="50" charset="-128"/>
              </a:rPr>
              <a:t>提案した要員の追跡結果から仲介者の実績を記録する仕組みを提供する</a:t>
            </a:r>
            <a:endParaRPr kumimoji="0" lang="en-US" altLang="ja-JP" sz="1600" b="1" u="sng"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16290673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213AE-220B-23DC-8591-1AD216863064}"/>
            </a:ext>
          </a:extLst>
        </p:cNvPr>
        <p:cNvGrpSpPr/>
        <p:nvPr/>
      </p:nvGrpSpPr>
      <p:grpSpPr>
        <a:xfrm>
          <a:off x="0" y="0"/>
          <a:ext cx="0" cy="0"/>
          <a:chOff x="0" y="0"/>
          <a:chExt cx="0" cy="0"/>
        </a:xfrm>
      </p:grpSpPr>
      <p:sp>
        <p:nvSpPr>
          <p:cNvPr id="82" name="四角形: 角を丸くする 81">
            <a:extLst>
              <a:ext uri="{FF2B5EF4-FFF2-40B4-BE49-F238E27FC236}">
                <a16:creationId xmlns:a16="http://schemas.microsoft.com/office/drawing/2014/main" id="{3F185487-9896-D99A-95EC-307E0FC60FCD}"/>
              </a:ext>
            </a:extLst>
          </p:cNvPr>
          <p:cNvSpPr/>
          <p:nvPr/>
        </p:nvSpPr>
        <p:spPr>
          <a:xfrm>
            <a:off x="5202058" y="2154140"/>
            <a:ext cx="3791883" cy="1694354"/>
          </a:xfrm>
          <a:prstGeom prst="roundRect">
            <a:avLst>
              <a:gd name="adj" fmla="val 8002"/>
            </a:avLst>
          </a:prstGeom>
          <a:solidFill>
            <a:schemeClr val="accent5">
              <a:lumMod val="20000"/>
              <a:lumOff val="80000"/>
              <a:alpha val="50000"/>
            </a:schemeClr>
          </a:solidFill>
          <a:ln w="28575">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13" name="グラフィックス 12" descr="ソーシャル ネットワーク 枠線">
            <a:extLst>
              <a:ext uri="{FF2B5EF4-FFF2-40B4-BE49-F238E27FC236}">
                <a16:creationId xmlns:a16="http://schemas.microsoft.com/office/drawing/2014/main" id="{69319156-EA90-7B3A-4429-B687915323E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64466" y="2140507"/>
            <a:ext cx="1606731" cy="1606731"/>
          </a:xfrm>
          <a:prstGeom prst="rect">
            <a:avLst/>
          </a:prstGeom>
        </p:spPr>
      </p:pic>
      <p:sp>
        <p:nvSpPr>
          <p:cNvPr id="4" name="Date Placeholder 3">
            <a:extLst>
              <a:ext uri="{FF2B5EF4-FFF2-40B4-BE49-F238E27FC236}">
                <a16:creationId xmlns:a16="http://schemas.microsoft.com/office/drawing/2014/main" id="{345D1F77-75DF-0B39-DBAE-988AFDD7DF2B}"/>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B3AA619A-6830-4F81-BC7B-CB3BE19EC890}"/>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AE29527-E878-582A-0196-7C79C64A42C9}"/>
              </a:ext>
            </a:extLst>
          </p:cNvPr>
          <p:cNvSpPr>
            <a:spLocks noGrp="1"/>
          </p:cNvSpPr>
          <p:nvPr>
            <p:ph type="sldNum" sz="quarter" idx="12"/>
          </p:nvPr>
        </p:nvSpPr>
        <p:spPr/>
        <p:txBody>
          <a:bodyPr/>
          <a:lstStyle/>
          <a:p>
            <a:fld id="{CC057153-B650-4DEB-B370-79DDCFDCE934}" type="slidenum">
              <a:rPr lang="en-US" dirty="0"/>
              <a:t>13</a:t>
            </a:fld>
            <a:endParaRPr lang="en-US"/>
          </a:p>
        </p:txBody>
      </p:sp>
      <p:sp>
        <p:nvSpPr>
          <p:cNvPr id="18" name="Title 1">
            <a:extLst>
              <a:ext uri="{FF2B5EF4-FFF2-40B4-BE49-F238E27FC236}">
                <a16:creationId xmlns:a16="http://schemas.microsoft.com/office/drawing/2014/main" id="{8B3742E7-6EDA-A6F4-FA6B-88BA8A145AB9}"/>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スキーム</a:t>
            </a:r>
            <a:endParaRPr kumimoji="1" lang="ja-JP" altLang="en-US" dirty="0">
              <a:solidFill>
                <a:srgbClr val="FF0000"/>
              </a:solidFill>
              <a:latin typeface="+mj-ea"/>
            </a:endParaRPr>
          </a:p>
        </p:txBody>
      </p:sp>
      <p:grpSp>
        <p:nvGrpSpPr>
          <p:cNvPr id="15" name="グループ化 14">
            <a:extLst>
              <a:ext uri="{FF2B5EF4-FFF2-40B4-BE49-F238E27FC236}">
                <a16:creationId xmlns:a16="http://schemas.microsoft.com/office/drawing/2014/main" id="{2F57BF6C-7BA4-A826-3C16-976F1ACCB48F}"/>
              </a:ext>
            </a:extLst>
          </p:cNvPr>
          <p:cNvGrpSpPr/>
          <p:nvPr/>
        </p:nvGrpSpPr>
        <p:grpSpPr>
          <a:xfrm>
            <a:off x="3039155" y="2592998"/>
            <a:ext cx="1098380" cy="883449"/>
            <a:chOff x="10399049" y="5216994"/>
            <a:chExt cx="1220615" cy="981767"/>
          </a:xfrm>
        </p:grpSpPr>
        <p:pic>
          <p:nvPicPr>
            <p:cNvPr id="16" name="グラフィックス 15" descr="プログラマー男性 単色塗りつぶし">
              <a:extLst>
                <a:ext uri="{FF2B5EF4-FFF2-40B4-BE49-F238E27FC236}">
                  <a16:creationId xmlns:a16="http://schemas.microsoft.com/office/drawing/2014/main" id="{0E509018-3D3D-8FA6-3FEB-C6FB40274EA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17" name="四角形: 角を丸くする 16">
              <a:extLst>
                <a:ext uri="{FF2B5EF4-FFF2-40B4-BE49-F238E27FC236}">
                  <a16:creationId xmlns:a16="http://schemas.microsoft.com/office/drawing/2014/main" id="{BAE27653-2BBD-5522-C861-94A9984DCF9D}"/>
                </a:ext>
              </a:extLst>
            </p:cNvPr>
            <p:cNvSpPr/>
            <p:nvPr/>
          </p:nvSpPr>
          <p:spPr>
            <a:xfrm>
              <a:off x="10399049" y="5877108"/>
              <a:ext cx="1220615" cy="321653"/>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案件会社</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(PM)</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grpSp>
        <p:nvGrpSpPr>
          <p:cNvPr id="25" name="グループ化 24">
            <a:extLst>
              <a:ext uri="{FF2B5EF4-FFF2-40B4-BE49-F238E27FC236}">
                <a16:creationId xmlns:a16="http://schemas.microsoft.com/office/drawing/2014/main" id="{84386907-3158-2658-7D62-D8D946610738}"/>
              </a:ext>
            </a:extLst>
          </p:cNvPr>
          <p:cNvGrpSpPr/>
          <p:nvPr/>
        </p:nvGrpSpPr>
        <p:grpSpPr>
          <a:xfrm>
            <a:off x="7944581" y="2601789"/>
            <a:ext cx="1049360" cy="883449"/>
            <a:chOff x="10426287" y="5216994"/>
            <a:chExt cx="1166142" cy="981765"/>
          </a:xfrm>
        </p:grpSpPr>
        <p:pic>
          <p:nvPicPr>
            <p:cNvPr id="26" name="グラフィックス 25" descr="プログラマー男性 単色塗りつぶし">
              <a:extLst>
                <a:ext uri="{FF2B5EF4-FFF2-40B4-BE49-F238E27FC236}">
                  <a16:creationId xmlns:a16="http://schemas.microsoft.com/office/drawing/2014/main" id="{4246F8EE-2E77-6794-59FD-7F41887C69E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76718" y="5216994"/>
              <a:ext cx="665285" cy="665285"/>
            </a:xfrm>
            <a:prstGeom prst="rect">
              <a:avLst/>
            </a:prstGeom>
          </p:spPr>
        </p:pic>
        <p:sp>
          <p:nvSpPr>
            <p:cNvPr id="27" name="四角形: 角を丸くする 26">
              <a:extLst>
                <a:ext uri="{FF2B5EF4-FFF2-40B4-BE49-F238E27FC236}">
                  <a16:creationId xmlns:a16="http://schemas.microsoft.com/office/drawing/2014/main" id="{3C4E5731-0012-480F-AC3B-8D9E3E83E613}"/>
                </a:ext>
              </a:extLst>
            </p:cNvPr>
            <p:cNvSpPr/>
            <p:nvPr/>
          </p:nvSpPr>
          <p:spPr>
            <a:xfrm>
              <a:off x="10426287" y="5877107"/>
              <a:ext cx="1166142" cy="321652"/>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要員会社</a:t>
              </a:r>
              <a:r>
                <a:rPr kumimoji="1" lang="en-US" altLang="ja-JP" sz="1100" dirty="0">
                  <a:solidFill>
                    <a:schemeClr val="tx1"/>
                  </a:solidFill>
                  <a:latin typeface="游ゴシック Medium" panose="020B0500000000000000" pitchFamily="50" charset="-128"/>
                  <a:ea typeface="游ゴシック Medium" panose="020B0500000000000000" pitchFamily="50" charset="-128"/>
                </a:rPr>
                <a:t>(SE)</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grpSp>
      <p:cxnSp>
        <p:nvCxnSpPr>
          <p:cNvPr id="33" name="直線矢印コネクタ 32">
            <a:extLst>
              <a:ext uri="{FF2B5EF4-FFF2-40B4-BE49-F238E27FC236}">
                <a16:creationId xmlns:a16="http://schemas.microsoft.com/office/drawing/2014/main" id="{B2929984-FF62-3DCB-3FA1-2799D4892E13}"/>
              </a:ext>
            </a:extLst>
          </p:cNvPr>
          <p:cNvCxnSpPr/>
          <p:nvPr/>
        </p:nvCxnSpPr>
        <p:spPr>
          <a:xfrm>
            <a:off x="4088608" y="3043514"/>
            <a:ext cx="1000105" cy="0"/>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4" name="直線矢印コネクタ 33">
            <a:extLst>
              <a:ext uri="{FF2B5EF4-FFF2-40B4-BE49-F238E27FC236}">
                <a16:creationId xmlns:a16="http://schemas.microsoft.com/office/drawing/2014/main" id="{FD24E5A8-4AE3-7549-159A-DF9C8859167B}"/>
              </a:ext>
            </a:extLst>
          </p:cNvPr>
          <p:cNvCxnSpPr/>
          <p:nvPr/>
        </p:nvCxnSpPr>
        <p:spPr>
          <a:xfrm>
            <a:off x="4088608" y="3152455"/>
            <a:ext cx="1000105" cy="0"/>
          </a:xfrm>
          <a:prstGeom prst="straightConnector1">
            <a:avLst/>
          </a:prstGeom>
          <a:ln w="19050">
            <a:headEnd type="triangle" w="med" len="med"/>
            <a:tailEnd type="none" w="med" len="med"/>
          </a:ln>
        </p:spPr>
        <p:style>
          <a:lnRef idx="1">
            <a:schemeClr val="dk1"/>
          </a:lnRef>
          <a:fillRef idx="0">
            <a:schemeClr val="dk1"/>
          </a:fillRef>
          <a:effectRef idx="0">
            <a:schemeClr val="dk1"/>
          </a:effectRef>
          <a:fontRef idx="minor">
            <a:schemeClr val="tx1"/>
          </a:fontRef>
        </p:style>
      </p:cxnSp>
      <p:cxnSp>
        <p:nvCxnSpPr>
          <p:cNvPr id="38" name="直線コネクタ 37">
            <a:extLst>
              <a:ext uri="{FF2B5EF4-FFF2-40B4-BE49-F238E27FC236}">
                <a16:creationId xmlns:a16="http://schemas.microsoft.com/office/drawing/2014/main" id="{8C59D507-4F36-6B3C-74B5-B889E467B1A4}"/>
              </a:ext>
            </a:extLst>
          </p:cNvPr>
          <p:cNvCxnSpPr>
            <a:cxnSpLocks/>
          </p:cNvCxnSpPr>
          <p:nvPr/>
        </p:nvCxnSpPr>
        <p:spPr>
          <a:xfrm flipH="1">
            <a:off x="5951299" y="3043514"/>
            <a:ext cx="901930"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22" name="グループ化 21">
            <a:extLst>
              <a:ext uri="{FF2B5EF4-FFF2-40B4-BE49-F238E27FC236}">
                <a16:creationId xmlns:a16="http://schemas.microsoft.com/office/drawing/2014/main" id="{CB441F3A-1AFF-A211-6871-0AD3221E7F86}"/>
              </a:ext>
            </a:extLst>
          </p:cNvPr>
          <p:cNvGrpSpPr/>
          <p:nvPr/>
        </p:nvGrpSpPr>
        <p:grpSpPr>
          <a:xfrm>
            <a:off x="5253062" y="2590229"/>
            <a:ext cx="770652" cy="886865"/>
            <a:chOff x="4849652" y="3705621"/>
            <a:chExt cx="770652" cy="886865"/>
          </a:xfrm>
        </p:grpSpPr>
        <p:sp>
          <p:nvSpPr>
            <p:cNvPr id="31" name="四角形: 角を丸くする 30">
              <a:extLst>
                <a:ext uri="{FF2B5EF4-FFF2-40B4-BE49-F238E27FC236}">
                  <a16:creationId xmlns:a16="http://schemas.microsoft.com/office/drawing/2014/main" id="{FFD206C5-4770-24B1-970F-C7025D3F6E3E}"/>
                </a:ext>
              </a:extLst>
            </p:cNvPr>
            <p:cNvSpPr/>
            <p:nvPr/>
          </p:nvSpPr>
          <p:spPr>
            <a:xfrm>
              <a:off x="4849652" y="4303045"/>
              <a:ext cx="770652"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仲介</a:t>
              </a:r>
              <a:r>
                <a:rPr kumimoji="1" lang="ja-JP" altLang="en-US" sz="1100" dirty="0">
                  <a:solidFill>
                    <a:schemeClr val="tx1"/>
                  </a:solidFill>
                  <a:latin typeface="游ゴシック Medium" panose="020B0500000000000000" pitchFamily="50" charset="-128"/>
                  <a:ea typeface="游ゴシック Medium" panose="020B0500000000000000" pitchFamily="50" charset="-128"/>
                </a:rPr>
                <a:t>会社</a:t>
              </a:r>
            </a:p>
          </p:txBody>
        </p:sp>
        <p:pic>
          <p:nvPicPr>
            <p:cNvPr id="51" name="グラフィックス 50" descr="オフィス ワーカー (男性) 単色塗りつぶし">
              <a:extLst>
                <a:ext uri="{FF2B5EF4-FFF2-40B4-BE49-F238E27FC236}">
                  <a16:creationId xmlns:a16="http://schemas.microsoft.com/office/drawing/2014/main" id="{0F0E9E64-25F6-7E55-C60A-03820B364E6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35206" y="3705621"/>
              <a:ext cx="599545" cy="599546"/>
            </a:xfrm>
            <a:prstGeom prst="rect">
              <a:avLst/>
            </a:prstGeom>
          </p:spPr>
        </p:pic>
      </p:grpSp>
      <p:sp>
        <p:nvSpPr>
          <p:cNvPr id="54" name="四角形: 角を丸くする 53">
            <a:extLst>
              <a:ext uri="{FF2B5EF4-FFF2-40B4-BE49-F238E27FC236}">
                <a16:creationId xmlns:a16="http://schemas.microsoft.com/office/drawing/2014/main" id="{2363C3AA-A130-3A43-55AC-8FB2FD840C34}"/>
              </a:ext>
            </a:extLst>
          </p:cNvPr>
          <p:cNvSpPr/>
          <p:nvPr/>
        </p:nvSpPr>
        <p:spPr>
          <a:xfrm>
            <a:off x="4183674" y="2722302"/>
            <a:ext cx="770652"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lang="ja-JP" altLang="en-US" sz="1100" dirty="0">
                <a:solidFill>
                  <a:schemeClr val="tx1"/>
                </a:solidFill>
                <a:latin typeface="游ゴシック Medium" panose="020B0500000000000000" pitchFamily="50" charset="-128"/>
                <a:ea typeface="游ゴシック Medium" panose="020B0500000000000000" pitchFamily="50" charset="-128"/>
              </a:rPr>
              <a:t>案件情報</a:t>
            </a:r>
            <a:endParaRPr kumimoji="1" lang="ja-JP" altLang="en-US" sz="1100" dirty="0">
              <a:solidFill>
                <a:schemeClr val="tx1"/>
              </a:solidFill>
              <a:latin typeface="游ゴシック Medium" panose="020B0500000000000000" pitchFamily="50" charset="-128"/>
              <a:ea typeface="游ゴシック Medium" panose="020B0500000000000000" pitchFamily="50" charset="-128"/>
            </a:endParaRPr>
          </a:p>
        </p:txBody>
      </p:sp>
      <p:sp>
        <p:nvSpPr>
          <p:cNvPr id="55" name="四角形: 角を丸くする 54">
            <a:extLst>
              <a:ext uri="{FF2B5EF4-FFF2-40B4-BE49-F238E27FC236}">
                <a16:creationId xmlns:a16="http://schemas.microsoft.com/office/drawing/2014/main" id="{32222CB2-4E62-A792-056D-6899C91CCA21}"/>
              </a:ext>
            </a:extLst>
          </p:cNvPr>
          <p:cNvSpPr/>
          <p:nvPr/>
        </p:nvSpPr>
        <p:spPr>
          <a:xfrm>
            <a:off x="4323899" y="3152887"/>
            <a:ext cx="493881"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提案</a:t>
            </a:r>
          </a:p>
        </p:txBody>
      </p:sp>
      <p:sp>
        <p:nvSpPr>
          <p:cNvPr id="80" name="テキスト ボックス 79">
            <a:extLst>
              <a:ext uri="{FF2B5EF4-FFF2-40B4-BE49-F238E27FC236}">
                <a16:creationId xmlns:a16="http://schemas.microsoft.com/office/drawing/2014/main" id="{D4550552-39A1-AF03-B026-601FB9159699}"/>
              </a:ext>
            </a:extLst>
          </p:cNvPr>
          <p:cNvSpPr txBox="1"/>
          <p:nvPr/>
        </p:nvSpPr>
        <p:spPr>
          <a:xfrm>
            <a:off x="5233415" y="2202814"/>
            <a:ext cx="1031051" cy="261610"/>
          </a:xfrm>
          <a:prstGeom prst="rect">
            <a:avLst/>
          </a:prstGeom>
          <a:noFill/>
        </p:spPr>
        <p:txBody>
          <a:bodyPr wrap="none" rtlCol="0">
            <a:spAutoFit/>
          </a:bodyPr>
          <a:lstStyle/>
          <a:p>
            <a:r>
              <a:rPr kumimoji="1" lang="ja-JP" altLang="en-US" sz="1050" dirty="0">
                <a:solidFill>
                  <a:schemeClr val="accent5">
                    <a:lumMod val="75000"/>
                  </a:schemeClr>
                </a:solidFill>
                <a:latin typeface="游ゴシック Medium" panose="020B0500000000000000" pitchFamily="50" charset="-128"/>
                <a:ea typeface="游ゴシック Medium" panose="020B0500000000000000" pitchFamily="50" charset="-128"/>
              </a:rPr>
              <a:t>フォロー関係</a:t>
            </a:r>
          </a:p>
        </p:txBody>
      </p:sp>
      <p:sp>
        <p:nvSpPr>
          <p:cNvPr id="3" name="Content Placeholder 2">
            <a:extLst>
              <a:ext uri="{FF2B5EF4-FFF2-40B4-BE49-F238E27FC236}">
                <a16:creationId xmlns:a16="http://schemas.microsoft.com/office/drawing/2014/main" id="{CC8212FE-5A4D-0F72-50DA-54D12D2C83F4}"/>
              </a:ext>
            </a:extLst>
          </p:cNvPr>
          <p:cNvSpPr>
            <a:spLocks noGrp="1"/>
          </p:cNvSpPr>
          <p:nvPr>
            <p:ph idx="1"/>
          </p:nvPr>
        </p:nvSpPr>
        <p:spPr>
          <a:xfrm>
            <a:off x="612647" y="931741"/>
            <a:ext cx="10653579" cy="365125"/>
          </a:xfrm>
        </p:spPr>
        <p:txBody>
          <a:bodyPr vert="horz" lIns="91440" tIns="45720" rIns="91440" bIns="45720" rtlCol="0" anchor="t">
            <a:normAutofit lnSpcReduction="10000"/>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前述の仕組みを提供する、以下のようなスキームを設計した</a:t>
            </a:r>
            <a:endParaRPr lang="en-US" altLang="ja-JP" sz="1600" dirty="0">
              <a:latin typeface="游ゴシック Medium" panose="020B0500000000000000" pitchFamily="50" charset="-128"/>
              <a:ea typeface="游ゴシック Medium" panose="020B0500000000000000" pitchFamily="50" charset="-128"/>
            </a:endParaRPr>
          </a:p>
        </p:txBody>
      </p:sp>
      <p:cxnSp>
        <p:nvCxnSpPr>
          <p:cNvPr id="40" name="直線コネクタ 39">
            <a:extLst>
              <a:ext uri="{FF2B5EF4-FFF2-40B4-BE49-F238E27FC236}">
                <a16:creationId xmlns:a16="http://schemas.microsoft.com/office/drawing/2014/main" id="{9C384508-2815-D55E-174E-9C6A9EB0C22B}"/>
              </a:ext>
            </a:extLst>
          </p:cNvPr>
          <p:cNvCxnSpPr>
            <a:cxnSpLocks/>
          </p:cNvCxnSpPr>
          <p:nvPr/>
        </p:nvCxnSpPr>
        <p:spPr>
          <a:xfrm flipH="1">
            <a:off x="7240167" y="3043514"/>
            <a:ext cx="901930" cy="0"/>
          </a:xfrm>
          <a:prstGeom prst="line">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44" name="グループ化 43">
            <a:extLst>
              <a:ext uri="{FF2B5EF4-FFF2-40B4-BE49-F238E27FC236}">
                <a16:creationId xmlns:a16="http://schemas.microsoft.com/office/drawing/2014/main" id="{BEF8A891-7C86-754F-A962-BD42D03F241C}"/>
              </a:ext>
            </a:extLst>
          </p:cNvPr>
          <p:cNvGrpSpPr/>
          <p:nvPr/>
        </p:nvGrpSpPr>
        <p:grpSpPr>
          <a:xfrm>
            <a:off x="6001659" y="2850375"/>
            <a:ext cx="2082472" cy="383397"/>
            <a:chOff x="4678071" y="4536850"/>
            <a:chExt cx="3378946" cy="383397"/>
          </a:xfrm>
        </p:grpSpPr>
        <p:sp>
          <p:nvSpPr>
            <p:cNvPr id="42" name="矢印: 右 41">
              <a:extLst>
                <a:ext uri="{FF2B5EF4-FFF2-40B4-BE49-F238E27FC236}">
                  <a16:creationId xmlns:a16="http://schemas.microsoft.com/office/drawing/2014/main" id="{A54F3C56-24E3-302A-0E10-824E5F0C01CA}"/>
                </a:ext>
              </a:extLst>
            </p:cNvPr>
            <p:cNvSpPr/>
            <p:nvPr/>
          </p:nvSpPr>
          <p:spPr>
            <a:xfrm>
              <a:off x="4678071" y="4536852"/>
              <a:ext cx="3378946" cy="383395"/>
            </a:xfrm>
            <a:prstGeom prst="rightArrow">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b="1" dirty="0">
                <a:solidFill>
                  <a:schemeClr val="tx1">
                    <a:lumMod val="85000"/>
                    <a:lumOff val="15000"/>
                  </a:schemeClr>
                </a:solidFill>
                <a:latin typeface="游ゴシック" panose="020B0400000000000000" pitchFamily="50" charset="-128"/>
                <a:ea typeface="游ゴシック" panose="020B0400000000000000" pitchFamily="50" charset="-128"/>
              </a:endParaRPr>
            </a:p>
          </p:txBody>
        </p:sp>
        <p:sp>
          <p:nvSpPr>
            <p:cNvPr id="43" name="矢印: 右 42">
              <a:extLst>
                <a:ext uri="{FF2B5EF4-FFF2-40B4-BE49-F238E27FC236}">
                  <a16:creationId xmlns:a16="http://schemas.microsoft.com/office/drawing/2014/main" id="{027DB314-7A38-57B7-CF7E-DE9E8C652B09}"/>
                </a:ext>
              </a:extLst>
            </p:cNvPr>
            <p:cNvSpPr/>
            <p:nvPr/>
          </p:nvSpPr>
          <p:spPr>
            <a:xfrm>
              <a:off x="4678071" y="4536850"/>
              <a:ext cx="3378946" cy="383395"/>
            </a:xfrm>
            <a:prstGeom prst="rightArrow">
              <a:avLst/>
            </a:prstGeom>
            <a:solidFill>
              <a:schemeClr val="accent5">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85000"/>
                      <a:lumOff val="15000"/>
                    </a:schemeClr>
                  </a:solidFill>
                  <a:latin typeface="游ゴシック" panose="020B0400000000000000" pitchFamily="50" charset="-128"/>
                  <a:ea typeface="游ゴシック" panose="020B0400000000000000" pitchFamily="50" charset="-128"/>
                </a:rPr>
                <a:t>直接検索</a:t>
              </a:r>
            </a:p>
          </p:txBody>
        </p:sp>
      </p:grpSp>
      <p:sp>
        <p:nvSpPr>
          <p:cNvPr id="45" name="四角形: 角を丸くする 44">
            <a:extLst>
              <a:ext uri="{FF2B5EF4-FFF2-40B4-BE49-F238E27FC236}">
                <a16:creationId xmlns:a16="http://schemas.microsoft.com/office/drawing/2014/main" id="{1FD4FDAD-503D-25D0-0CD7-F3097B687514}"/>
              </a:ext>
            </a:extLst>
          </p:cNvPr>
          <p:cNvSpPr/>
          <p:nvPr/>
        </p:nvSpPr>
        <p:spPr>
          <a:xfrm>
            <a:off x="6657569" y="3457798"/>
            <a:ext cx="770652"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dirty="0">
                <a:solidFill>
                  <a:schemeClr val="tx1"/>
                </a:solidFill>
                <a:latin typeface="游ゴシック Medium" panose="020B0500000000000000" pitchFamily="50" charset="-128"/>
                <a:ea typeface="游ゴシック Medium" panose="020B0500000000000000" pitchFamily="50" charset="-128"/>
              </a:rPr>
              <a:t>他の仲介</a:t>
            </a:r>
          </a:p>
        </p:txBody>
      </p:sp>
      <p:cxnSp>
        <p:nvCxnSpPr>
          <p:cNvPr id="47" name="コネクタ: 曲線 46">
            <a:extLst>
              <a:ext uri="{FF2B5EF4-FFF2-40B4-BE49-F238E27FC236}">
                <a16:creationId xmlns:a16="http://schemas.microsoft.com/office/drawing/2014/main" id="{E6EDF794-7FEC-FF6B-79E3-D34D83679C09}"/>
              </a:ext>
            </a:extLst>
          </p:cNvPr>
          <p:cNvCxnSpPr>
            <a:cxnSpLocks/>
            <a:stCxn id="16" idx="0"/>
            <a:endCxn id="26" idx="0"/>
          </p:cNvCxnSpPr>
          <p:nvPr/>
        </p:nvCxnSpPr>
        <p:spPr>
          <a:xfrm rot="16200000" flipH="1">
            <a:off x="6024410" y="156936"/>
            <a:ext cx="8791" cy="4880915"/>
          </a:xfrm>
          <a:prstGeom prst="curvedConnector3">
            <a:avLst>
              <a:gd name="adj1" fmla="val -6463827"/>
            </a:avLst>
          </a:prstGeom>
          <a:ln w="381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48" name="四角形: 角を丸くする 47">
            <a:extLst>
              <a:ext uri="{FF2B5EF4-FFF2-40B4-BE49-F238E27FC236}">
                <a16:creationId xmlns:a16="http://schemas.microsoft.com/office/drawing/2014/main" id="{43381100-D7AE-872F-D41C-E73A41836A6D}"/>
              </a:ext>
            </a:extLst>
          </p:cNvPr>
          <p:cNvSpPr/>
          <p:nvPr/>
        </p:nvSpPr>
        <p:spPr>
          <a:xfrm>
            <a:off x="5984253" y="1726116"/>
            <a:ext cx="866324" cy="289441"/>
          </a:xfrm>
          <a:prstGeom prst="roundRect">
            <a:avLst/>
          </a:prstGeom>
          <a:noFill/>
          <a:ln w="1270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spAutoFit/>
          </a:bodyPr>
          <a:lstStyle/>
          <a:p>
            <a:pPr algn="ctr"/>
            <a:r>
              <a:rPr kumimoji="1" lang="ja-JP" altLang="en-US" sz="1100" b="1" dirty="0">
                <a:solidFill>
                  <a:schemeClr val="accent4"/>
                </a:solidFill>
                <a:latin typeface="游ゴシック Medium" panose="020B0500000000000000" pitchFamily="50" charset="-128"/>
                <a:ea typeface="游ゴシック Medium" panose="020B0500000000000000" pitchFamily="50" charset="-128"/>
              </a:rPr>
              <a:t>評価</a:t>
            </a:r>
            <a:r>
              <a:rPr kumimoji="1" lang="en-US" altLang="ja-JP" sz="1100" b="1" dirty="0">
                <a:solidFill>
                  <a:schemeClr val="accent4"/>
                </a:solidFill>
                <a:latin typeface="游ゴシック Medium" panose="020B0500000000000000" pitchFamily="50" charset="-128"/>
                <a:ea typeface="游ゴシック Medium" panose="020B0500000000000000" pitchFamily="50" charset="-128"/>
              </a:rPr>
              <a:t>(</a:t>
            </a:r>
            <a:r>
              <a:rPr kumimoji="1" lang="ja-JP" altLang="en-US" sz="1100" b="1" dirty="0">
                <a:solidFill>
                  <a:schemeClr val="accent4"/>
                </a:solidFill>
                <a:latin typeface="游ゴシック Medium" panose="020B0500000000000000" pitchFamily="50" charset="-128"/>
                <a:ea typeface="游ゴシック Medium" panose="020B0500000000000000" pitchFamily="50" charset="-128"/>
              </a:rPr>
              <a:t>手動</a:t>
            </a:r>
            <a:r>
              <a:rPr kumimoji="1" lang="en-US" altLang="ja-JP" sz="1100" b="1" dirty="0">
                <a:solidFill>
                  <a:schemeClr val="accent4"/>
                </a:solidFill>
                <a:latin typeface="游ゴシック Medium" panose="020B0500000000000000" pitchFamily="50" charset="-128"/>
                <a:ea typeface="游ゴシック Medium" panose="020B0500000000000000" pitchFamily="50" charset="-128"/>
              </a:rPr>
              <a:t>)</a:t>
            </a:r>
            <a:endParaRPr kumimoji="1" lang="ja-JP" altLang="en-US" sz="1100" b="1" dirty="0">
              <a:solidFill>
                <a:schemeClr val="accent4"/>
              </a:solidFill>
              <a:latin typeface="游ゴシック Medium" panose="020B0500000000000000" pitchFamily="50" charset="-128"/>
              <a:ea typeface="游ゴシック Medium" panose="020B0500000000000000" pitchFamily="50" charset="-128"/>
            </a:endParaRPr>
          </a:p>
        </p:txBody>
      </p:sp>
      <p:grpSp>
        <p:nvGrpSpPr>
          <p:cNvPr id="49" name="グループ化 48">
            <a:extLst>
              <a:ext uri="{FF2B5EF4-FFF2-40B4-BE49-F238E27FC236}">
                <a16:creationId xmlns:a16="http://schemas.microsoft.com/office/drawing/2014/main" id="{3D43C373-2F9B-2533-6BC5-ECF007D905FA}"/>
              </a:ext>
            </a:extLst>
          </p:cNvPr>
          <p:cNvGrpSpPr/>
          <p:nvPr/>
        </p:nvGrpSpPr>
        <p:grpSpPr>
          <a:xfrm>
            <a:off x="6782063" y="1741302"/>
            <a:ext cx="646158" cy="207616"/>
            <a:chOff x="9071907" y="6077993"/>
            <a:chExt cx="961403" cy="308907"/>
          </a:xfrm>
        </p:grpSpPr>
        <p:sp>
          <p:nvSpPr>
            <p:cNvPr id="52" name="星: 5 pt 51">
              <a:extLst>
                <a:ext uri="{FF2B5EF4-FFF2-40B4-BE49-F238E27FC236}">
                  <a16:creationId xmlns:a16="http://schemas.microsoft.com/office/drawing/2014/main" id="{A4298069-C17D-1AA3-4CD4-13E505ECB8CE}"/>
                </a:ext>
              </a:extLst>
            </p:cNvPr>
            <p:cNvSpPr/>
            <p:nvPr/>
          </p:nvSpPr>
          <p:spPr>
            <a:xfrm>
              <a:off x="9071907"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星: 5 pt 55">
              <a:extLst>
                <a:ext uri="{FF2B5EF4-FFF2-40B4-BE49-F238E27FC236}">
                  <a16:creationId xmlns:a16="http://schemas.microsoft.com/office/drawing/2014/main" id="{E3998885-39D6-4FCB-20EC-155F157E21EB}"/>
                </a:ext>
              </a:extLst>
            </p:cNvPr>
            <p:cNvSpPr/>
            <p:nvPr/>
          </p:nvSpPr>
          <p:spPr>
            <a:xfrm>
              <a:off x="9401104"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星: 5 pt 56">
              <a:extLst>
                <a:ext uri="{FF2B5EF4-FFF2-40B4-BE49-F238E27FC236}">
                  <a16:creationId xmlns:a16="http://schemas.microsoft.com/office/drawing/2014/main" id="{7EC0C100-53FD-2D5A-94BA-8AE7DD4E6A70}"/>
                </a:ext>
              </a:extLst>
            </p:cNvPr>
            <p:cNvSpPr/>
            <p:nvPr/>
          </p:nvSpPr>
          <p:spPr>
            <a:xfrm>
              <a:off x="9724403" y="6077993"/>
              <a:ext cx="308907" cy="308907"/>
            </a:xfrm>
            <a:prstGeom prst="star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4" name="矢印: 上向き折線 83">
            <a:extLst>
              <a:ext uri="{FF2B5EF4-FFF2-40B4-BE49-F238E27FC236}">
                <a16:creationId xmlns:a16="http://schemas.microsoft.com/office/drawing/2014/main" id="{155C875B-8156-EA95-7376-7597ED15E333}"/>
              </a:ext>
            </a:extLst>
          </p:cNvPr>
          <p:cNvSpPr/>
          <p:nvPr/>
        </p:nvSpPr>
        <p:spPr>
          <a:xfrm flipH="1" flipV="1">
            <a:off x="3403468" y="1860096"/>
            <a:ext cx="2598189" cy="760947"/>
          </a:xfrm>
          <a:prstGeom prst="bentUpArrow">
            <a:avLst>
              <a:gd name="adj1" fmla="val 4765"/>
              <a:gd name="adj2" fmla="val 7463"/>
              <a:gd name="adj3" fmla="val 9863"/>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50">
              <a:solidFill>
                <a:schemeClr val="tx1"/>
              </a:solidFill>
              <a:latin typeface="游ゴシック Medium" panose="020B0500000000000000" pitchFamily="50" charset="-128"/>
              <a:ea typeface="游ゴシック Medium" panose="020B0500000000000000" pitchFamily="50" charset="-128"/>
            </a:endParaRPr>
          </a:p>
        </p:txBody>
      </p:sp>
      <p:sp>
        <p:nvSpPr>
          <p:cNvPr id="85" name="テキスト ボックス 84">
            <a:extLst>
              <a:ext uri="{FF2B5EF4-FFF2-40B4-BE49-F238E27FC236}">
                <a16:creationId xmlns:a16="http://schemas.microsoft.com/office/drawing/2014/main" id="{BA787C5C-1305-3F69-517B-37BD9919506A}"/>
              </a:ext>
            </a:extLst>
          </p:cNvPr>
          <p:cNvSpPr txBox="1"/>
          <p:nvPr/>
        </p:nvSpPr>
        <p:spPr>
          <a:xfrm>
            <a:off x="3331033" y="1624198"/>
            <a:ext cx="2743059" cy="253916"/>
          </a:xfrm>
          <a:prstGeom prst="rect">
            <a:avLst/>
          </a:prstGeom>
          <a:noFill/>
        </p:spPr>
        <p:txBody>
          <a:bodyPr wrap="none" rtlCol="0">
            <a:spAutoFit/>
          </a:bodyPr>
          <a:lstStyle/>
          <a:p>
            <a:r>
              <a:rPr lang="ja-JP" altLang="en-US" sz="1050" dirty="0">
                <a:solidFill>
                  <a:schemeClr val="accent5">
                    <a:lumMod val="75000"/>
                  </a:schemeClr>
                </a:solidFill>
                <a:latin typeface="游ゴシック Medium" panose="020B0500000000000000" pitchFamily="50" charset="-128"/>
                <a:ea typeface="游ゴシック Medium" panose="020B0500000000000000" pitchFamily="50" charset="-128"/>
              </a:rPr>
              <a:t>良い評価者にはシステムからバッチを付与</a:t>
            </a:r>
            <a:endParaRPr kumimoji="1" lang="ja-JP" altLang="en-US" sz="1050" dirty="0">
              <a:solidFill>
                <a:schemeClr val="accent5">
                  <a:lumMod val="75000"/>
                </a:schemeClr>
              </a:solidFill>
              <a:latin typeface="游ゴシック Medium" panose="020B0500000000000000" pitchFamily="50" charset="-128"/>
              <a:ea typeface="游ゴシック Medium" panose="020B0500000000000000" pitchFamily="50" charset="-128"/>
            </a:endParaRPr>
          </a:p>
        </p:txBody>
      </p:sp>
      <p:cxnSp>
        <p:nvCxnSpPr>
          <p:cNvPr id="91" name="コネクタ: カギ線 90">
            <a:extLst>
              <a:ext uri="{FF2B5EF4-FFF2-40B4-BE49-F238E27FC236}">
                <a16:creationId xmlns:a16="http://schemas.microsoft.com/office/drawing/2014/main" id="{9FDDB4A7-7F7A-464F-CE4F-28FA70A343BB}"/>
              </a:ext>
            </a:extLst>
          </p:cNvPr>
          <p:cNvCxnSpPr>
            <a:stCxn id="17" idx="2"/>
            <a:endCxn id="27" idx="2"/>
          </p:cNvCxnSpPr>
          <p:nvPr/>
        </p:nvCxnSpPr>
        <p:spPr>
          <a:xfrm rot="16200000" flipH="1">
            <a:off x="6024408" y="1040384"/>
            <a:ext cx="8791" cy="4880916"/>
          </a:xfrm>
          <a:prstGeom prst="bentConnector3">
            <a:avLst>
              <a:gd name="adj1" fmla="val 6861028"/>
            </a:avLst>
          </a:prstGeom>
          <a:ln w="381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94" name="直線矢印コネクタ 93">
            <a:extLst>
              <a:ext uri="{FF2B5EF4-FFF2-40B4-BE49-F238E27FC236}">
                <a16:creationId xmlns:a16="http://schemas.microsoft.com/office/drawing/2014/main" id="{F0E12728-327D-7755-E481-FA6AFE6E6E57}"/>
              </a:ext>
            </a:extLst>
          </p:cNvPr>
          <p:cNvCxnSpPr>
            <a:cxnSpLocks/>
            <a:endCxn id="31" idx="2"/>
          </p:cNvCxnSpPr>
          <p:nvPr/>
        </p:nvCxnSpPr>
        <p:spPr>
          <a:xfrm flipV="1">
            <a:off x="5638388" y="3477094"/>
            <a:ext cx="0" cy="599153"/>
          </a:xfrm>
          <a:prstGeom prst="straightConnector1">
            <a:avLst/>
          </a:prstGeom>
          <a:ln w="38100">
            <a:solidFill>
              <a:schemeClr val="accent5">
                <a:lumMod val="60000"/>
                <a:lumOff val="4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6" name="テキスト ボックス 95">
            <a:extLst>
              <a:ext uri="{FF2B5EF4-FFF2-40B4-BE49-F238E27FC236}">
                <a16:creationId xmlns:a16="http://schemas.microsoft.com/office/drawing/2014/main" id="{D1B87BD1-9FCE-333B-1F74-B7F2CA40DF32}"/>
              </a:ext>
            </a:extLst>
          </p:cNvPr>
          <p:cNvSpPr txBox="1"/>
          <p:nvPr/>
        </p:nvSpPr>
        <p:spPr>
          <a:xfrm>
            <a:off x="4783240" y="4097080"/>
            <a:ext cx="2877711" cy="253916"/>
          </a:xfrm>
          <a:prstGeom prst="rect">
            <a:avLst/>
          </a:prstGeom>
          <a:noFill/>
        </p:spPr>
        <p:txBody>
          <a:bodyPr wrap="none" rtlCol="0">
            <a:spAutoFit/>
          </a:bodyPr>
          <a:lstStyle/>
          <a:p>
            <a:r>
              <a:rPr lang="ja-JP" altLang="en-US" sz="1050" dirty="0">
                <a:solidFill>
                  <a:schemeClr val="accent5">
                    <a:lumMod val="75000"/>
                  </a:schemeClr>
                </a:solidFill>
                <a:latin typeface="游ゴシック Medium" panose="020B0500000000000000" pitchFamily="50" charset="-128"/>
                <a:ea typeface="游ゴシック Medium" panose="020B0500000000000000" pitchFamily="50" charset="-128"/>
              </a:rPr>
              <a:t>要員の評価や継続率を元にシステムから評価</a:t>
            </a:r>
            <a:endParaRPr kumimoji="1" lang="ja-JP" altLang="en-US" sz="1050" dirty="0">
              <a:solidFill>
                <a:schemeClr val="accent5">
                  <a:lumMod val="75000"/>
                </a:schemeClr>
              </a:solidFill>
              <a:latin typeface="游ゴシック Medium" panose="020B0500000000000000" pitchFamily="50" charset="-128"/>
              <a:ea typeface="游ゴシック Medium" panose="020B0500000000000000" pitchFamily="50" charset="-128"/>
            </a:endParaRPr>
          </a:p>
        </p:txBody>
      </p:sp>
      <p:sp>
        <p:nvSpPr>
          <p:cNvPr id="97" name="吹き出し: 線 96">
            <a:extLst>
              <a:ext uri="{FF2B5EF4-FFF2-40B4-BE49-F238E27FC236}">
                <a16:creationId xmlns:a16="http://schemas.microsoft.com/office/drawing/2014/main" id="{F578B4CB-3A5F-373E-1272-27C34B777AE6}"/>
              </a:ext>
            </a:extLst>
          </p:cNvPr>
          <p:cNvSpPr/>
          <p:nvPr/>
        </p:nvSpPr>
        <p:spPr>
          <a:xfrm>
            <a:off x="232794" y="2043501"/>
            <a:ext cx="2693016" cy="3462230"/>
          </a:xfrm>
          <a:prstGeom prst="borderCallout1">
            <a:avLst>
              <a:gd name="adj1" fmla="val 23569"/>
              <a:gd name="adj2" fmla="val 102996"/>
              <a:gd name="adj3" fmla="val 26959"/>
              <a:gd name="adj4" fmla="val 112865"/>
            </a:avLst>
          </a:prstGeom>
          <a:solidFill>
            <a:schemeClr val="accent3">
              <a:lumMod val="20000"/>
              <a:lumOff val="80000"/>
            </a:schemeClr>
          </a:solidFill>
          <a:ln w="127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marL="171450" indent="-171450">
              <a:lnSpc>
                <a:spcPct val="150000"/>
              </a:lnSpc>
              <a:buFont typeface="Arial" panose="020B0604020202020204" pitchFamily="34" charset="0"/>
              <a:buChar char="•"/>
            </a:pPr>
            <a:r>
              <a:rPr kumimoji="1" lang="ja-JP" altLang="en-US" sz="1050" dirty="0">
                <a:solidFill>
                  <a:schemeClr val="tx1"/>
                </a:solidFill>
                <a:latin typeface="游ゴシック Medium" panose="020B0500000000000000" pitchFamily="50" charset="-128"/>
                <a:ea typeface="游ゴシック Medium" panose="020B0500000000000000" pitchFamily="50" charset="-128"/>
              </a:rPr>
              <a:t>案件会社は案件情報を</a:t>
            </a:r>
            <a:r>
              <a:rPr lang="ja-JP" altLang="en-US" sz="1050" dirty="0">
                <a:solidFill>
                  <a:schemeClr val="tx1"/>
                </a:solidFill>
                <a:latin typeface="游ゴシック Medium" panose="020B0500000000000000" pitchFamily="50" charset="-128"/>
                <a:ea typeface="游ゴシック Medium" panose="020B0500000000000000" pitchFamily="50" charset="-128"/>
              </a:rPr>
              <a:t>プラットフォーム上</a:t>
            </a: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に入力することで仲介会社</a:t>
            </a:r>
            <a:r>
              <a:rPr kumimoji="1" lang="en-US" altLang="ja-JP" sz="1050" dirty="0">
                <a:solidFill>
                  <a:schemeClr val="tx1"/>
                </a:solidFill>
                <a:latin typeface="游ゴシック Medium" panose="020B0500000000000000" pitchFamily="50" charset="-128"/>
                <a:ea typeface="游ゴシック Medium" panose="020B0500000000000000" pitchFamily="50" charset="-128"/>
              </a:rPr>
              <a:t>or</a:t>
            </a:r>
            <a:r>
              <a:rPr kumimoji="1" lang="ja-JP" altLang="en-US" sz="1050" dirty="0">
                <a:solidFill>
                  <a:schemeClr val="tx1"/>
                </a:solidFill>
                <a:latin typeface="游ゴシック Medium" panose="020B0500000000000000" pitchFamily="50" charset="-128"/>
                <a:ea typeface="游ゴシック Medium" panose="020B0500000000000000" pitchFamily="50" charset="-128"/>
              </a:rPr>
              <a:t>要員会社から提案を受けることができる。自身で要員を探すこともできる。</a:t>
            </a:r>
            <a:endParaRPr kumimoji="1" lang="en-US" altLang="ja-JP" sz="1050"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kumimoji="1" lang="ja-JP" altLang="en-US" sz="1050" dirty="0">
                <a:solidFill>
                  <a:schemeClr val="tx1"/>
                </a:solidFill>
                <a:latin typeface="游ゴシック Medium" panose="020B0500000000000000" pitchFamily="50" charset="-128"/>
                <a:ea typeface="游ゴシック Medium" panose="020B0500000000000000" pitchFamily="50" charset="-128"/>
              </a:rPr>
              <a:t>契約更新時に</a:t>
            </a:r>
            <a:r>
              <a:rPr kumimoji="1" lang="ja-JP" altLang="en-US" sz="1050" b="1" u="sng" dirty="0">
                <a:solidFill>
                  <a:schemeClr val="tx1"/>
                </a:solidFill>
                <a:latin typeface="游ゴシック Medium" panose="020B0500000000000000" pitchFamily="50" charset="-128"/>
                <a:ea typeface="游ゴシック Medium" panose="020B0500000000000000" pitchFamily="50" charset="-128"/>
              </a:rPr>
              <a:t>要員を評価してフェードバック</a:t>
            </a: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することができる。</a:t>
            </a:r>
            <a:endParaRPr kumimoji="1" lang="en-US" altLang="ja-JP" sz="1050"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lang="ja-JP" altLang="en-US" sz="1050" dirty="0">
                <a:solidFill>
                  <a:schemeClr val="tx1"/>
                </a:solidFill>
                <a:latin typeface="游ゴシック Medium" panose="020B0500000000000000" pitchFamily="50" charset="-128"/>
                <a:ea typeface="游ゴシック Medium" panose="020B0500000000000000" pitchFamily="50" charset="-128"/>
              </a:rPr>
              <a:t>評価者が妥当な評価</a:t>
            </a:r>
            <a:r>
              <a:rPr lang="en-US" altLang="ja-JP" sz="1050" dirty="0">
                <a:solidFill>
                  <a:schemeClr val="tx1"/>
                </a:solidFill>
                <a:latin typeface="游ゴシック Medium" panose="020B0500000000000000" pitchFamily="50" charset="-128"/>
                <a:ea typeface="游ゴシック Medium" panose="020B0500000000000000" pitchFamily="50" charset="-128"/>
              </a:rPr>
              <a:t>/</a:t>
            </a:r>
            <a:r>
              <a:rPr lang="ja-JP" altLang="en-US" sz="1050" dirty="0">
                <a:solidFill>
                  <a:schemeClr val="tx1"/>
                </a:solidFill>
                <a:latin typeface="游ゴシック Medium" panose="020B0500000000000000" pitchFamily="50" charset="-128"/>
                <a:ea typeface="游ゴシック Medium" panose="020B0500000000000000" pitchFamily="50" charset="-128"/>
              </a:rPr>
              <a:t>良いフィードバックを行っている場合、プラットフォーム側でそれを判定し「良い評価者である」ことを示すバッチを付与する。</a:t>
            </a:r>
            <a:endParaRPr lang="en-US" altLang="ja-JP" sz="1050"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kumimoji="1" lang="ja-JP" altLang="en-US" sz="1050" b="1" u="sng" dirty="0">
                <a:solidFill>
                  <a:schemeClr val="tx1"/>
                </a:solidFill>
                <a:latin typeface="游ゴシック Medium" panose="020B0500000000000000" pitchFamily="50" charset="-128"/>
                <a:ea typeface="游ゴシック Medium" panose="020B0500000000000000" pitchFamily="50" charset="-128"/>
              </a:rPr>
              <a:t>このバッチを持つ評価者の評価</a:t>
            </a:r>
            <a:r>
              <a:rPr lang="ja-JP" altLang="en-US" sz="1050" b="1" u="sng" dirty="0">
                <a:solidFill>
                  <a:schemeClr val="tx1"/>
                </a:solidFill>
                <a:latin typeface="游ゴシック Medium" panose="020B0500000000000000" pitchFamily="50" charset="-128"/>
                <a:ea typeface="游ゴシック Medium" panose="020B0500000000000000" pitchFamily="50" charset="-128"/>
              </a:rPr>
              <a:t>は</a:t>
            </a:r>
            <a:r>
              <a:rPr kumimoji="1" lang="ja-JP" altLang="en-US" sz="1050" b="1" u="sng" dirty="0">
                <a:solidFill>
                  <a:schemeClr val="tx1"/>
                </a:solidFill>
                <a:latin typeface="游ゴシック Medium" panose="020B0500000000000000" pitchFamily="50" charset="-128"/>
                <a:ea typeface="游ゴシック Medium" panose="020B0500000000000000" pitchFamily="50" charset="-128"/>
              </a:rPr>
              <a:t>信頼に値する</a:t>
            </a: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。そのため、</a:t>
            </a:r>
            <a:r>
              <a:rPr kumimoji="1" lang="ja-JP" altLang="en-US" sz="1050" b="1" u="sng" dirty="0">
                <a:solidFill>
                  <a:schemeClr val="tx1"/>
                </a:solidFill>
                <a:latin typeface="游ゴシック Medium" panose="020B0500000000000000" pitchFamily="50" charset="-128"/>
                <a:ea typeface="游ゴシック Medium" panose="020B0500000000000000" pitchFamily="50" charset="-128"/>
              </a:rPr>
              <a:t>良い評価を得たいと思う優秀な要員が集まりやすく</a:t>
            </a: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なる。</a:t>
            </a:r>
          </a:p>
        </p:txBody>
      </p:sp>
      <p:sp>
        <p:nvSpPr>
          <p:cNvPr id="98" name="吹き出し: 線 97">
            <a:extLst>
              <a:ext uri="{FF2B5EF4-FFF2-40B4-BE49-F238E27FC236}">
                <a16:creationId xmlns:a16="http://schemas.microsoft.com/office/drawing/2014/main" id="{9D75E7D2-3194-2CF1-167B-B9D1C92C2044}"/>
              </a:ext>
            </a:extLst>
          </p:cNvPr>
          <p:cNvSpPr/>
          <p:nvPr/>
        </p:nvSpPr>
        <p:spPr>
          <a:xfrm>
            <a:off x="9320246" y="2043501"/>
            <a:ext cx="2693016" cy="3462230"/>
          </a:xfrm>
          <a:prstGeom prst="borderCallout1">
            <a:avLst>
              <a:gd name="adj1" fmla="val 22312"/>
              <a:gd name="adj2" fmla="val -3719"/>
              <a:gd name="adj3" fmla="val 27210"/>
              <a:gd name="adj4" fmla="val -19719"/>
            </a:avLst>
          </a:prstGeom>
          <a:solidFill>
            <a:schemeClr val="accent3">
              <a:lumMod val="20000"/>
              <a:lumOff val="80000"/>
            </a:schemeClr>
          </a:solidFill>
          <a:ln w="127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spAutoFit/>
          </a:bodyPr>
          <a:lstStyle/>
          <a:p>
            <a:pPr marL="171450" indent="-171450">
              <a:lnSpc>
                <a:spcPct val="150000"/>
              </a:lnSpc>
              <a:buFont typeface="Arial" panose="020B0604020202020204" pitchFamily="34" charset="0"/>
              <a:buChar char="•"/>
            </a:pP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プラットフォームに勤怠入力システムが備わっており、要員が勤怠情報を入力することで、</a:t>
            </a:r>
            <a:r>
              <a:rPr kumimoji="1" lang="ja-JP" altLang="en-US" sz="1050" b="1" u="sng" dirty="0">
                <a:solidFill>
                  <a:schemeClr val="tx1"/>
                </a:solidFill>
                <a:latin typeface="游ゴシック Medium" panose="020B0500000000000000" pitchFamily="50" charset="-128"/>
                <a:ea typeface="游ゴシック Medium" panose="020B0500000000000000" pitchFamily="50" charset="-128"/>
              </a:rPr>
              <a:t>案件参画と稼働状況の実績を蓄積</a:t>
            </a: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することができる。</a:t>
            </a:r>
            <a:endParaRPr kumimoji="1" lang="en-US" altLang="ja-JP" sz="1050"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kumimoji="1" lang="ja-JP" altLang="en-US" sz="1050" dirty="0">
                <a:solidFill>
                  <a:schemeClr val="tx1"/>
                </a:solidFill>
                <a:latin typeface="游ゴシック Medium" panose="020B0500000000000000" pitchFamily="50" charset="-128"/>
                <a:ea typeface="游ゴシック Medium" panose="020B0500000000000000" pitchFamily="50" charset="-128"/>
              </a:rPr>
              <a:t>契約更新時に</a:t>
            </a:r>
            <a:r>
              <a:rPr kumimoji="1" lang="ja-JP" altLang="en-US" sz="1050" b="1" u="sng" dirty="0">
                <a:solidFill>
                  <a:schemeClr val="tx1"/>
                </a:solidFill>
                <a:latin typeface="游ゴシック Medium" panose="020B0500000000000000" pitchFamily="50" charset="-128"/>
                <a:ea typeface="游ゴシック Medium" panose="020B0500000000000000" pitchFamily="50" charset="-128"/>
              </a:rPr>
              <a:t>案件会社からフィードバックを得ることができ</a:t>
            </a: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、その評価情報もプラットフォーム上に蓄積される。</a:t>
            </a:r>
            <a:endParaRPr kumimoji="1" lang="en-US" altLang="ja-JP" sz="1050"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kumimoji="1" lang="ja-JP" altLang="en-US" sz="1050" dirty="0">
                <a:solidFill>
                  <a:schemeClr val="tx1"/>
                </a:solidFill>
                <a:latin typeface="游ゴシック Medium" panose="020B0500000000000000" pitchFamily="50" charset="-128"/>
                <a:ea typeface="游ゴシック Medium" panose="020B0500000000000000" pitchFamily="50" charset="-128"/>
              </a:rPr>
              <a:t>案件会社からの評価やフィードバックは要員側でもコメントや訂正依頼を行うことができ、</a:t>
            </a:r>
            <a:r>
              <a:rPr kumimoji="1" lang="ja-JP" altLang="en-US" sz="1050" b="1" u="sng" dirty="0">
                <a:solidFill>
                  <a:schemeClr val="tx1"/>
                </a:solidFill>
                <a:latin typeface="游ゴシック Medium" panose="020B0500000000000000" pitchFamily="50" charset="-128"/>
                <a:ea typeface="游ゴシック Medium" panose="020B0500000000000000" pitchFamily="50" charset="-128"/>
              </a:rPr>
              <a:t>最終的に合意されたものがデータとして残る。</a:t>
            </a:r>
            <a:endParaRPr kumimoji="1" lang="en-US" altLang="ja-JP" sz="1050" b="1" u="sng"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lang="ja-JP" altLang="en-US" sz="1050" dirty="0">
                <a:solidFill>
                  <a:schemeClr val="tx1"/>
                </a:solidFill>
                <a:latin typeface="游ゴシック Medium" panose="020B0500000000000000" pitchFamily="50" charset="-128"/>
                <a:ea typeface="游ゴシック Medium" panose="020B0500000000000000" pitchFamily="50" charset="-128"/>
              </a:rPr>
              <a:t>プラットフォーム上に蓄積された実績と評価は、そのまま実態の証明となり経歴紹介や交渉に活用できる</a:t>
            </a:r>
            <a:endParaRPr kumimoji="1" lang="ja-JP" altLang="en-US" sz="1050" dirty="0">
              <a:solidFill>
                <a:schemeClr val="tx1"/>
              </a:solidFill>
              <a:latin typeface="游ゴシック Medium" panose="020B0500000000000000" pitchFamily="50" charset="-128"/>
              <a:ea typeface="游ゴシック Medium" panose="020B0500000000000000" pitchFamily="50" charset="-128"/>
            </a:endParaRPr>
          </a:p>
        </p:txBody>
      </p:sp>
      <p:sp>
        <p:nvSpPr>
          <p:cNvPr id="99" name="吹き出し: 線 98">
            <a:extLst>
              <a:ext uri="{FF2B5EF4-FFF2-40B4-BE49-F238E27FC236}">
                <a16:creationId xmlns:a16="http://schemas.microsoft.com/office/drawing/2014/main" id="{D8AE8688-AA09-13CF-8D59-620840687268}"/>
              </a:ext>
            </a:extLst>
          </p:cNvPr>
          <p:cNvSpPr/>
          <p:nvPr/>
        </p:nvSpPr>
        <p:spPr>
          <a:xfrm>
            <a:off x="3331033" y="4530719"/>
            <a:ext cx="5662908" cy="1765612"/>
          </a:xfrm>
          <a:prstGeom prst="borderCallout1">
            <a:avLst>
              <a:gd name="adj1" fmla="val -7282"/>
              <a:gd name="adj2" fmla="val 17657"/>
              <a:gd name="adj3" fmla="val -57991"/>
              <a:gd name="adj4" fmla="val 35504"/>
            </a:avLst>
          </a:prstGeom>
          <a:solidFill>
            <a:schemeClr val="accent3">
              <a:lumMod val="20000"/>
              <a:lumOff val="80000"/>
            </a:schemeClr>
          </a:solidFill>
          <a:ln w="12700">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pPr marL="171450" indent="-171450">
              <a:lnSpc>
                <a:spcPct val="150000"/>
              </a:lnSpc>
              <a:buFont typeface="Arial" panose="020B0604020202020204" pitchFamily="34" charset="0"/>
              <a:buChar char="•"/>
            </a:pPr>
            <a:r>
              <a:rPr kumimoji="1" lang="ja-JP" altLang="en-US" sz="1050" dirty="0">
                <a:solidFill>
                  <a:schemeClr val="tx1"/>
                </a:solidFill>
                <a:latin typeface="游ゴシック Medium" panose="020B0500000000000000" pitchFamily="50" charset="-128"/>
                <a:ea typeface="游ゴシック Medium" panose="020B0500000000000000" pitchFamily="50" charset="-128"/>
              </a:rPr>
              <a:t>仲介会社は案件会社と要員会社をつなぐエージェントの役割持つ。</a:t>
            </a:r>
            <a:endParaRPr kumimoji="1" lang="en-US" altLang="ja-JP" sz="1050"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kumimoji="1" lang="ja-JP" altLang="en-US" sz="1050" dirty="0">
                <a:solidFill>
                  <a:schemeClr val="tx1"/>
                </a:solidFill>
                <a:latin typeface="游ゴシック Medium" panose="020B0500000000000000" pitchFamily="50" charset="-128"/>
                <a:ea typeface="游ゴシック Medium" panose="020B0500000000000000" pitchFamily="50" charset="-128"/>
              </a:rPr>
              <a:t>仲介会社は</a:t>
            </a:r>
            <a:r>
              <a:rPr kumimoji="1" lang="ja-JP" altLang="en-US" sz="1050" b="1" u="sng" dirty="0">
                <a:solidFill>
                  <a:schemeClr val="tx1"/>
                </a:solidFill>
                <a:latin typeface="游ゴシック Medium" panose="020B0500000000000000" pitchFamily="50" charset="-128"/>
                <a:ea typeface="游ゴシック Medium" panose="020B0500000000000000" pitchFamily="50" charset="-128"/>
              </a:rPr>
              <a:t>フォロー関係のある他社を経由した要員情報も閲覧可能</a:t>
            </a: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である。情報の伝播を意図的に止めることもできる。</a:t>
            </a:r>
            <a:endParaRPr kumimoji="1" lang="en-US" altLang="ja-JP" sz="1050"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lang="ja-JP" altLang="en-US" sz="1050" dirty="0">
                <a:solidFill>
                  <a:schemeClr val="tx1"/>
                </a:solidFill>
                <a:latin typeface="游ゴシック Medium" panose="020B0500000000000000" pitchFamily="50" charset="-128"/>
                <a:ea typeface="游ゴシック Medium" panose="020B0500000000000000" pitchFamily="50" charset="-128"/>
              </a:rPr>
              <a:t>紹介した</a:t>
            </a:r>
            <a:r>
              <a:rPr lang="ja-JP" altLang="en-US" sz="1050" b="1" u="sng" dirty="0">
                <a:solidFill>
                  <a:schemeClr val="tx1"/>
                </a:solidFill>
                <a:latin typeface="游ゴシック Medium" panose="020B0500000000000000" pitchFamily="50" charset="-128"/>
                <a:ea typeface="游ゴシック Medium" panose="020B0500000000000000" pitchFamily="50" charset="-128"/>
              </a:rPr>
              <a:t>要員の評価や継続率などをプラットフォーム側で追跡</a:t>
            </a:r>
            <a:r>
              <a:rPr lang="ja-JP" altLang="en-US" sz="1050" dirty="0">
                <a:solidFill>
                  <a:schemeClr val="tx1"/>
                </a:solidFill>
                <a:latin typeface="游ゴシック Medium" panose="020B0500000000000000" pitchFamily="50" charset="-128"/>
                <a:ea typeface="游ゴシック Medium" panose="020B0500000000000000" pitchFamily="50" charset="-128"/>
              </a:rPr>
              <a:t>することで、</a:t>
            </a:r>
            <a:r>
              <a:rPr lang="ja-JP" altLang="en-US" sz="1050" b="1" u="sng" dirty="0">
                <a:solidFill>
                  <a:schemeClr val="tx1"/>
                </a:solidFill>
                <a:latin typeface="游ゴシック Medium" panose="020B0500000000000000" pitchFamily="50" charset="-128"/>
                <a:ea typeface="游ゴシック Medium" panose="020B0500000000000000" pitchFamily="50" charset="-128"/>
              </a:rPr>
              <a:t>仲介者の提案は良い提案だったのかを評価し、実績として蓄積</a:t>
            </a:r>
            <a:r>
              <a:rPr lang="ja-JP" altLang="en-US" sz="1050" dirty="0">
                <a:solidFill>
                  <a:schemeClr val="tx1"/>
                </a:solidFill>
                <a:latin typeface="游ゴシック Medium" panose="020B0500000000000000" pitchFamily="50" charset="-128"/>
                <a:ea typeface="游ゴシック Medium" panose="020B0500000000000000" pitchFamily="50" charset="-128"/>
              </a:rPr>
              <a:t>される。</a:t>
            </a:r>
            <a:endParaRPr lang="en-US" altLang="ja-JP" sz="1050" dirty="0">
              <a:solidFill>
                <a:schemeClr val="tx1"/>
              </a:solidFill>
              <a:latin typeface="游ゴシック Medium" panose="020B0500000000000000" pitchFamily="50" charset="-128"/>
              <a:ea typeface="游ゴシック Medium" panose="020B0500000000000000" pitchFamily="50" charset="-128"/>
            </a:endParaRPr>
          </a:p>
          <a:p>
            <a:pPr marL="171450" indent="-171450">
              <a:lnSpc>
                <a:spcPct val="150000"/>
              </a:lnSpc>
              <a:buFont typeface="Arial" panose="020B0604020202020204" pitchFamily="34" charset="0"/>
              <a:buChar char="•"/>
            </a:pPr>
            <a:r>
              <a:rPr kumimoji="1" lang="ja-JP" altLang="en-US" sz="1050" dirty="0">
                <a:solidFill>
                  <a:schemeClr val="tx1"/>
                </a:solidFill>
                <a:latin typeface="游ゴシック Medium" panose="020B0500000000000000" pitchFamily="50" charset="-128"/>
                <a:ea typeface="游ゴシック Medium" panose="020B0500000000000000" pitchFamily="50" charset="-128"/>
              </a:rPr>
              <a:t>これによりより良い提案ができる仲介業者が可視化され優秀な仲介会社は差別化を図ることができるようになる</a:t>
            </a:r>
          </a:p>
        </p:txBody>
      </p:sp>
    </p:spTree>
    <p:extLst>
      <p:ext uri="{BB962C8B-B14F-4D97-AF65-F5344CB8AC3E}">
        <p14:creationId xmlns:p14="http://schemas.microsoft.com/office/powerpoint/2010/main" val="3277390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AB6E3-E4FE-3EF6-8A24-A986C89C1292}"/>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0697C98-6848-4984-A9C4-FFCBD66C7BE9}"/>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66A2EE87-2D67-EFE8-B6EE-ED1D5CCB1956}"/>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B578B745-3DAA-7B30-5E0A-5B5A98982171}"/>
              </a:ext>
            </a:extLst>
          </p:cNvPr>
          <p:cNvSpPr>
            <a:spLocks noGrp="1"/>
          </p:cNvSpPr>
          <p:nvPr>
            <p:ph type="sldNum" sz="quarter" idx="12"/>
          </p:nvPr>
        </p:nvSpPr>
        <p:spPr/>
        <p:txBody>
          <a:bodyPr/>
          <a:lstStyle/>
          <a:p>
            <a:fld id="{CC057153-B650-4DEB-B370-79DDCFDCE934}" type="slidenum">
              <a:rPr lang="en-US" dirty="0"/>
              <a:t>14</a:t>
            </a:fld>
            <a:endParaRPr lang="en-US"/>
          </a:p>
        </p:txBody>
      </p:sp>
      <p:sp>
        <p:nvSpPr>
          <p:cNvPr id="18" name="Title 1">
            <a:extLst>
              <a:ext uri="{FF2B5EF4-FFF2-40B4-BE49-F238E27FC236}">
                <a16:creationId xmlns:a16="http://schemas.microsoft.com/office/drawing/2014/main" id="{AF0CC317-BD37-A309-7556-9750529AB249}"/>
              </a:ext>
            </a:extLst>
          </p:cNvPr>
          <p:cNvSpPr>
            <a:spLocks noGrp="1"/>
          </p:cNvSpPr>
          <p:nvPr>
            <p:ph type="title"/>
          </p:nvPr>
        </p:nvSpPr>
        <p:spPr>
          <a:xfrm>
            <a:off x="612648" y="281870"/>
            <a:ext cx="10653578" cy="533540"/>
          </a:xfrm>
        </p:spPr>
        <p:txBody>
          <a:bodyPr>
            <a:normAutofit fontScale="90000"/>
          </a:bodyPr>
          <a:lstStyle/>
          <a:p>
            <a:r>
              <a:rPr kumimoji="1" lang="ja-JP" altLang="en-US" dirty="0">
                <a:latin typeface="+mj-ea"/>
              </a:rPr>
              <a:t>嫌な予感。。。</a:t>
            </a:r>
            <a:endParaRPr kumimoji="1" lang="ja-JP" altLang="en-US" dirty="0">
              <a:solidFill>
                <a:srgbClr val="FF0000"/>
              </a:solidFill>
              <a:latin typeface="+mj-ea"/>
            </a:endParaRPr>
          </a:p>
        </p:txBody>
      </p:sp>
      <p:sp>
        <p:nvSpPr>
          <p:cNvPr id="3" name="Content Placeholder 2">
            <a:extLst>
              <a:ext uri="{FF2B5EF4-FFF2-40B4-BE49-F238E27FC236}">
                <a16:creationId xmlns:a16="http://schemas.microsoft.com/office/drawing/2014/main" id="{4ADBA0B0-0C08-2CC7-8FDC-154EB356A476}"/>
              </a:ext>
            </a:extLst>
          </p:cNvPr>
          <p:cNvSpPr>
            <a:spLocks noGrp="1"/>
          </p:cNvSpPr>
          <p:nvPr>
            <p:ph idx="1"/>
          </p:nvPr>
        </p:nvSpPr>
        <p:spPr>
          <a:xfrm>
            <a:off x="612647" y="931741"/>
            <a:ext cx="10653579" cy="958019"/>
          </a:xfrm>
        </p:spPr>
        <p:txBody>
          <a:bodyPr vert="horz" lIns="91440" tIns="45720" rIns="91440" bIns="45720" rtlCol="0" anchor="t">
            <a:normAutofit/>
          </a:bodyPr>
          <a:lstStyle/>
          <a:p>
            <a:pPr marL="0" indent="0">
              <a:buNone/>
            </a:pPr>
            <a:r>
              <a:rPr lang="ja-JP" altLang="en-US" sz="1600" dirty="0">
                <a:latin typeface="游ゴシック Medium" panose="020B0500000000000000" pitchFamily="50" charset="-128"/>
                <a:ea typeface="游ゴシック Medium" panose="020B0500000000000000" pitchFamily="50" charset="-128"/>
              </a:rPr>
              <a:t>仕組みが複雑化してきており、現実のニーズと乖離してきている気がする。</a:t>
            </a:r>
            <a:endParaRPr lang="en-US" altLang="ja-JP" sz="1600" dirty="0">
              <a:latin typeface="游ゴシック Medium" panose="020B0500000000000000" pitchFamily="50" charset="-128"/>
              <a:ea typeface="游ゴシック Medium" panose="020B0500000000000000" pitchFamily="50" charset="-128"/>
            </a:endParaRPr>
          </a:p>
          <a:p>
            <a:pPr marL="0" indent="0">
              <a:buNone/>
            </a:pPr>
            <a:r>
              <a:rPr lang="ja-JP" altLang="en-US" sz="1600" dirty="0">
                <a:latin typeface="游ゴシック Medium" panose="020B0500000000000000" pitchFamily="50" charset="-128"/>
                <a:ea typeface="游ゴシック Medium" panose="020B0500000000000000" pitchFamily="50" charset="-128"/>
              </a:rPr>
              <a:t>ユーザーの実際の声を聞きたい。</a:t>
            </a:r>
            <a:endParaRPr lang="en-US" altLang="ja-JP" sz="16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3400090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EA271-2CA5-6263-B19B-9AF2679ED3A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9E048B94-C324-CE44-3729-E252168FCB42}"/>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BB565A4F-9329-5A4E-4497-F59694DC095D}"/>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63AEE7F5-9E00-684A-1EBB-AA9B1B79B8DF}"/>
              </a:ext>
            </a:extLst>
          </p:cNvPr>
          <p:cNvSpPr>
            <a:spLocks noGrp="1"/>
          </p:cNvSpPr>
          <p:nvPr>
            <p:ph type="sldNum" sz="quarter" idx="12"/>
          </p:nvPr>
        </p:nvSpPr>
        <p:spPr/>
        <p:txBody>
          <a:bodyPr/>
          <a:lstStyle/>
          <a:p>
            <a:fld id="{CC057153-B650-4DEB-B370-79DDCFDCE934}" type="slidenum">
              <a:rPr lang="en-US" dirty="0"/>
              <a:t>15</a:t>
            </a:fld>
            <a:endParaRPr lang="en-US"/>
          </a:p>
        </p:txBody>
      </p:sp>
      <p:sp>
        <p:nvSpPr>
          <p:cNvPr id="18" name="Title 1">
            <a:extLst>
              <a:ext uri="{FF2B5EF4-FFF2-40B4-BE49-F238E27FC236}">
                <a16:creationId xmlns:a16="http://schemas.microsoft.com/office/drawing/2014/main" id="{5B9FCF4B-ED46-F15F-DCF9-BC77E90D2BDC}"/>
              </a:ext>
            </a:extLst>
          </p:cNvPr>
          <p:cNvSpPr>
            <a:spLocks noGrp="1"/>
          </p:cNvSpPr>
          <p:nvPr>
            <p:ph type="title"/>
          </p:nvPr>
        </p:nvSpPr>
        <p:spPr>
          <a:xfrm>
            <a:off x="612648" y="281870"/>
            <a:ext cx="10653578" cy="533540"/>
          </a:xfrm>
        </p:spPr>
        <p:txBody>
          <a:bodyPr>
            <a:normAutofit fontScale="90000"/>
          </a:bodyPr>
          <a:lstStyle/>
          <a:p>
            <a:r>
              <a:rPr kumimoji="1" lang="en-US" altLang="ja-JP"/>
              <a:t>UI</a:t>
            </a:r>
            <a:endParaRPr kumimoji="1" lang="ja-JP" altLang="en-US"/>
          </a:p>
        </p:txBody>
      </p:sp>
      <p:sp>
        <p:nvSpPr>
          <p:cNvPr id="1065" name="Content Placeholder 2">
            <a:extLst>
              <a:ext uri="{FF2B5EF4-FFF2-40B4-BE49-F238E27FC236}">
                <a16:creationId xmlns:a16="http://schemas.microsoft.com/office/drawing/2014/main" id="{9BA1B5BF-19BA-1931-7FE0-AF2267763105}"/>
              </a:ext>
            </a:extLst>
          </p:cNvPr>
          <p:cNvSpPr txBox="1">
            <a:spLocks/>
          </p:cNvSpPr>
          <p:nvPr/>
        </p:nvSpPr>
        <p:spPr>
          <a:xfrm>
            <a:off x="682999" y="992107"/>
            <a:ext cx="10653577" cy="106760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0" lang="ja-JP" altLang="en-US" sz="1800">
                <a:latin typeface="游ゴシック Medium" panose="020B0500000000000000" pitchFamily="50" charset="-128"/>
                <a:ea typeface="游ゴシック Medium" panose="020B0500000000000000" pitchFamily="50" charset="-128"/>
              </a:rPr>
              <a:t>隙間時間でも気軽に触れる</a:t>
            </a:r>
            <a:r>
              <a:rPr kumimoji="0" lang="en-US" altLang="ja-JP" sz="1800">
                <a:latin typeface="游ゴシック Medium" panose="020B0500000000000000" pitchFamily="50" charset="-128"/>
                <a:ea typeface="游ゴシック Medium" panose="020B0500000000000000" pitchFamily="50" charset="-128"/>
              </a:rPr>
              <a:t>SNS</a:t>
            </a:r>
            <a:r>
              <a:rPr kumimoji="0" lang="ja-JP" altLang="en-US" sz="1800">
                <a:latin typeface="游ゴシック Medium" panose="020B0500000000000000" pitchFamily="50" charset="-128"/>
                <a:ea typeface="游ゴシック Medium" panose="020B0500000000000000" pitchFamily="50" charset="-128"/>
              </a:rPr>
              <a:t>のような</a:t>
            </a:r>
            <a:r>
              <a:rPr kumimoji="0" lang="en-US" altLang="ja-JP" sz="1800">
                <a:latin typeface="游ゴシック Medium" panose="020B0500000000000000" pitchFamily="50" charset="-128"/>
                <a:ea typeface="游ゴシック Medium" panose="020B0500000000000000" pitchFamily="50" charset="-128"/>
              </a:rPr>
              <a:t>UI</a:t>
            </a:r>
            <a:r>
              <a:rPr kumimoji="0" lang="ja-JP" altLang="en-US" sz="1800">
                <a:latin typeface="游ゴシック Medium" panose="020B0500000000000000" pitchFamily="50" charset="-128"/>
                <a:ea typeface="游ゴシック Medium" panose="020B0500000000000000" pitchFamily="50" charset="-128"/>
              </a:rPr>
              <a:t>を想定。メールの山から探す手間を全て省く。</a:t>
            </a:r>
            <a:endParaRPr kumimoji="0" lang="en-US" altLang="ja-JP" sz="1800">
              <a:latin typeface="游ゴシック Medium" panose="020B0500000000000000" pitchFamily="50" charset="-128"/>
              <a:ea typeface="游ゴシック Medium" panose="020B0500000000000000" pitchFamily="50" charset="-128"/>
            </a:endParaRPr>
          </a:p>
          <a:p>
            <a:pPr marL="0" indent="0">
              <a:buFont typeface="Arial" panose="020B0604020202020204" pitchFamily="34" charset="0"/>
              <a:buNone/>
            </a:pPr>
            <a:r>
              <a:rPr kumimoji="0" lang="ja-JP" altLang="en-US" sz="1800">
                <a:latin typeface="游ゴシック Medium" panose="020B0500000000000000" pitchFamily="50" charset="-128"/>
                <a:ea typeface="游ゴシック Medium" panose="020B0500000000000000" pitchFamily="50" charset="-128"/>
              </a:rPr>
              <a:t>例）フォローとタイムラインでの情報発信、絞り込み</a:t>
            </a:r>
            <a:r>
              <a:rPr kumimoji="0" lang="en-US" altLang="ja-JP" sz="1800">
                <a:latin typeface="游ゴシック Medium" panose="020B0500000000000000" pitchFamily="50" charset="-128"/>
                <a:ea typeface="游ゴシック Medium" panose="020B0500000000000000" pitchFamily="50" charset="-128"/>
              </a:rPr>
              <a:t>UI</a:t>
            </a:r>
            <a:r>
              <a:rPr kumimoji="0" lang="ja-JP" altLang="en-US" sz="1800">
                <a:latin typeface="游ゴシック Medium" panose="020B0500000000000000" pitchFamily="50" charset="-128"/>
                <a:ea typeface="游ゴシック Medium" panose="020B0500000000000000" pitchFamily="50" charset="-128"/>
              </a:rPr>
              <a:t>、面談指定でのオファー、オファー状況管理</a:t>
            </a:r>
            <a:endParaRPr kumimoji="0" lang="en-US" altLang="ja-JP" sz="1800">
              <a:latin typeface="游ゴシック Medium" panose="020B0500000000000000" pitchFamily="50" charset="-128"/>
              <a:ea typeface="游ゴシック Medium" panose="020B0500000000000000" pitchFamily="50" charset="-128"/>
            </a:endParaRPr>
          </a:p>
        </p:txBody>
      </p:sp>
      <p:sp>
        <p:nvSpPr>
          <p:cNvPr id="3" name="テキスト ボックス 2">
            <a:extLst>
              <a:ext uri="{FF2B5EF4-FFF2-40B4-BE49-F238E27FC236}">
                <a16:creationId xmlns:a16="http://schemas.microsoft.com/office/drawing/2014/main" id="{C3ED61E0-74D3-F7E4-C91A-193BC2880E23}"/>
              </a:ext>
            </a:extLst>
          </p:cNvPr>
          <p:cNvSpPr txBox="1"/>
          <p:nvPr/>
        </p:nvSpPr>
        <p:spPr>
          <a:xfrm>
            <a:off x="218374" y="3121223"/>
            <a:ext cx="1242648" cy="307777"/>
          </a:xfrm>
          <a:prstGeom prst="rect">
            <a:avLst/>
          </a:prstGeom>
          <a:noFill/>
        </p:spPr>
        <p:txBody>
          <a:bodyPr wrap="none" rtlCol="0">
            <a:spAutoFit/>
          </a:bodyPr>
          <a:lstStyle/>
          <a:p>
            <a:r>
              <a:rPr kumimoji="1" lang="ja-JP" altLang="en-US" sz="1400" b="1">
                <a:latin typeface="游ゴシック Medium" panose="020B0500000000000000" pitchFamily="50" charset="-128"/>
                <a:ea typeface="游ゴシック Medium" panose="020B0500000000000000" pitchFamily="50" charset="-128"/>
              </a:rPr>
              <a:t>タイムライン</a:t>
            </a:r>
            <a:endParaRPr kumimoji="1" lang="ja-JP" altLang="en-US" b="1">
              <a:latin typeface="游ゴシック Medium" panose="020B0500000000000000" pitchFamily="50" charset="-128"/>
              <a:ea typeface="游ゴシック Medium" panose="020B0500000000000000" pitchFamily="50" charset="-128"/>
            </a:endParaRPr>
          </a:p>
        </p:txBody>
      </p:sp>
      <p:pic>
        <p:nvPicPr>
          <p:cNvPr id="16" name="図 15"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CBCFBA9C-DE78-0406-B3E1-757C4BEB0565}"/>
              </a:ext>
            </a:extLst>
          </p:cNvPr>
          <p:cNvPicPr>
            <a:picLocks noChangeAspect="1"/>
          </p:cNvPicPr>
          <p:nvPr/>
        </p:nvPicPr>
        <p:blipFill>
          <a:blip r:embed="rId2"/>
          <a:stretch>
            <a:fillRect/>
          </a:stretch>
        </p:blipFill>
        <p:spPr>
          <a:xfrm>
            <a:off x="1808903" y="2219338"/>
            <a:ext cx="3728344" cy="2419324"/>
          </a:xfrm>
          <a:prstGeom prst="rect">
            <a:avLst/>
          </a:prstGeom>
          <a:ln>
            <a:solidFill>
              <a:schemeClr val="bg1">
                <a:lumMod val="75000"/>
              </a:schemeClr>
            </a:solidFill>
          </a:ln>
        </p:spPr>
      </p:pic>
      <p:sp>
        <p:nvSpPr>
          <p:cNvPr id="17" name="テキスト ボックス 16">
            <a:extLst>
              <a:ext uri="{FF2B5EF4-FFF2-40B4-BE49-F238E27FC236}">
                <a16:creationId xmlns:a16="http://schemas.microsoft.com/office/drawing/2014/main" id="{1223BD98-BA34-9385-03DF-009D272C2AE1}"/>
              </a:ext>
            </a:extLst>
          </p:cNvPr>
          <p:cNvSpPr txBox="1"/>
          <p:nvPr/>
        </p:nvSpPr>
        <p:spPr>
          <a:xfrm>
            <a:off x="1808903" y="1911145"/>
            <a:ext cx="1073601" cy="307777"/>
          </a:xfrm>
          <a:prstGeom prst="rect">
            <a:avLst/>
          </a:prstGeom>
          <a:noFill/>
        </p:spPr>
        <p:txBody>
          <a:bodyPr wrap="square" rtlCol="0">
            <a:spAutoFit/>
          </a:bodyPr>
          <a:lstStyle/>
          <a:p>
            <a:r>
              <a:rPr lang="ja-JP" altLang="en-US" sz="1400" b="1">
                <a:latin typeface="游ゴシック Medium" panose="020B0500000000000000" pitchFamily="50" charset="-128"/>
                <a:ea typeface="游ゴシック Medium" panose="020B0500000000000000" pitchFamily="50" charset="-128"/>
              </a:rPr>
              <a:t>フォロー</a:t>
            </a:r>
            <a:endParaRPr kumimoji="1" lang="ja-JP" altLang="en-US" b="1">
              <a:latin typeface="游ゴシック Medium" panose="020B0500000000000000" pitchFamily="50" charset="-128"/>
              <a:ea typeface="游ゴシック Medium" panose="020B0500000000000000" pitchFamily="50" charset="-128"/>
            </a:endParaRPr>
          </a:p>
        </p:txBody>
      </p:sp>
      <p:pic>
        <p:nvPicPr>
          <p:cNvPr id="8" name="図 7"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82A2F83D-F861-09EA-B286-A5E6F4C6486F}"/>
              </a:ext>
            </a:extLst>
          </p:cNvPr>
          <p:cNvPicPr>
            <a:picLocks noChangeAspect="1"/>
          </p:cNvPicPr>
          <p:nvPr/>
        </p:nvPicPr>
        <p:blipFill>
          <a:blip r:embed="rId3"/>
          <a:stretch>
            <a:fillRect/>
          </a:stretch>
        </p:blipFill>
        <p:spPr>
          <a:xfrm>
            <a:off x="339350" y="3399614"/>
            <a:ext cx="1973012" cy="3141575"/>
          </a:xfrm>
          <a:prstGeom prst="rect">
            <a:avLst/>
          </a:prstGeom>
          <a:solidFill>
            <a:srgbClr val="FFFFFF">
              <a:shade val="85000"/>
            </a:srgbClr>
          </a:solidFill>
          <a:ln w="12700" cap="sq">
            <a:solidFill>
              <a:schemeClr val="bg1">
                <a:lumMod val="75000"/>
              </a:schemeClr>
            </a:solidFill>
            <a:miter lim="800000"/>
          </a:ln>
          <a:effectLst/>
        </p:spPr>
      </p:pic>
      <p:sp>
        <p:nvSpPr>
          <p:cNvPr id="23" name="テキスト ボックス 22">
            <a:extLst>
              <a:ext uri="{FF2B5EF4-FFF2-40B4-BE49-F238E27FC236}">
                <a16:creationId xmlns:a16="http://schemas.microsoft.com/office/drawing/2014/main" id="{6CE49339-3141-0E9D-7D41-E96F3E0987F9}"/>
              </a:ext>
            </a:extLst>
          </p:cNvPr>
          <p:cNvSpPr txBox="1"/>
          <p:nvPr/>
        </p:nvSpPr>
        <p:spPr>
          <a:xfrm>
            <a:off x="2901590" y="3190093"/>
            <a:ext cx="1242648" cy="307777"/>
          </a:xfrm>
          <a:prstGeom prst="rect">
            <a:avLst/>
          </a:prstGeom>
          <a:noFill/>
        </p:spPr>
        <p:txBody>
          <a:bodyPr wrap="none" rtlCol="0">
            <a:spAutoFit/>
          </a:bodyPr>
          <a:lstStyle/>
          <a:p>
            <a:r>
              <a:rPr kumimoji="1" lang="ja-JP" altLang="en-US" sz="1400" b="1">
                <a:latin typeface="游ゴシック Medium" panose="020B0500000000000000" pitchFamily="50" charset="-128"/>
                <a:ea typeface="游ゴシック Medium" panose="020B0500000000000000" pitchFamily="50" charset="-128"/>
              </a:rPr>
              <a:t>要員絞り込み</a:t>
            </a:r>
            <a:endParaRPr kumimoji="1" lang="ja-JP" altLang="en-US" b="1">
              <a:latin typeface="游ゴシック Medium" panose="020B0500000000000000" pitchFamily="50" charset="-128"/>
              <a:ea typeface="游ゴシック Medium" panose="020B0500000000000000" pitchFamily="50" charset="-128"/>
            </a:endParaRPr>
          </a:p>
        </p:txBody>
      </p:sp>
      <p:pic>
        <p:nvPicPr>
          <p:cNvPr id="24" name="図 23" descr="ダイアグラム&#10;&#10;AI 生成コンテンツは誤りを含む可能性があります。">
            <a:extLst>
              <a:ext uri="{FF2B5EF4-FFF2-40B4-BE49-F238E27FC236}">
                <a16:creationId xmlns:a16="http://schemas.microsoft.com/office/drawing/2014/main" id="{7700024D-9F6C-1698-C647-CDF676273ED9}"/>
              </a:ext>
            </a:extLst>
          </p:cNvPr>
          <p:cNvPicPr>
            <a:picLocks noChangeAspect="1"/>
          </p:cNvPicPr>
          <p:nvPr/>
        </p:nvPicPr>
        <p:blipFill>
          <a:blip r:embed="rId4"/>
          <a:stretch>
            <a:fillRect/>
          </a:stretch>
        </p:blipFill>
        <p:spPr>
          <a:xfrm>
            <a:off x="2901590" y="3503057"/>
            <a:ext cx="2906688" cy="3018815"/>
          </a:xfrm>
          <a:prstGeom prst="rect">
            <a:avLst/>
          </a:prstGeom>
          <a:ln>
            <a:solidFill>
              <a:schemeClr val="bg1">
                <a:lumMod val="75000"/>
              </a:schemeClr>
            </a:solidFill>
          </a:ln>
        </p:spPr>
      </p:pic>
      <p:pic>
        <p:nvPicPr>
          <p:cNvPr id="7" name="図 6" descr="グラフィカル ユーザー インターフェイス&#10;&#10;AI 生成コンテンツは誤りを含む可能性があります。">
            <a:extLst>
              <a:ext uri="{FF2B5EF4-FFF2-40B4-BE49-F238E27FC236}">
                <a16:creationId xmlns:a16="http://schemas.microsoft.com/office/drawing/2014/main" id="{6219BD6C-AD5D-ABD1-5147-4ED91D98D1E0}"/>
              </a:ext>
            </a:extLst>
          </p:cNvPr>
          <p:cNvPicPr>
            <a:picLocks noChangeAspect="1"/>
          </p:cNvPicPr>
          <p:nvPr/>
        </p:nvPicPr>
        <p:blipFill>
          <a:blip r:embed="rId5"/>
          <a:stretch>
            <a:fillRect/>
          </a:stretch>
        </p:blipFill>
        <p:spPr>
          <a:xfrm>
            <a:off x="7503797" y="2382696"/>
            <a:ext cx="4222056" cy="2743278"/>
          </a:xfrm>
          <a:prstGeom prst="rect">
            <a:avLst/>
          </a:prstGeom>
          <a:ln>
            <a:solidFill>
              <a:schemeClr val="bg1">
                <a:lumMod val="75000"/>
              </a:schemeClr>
            </a:solidFill>
          </a:ln>
        </p:spPr>
      </p:pic>
      <p:pic>
        <p:nvPicPr>
          <p:cNvPr id="25" name="図 24" descr="グラフ&#10;&#10;AI 生成コンテンツは誤りを含む可能性があります。">
            <a:extLst>
              <a:ext uri="{FF2B5EF4-FFF2-40B4-BE49-F238E27FC236}">
                <a16:creationId xmlns:a16="http://schemas.microsoft.com/office/drawing/2014/main" id="{8B1DACD4-DDB7-D85A-8CBE-E24A66E6A76C}"/>
              </a:ext>
            </a:extLst>
          </p:cNvPr>
          <p:cNvPicPr>
            <a:picLocks noChangeAspect="1"/>
          </p:cNvPicPr>
          <p:nvPr/>
        </p:nvPicPr>
        <p:blipFill>
          <a:blip r:embed="rId6"/>
          <a:srcRect t="587"/>
          <a:stretch>
            <a:fillRect/>
          </a:stretch>
        </p:blipFill>
        <p:spPr>
          <a:xfrm>
            <a:off x="6057463" y="3190093"/>
            <a:ext cx="2343445" cy="3450476"/>
          </a:xfrm>
          <a:prstGeom prst="rect">
            <a:avLst/>
          </a:prstGeom>
          <a:ln>
            <a:solidFill>
              <a:schemeClr val="bg1">
                <a:lumMod val="75000"/>
              </a:schemeClr>
            </a:solidFill>
          </a:ln>
        </p:spPr>
      </p:pic>
      <p:sp>
        <p:nvSpPr>
          <p:cNvPr id="26" name="テキスト ボックス 25">
            <a:extLst>
              <a:ext uri="{FF2B5EF4-FFF2-40B4-BE49-F238E27FC236}">
                <a16:creationId xmlns:a16="http://schemas.microsoft.com/office/drawing/2014/main" id="{E5D57CA5-F6B8-07AC-401E-F08D312561BC}"/>
              </a:ext>
            </a:extLst>
          </p:cNvPr>
          <p:cNvSpPr txBox="1"/>
          <p:nvPr/>
        </p:nvSpPr>
        <p:spPr>
          <a:xfrm>
            <a:off x="5977692" y="2882316"/>
            <a:ext cx="1066318" cy="307777"/>
          </a:xfrm>
          <a:prstGeom prst="rect">
            <a:avLst/>
          </a:prstGeom>
          <a:noFill/>
        </p:spPr>
        <p:txBody>
          <a:bodyPr wrap="none" rtlCol="0">
            <a:spAutoFit/>
          </a:bodyPr>
          <a:lstStyle/>
          <a:p>
            <a:r>
              <a:rPr kumimoji="1" lang="ja-JP" altLang="en-US" sz="1400" b="1">
                <a:latin typeface="游ゴシック Medium" panose="020B0500000000000000" pitchFamily="50" charset="-128"/>
                <a:ea typeface="游ゴシック Medium" panose="020B0500000000000000" pitchFamily="50" charset="-128"/>
              </a:rPr>
              <a:t>面談日設定</a:t>
            </a:r>
          </a:p>
        </p:txBody>
      </p:sp>
      <p:sp>
        <p:nvSpPr>
          <p:cNvPr id="9" name="テキスト ボックス 8">
            <a:extLst>
              <a:ext uri="{FF2B5EF4-FFF2-40B4-BE49-F238E27FC236}">
                <a16:creationId xmlns:a16="http://schemas.microsoft.com/office/drawing/2014/main" id="{7D2124AE-4A86-1A66-2D5B-B69ECEB4C12A}"/>
              </a:ext>
            </a:extLst>
          </p:cNvPr>
          <p:cNvSpPr txBox="1"/>
          <p:nvPr/>
        </p:nvSpPr>
        <p:spPr>
          <a:xfrm>
            <a:off x="10133055" y="2056055"/>
            <a:ext cx="1595309" cy="307777"/>
          </a:xfrm>
          <a:prstGeom prst="rect">
            <a:avLst/>
          </a:prstGeom>
          <a:noFill/>
        </p:spPr>
        <p:txBody>
          <a:bodyPr wrap="none" rtlCol="0">
            <a:spAutoFit/>
          </a:bodyPr>
          <a:lstStyle/>
          <a:p>
            <a:r>
              <a:rPr lang="ja-JP" altLang="en-US" sz="1400" b="1">
                <a:latin typeface="游ゴシック Medium" panose="020B0500000000000000" pitchFamily="50" charset="-128"/>
                <a:ea typeface="游ゴシック Medium" panose="020B0500000000000000" pitchFamily="50" charset="-128"/>
              </a:rPr>
              <a:t>オファー状況管理</a:t>
            </a:r>
            <a:endParaRPr kumimoji="1" lang="ja-JP" altLang="en-US" sz="1400" b="1">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14437188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F9BDF-7C99-211E-4C77-EF4B4ED3EA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2555C88-56A1-3BB0-84A6-3EF07DFA87C3}"/>
              </a:ext>
            </a:extLst>
          </p:cNvPr>
          <p:cNvSpPr>
            <a:spLocks noGrp="1"/>
          </p:cNvSpPr>
          <p:nvPr>
            <p:ph type="title"/>
          </p:nvPr>
        </p:nvSpPr>
        <p:spPr/>
        <p:txBody>
          <a:bodyPr vert="horz" lIns="91440" tIns="45720" rIns="91440" bIns="45720" rtlCol="0" anchor="t">
            <a:normAutofit/>
          </a:bodyPr>
          <a:lstStyle/>
          <a:p>
            <a:r>
              <a:rPr lang="ja-JP" altLang="en-US"/>
              <a:t>市場規模について</a:t>
            </a:r>
          </a:p>
        </p:txBody>
      </p:sp>
      <p:sp>
        <p:nvSpPr>
          <p:cNvPr id="3" name="コンテンツ プレースホルダー 2">
            <a:extLst>
              <a:ext uri="{FF2B5EF4-FFF2-40B4-BE49-F238E27FC236}">
                <a16:creationId xmlns:a16="http://schemas.microsoft.com/office/drawing/2014/main" id="{FDCC74F0-6347-02ED-C7DE-A08982859307}"/>
              </a:ext>
            </a:extLst>
          </p:cNvPr>
          <p:cNvSpPr>
            <a:spLocks noGrp="1"/>
          </p:cNvSpPr>
          <p:nvPr>
            <p:ph idx="1"/>
          </p:nvPr>
        </p:nvSpPr>
        <p:spPr>
          <a:xfrm>
            <a:off x="612647" y="1687310"/>
            <a:ext cx="10654639" cy="4622050"/>
          </a:xfrm>
        </p:spPr>
        <p:txBody>
          <a:bodyPr vert="horz" lIns="91440" tIns="45720" rIns="91440" bIns="45720" rtlCol="0" anchor="t">
            <a:noAutofit/>
          </a:bodyPr>
          <a:lstStyle/>
          <a:p>
            <a:pPr>
              <a:buNone/>
            </a:pPr>
            <a:r>
              <a:rPr lang="ja-JP" altLang="en-US" sz="1600">
                <a:ea typeface="+mn-lt"/>
                <a:cs typeface="+mn-lt"/>
              </a:rPr>
              <a:t>試算したところ「</a:t>
            </a:r>
            <a:r>
              <a:rPr lang="en-US" altLang="ja-JP" sz="1600">
                <a:ea typeface="+mn-lt"/>
                <a:cs typeface="+mn-lt"/>
              </a:rPr>
              <a:t>SES</a:t>
            </a:r>
            <a:r>
              <a:rPr lang="ja-JP" altLang="en-US" sz="1600">
                <a:ea typeface="+mn-lt"/>
                <a:cs typeface="+mn-lt"/>
              </a:rPr>
              <a:t>営業の数」は</a:t>
            </a:r>
            <a:r>
              <a:rPr lang="en-US" altLang="ja-JP" sz="1600">
                <a:ea typeface="+mn-lt"/>
                <a:cs typeface="+mn-lt"/>
              </a:rPr>
              <a:t>6</a:t>
            </a:r>
            <a:r>
              <a:rPr lang="ja-JP" altLang="en-US" sz="1600">
                <a:ea typeface="+mn-lt"/>
                <a:cs typeface="+mn-lt"/>
              </a:rPr>
              <a:t>万人程度。単価平均</a:t>
            </a:r>
            <a:r>
              <a:rPr lang="en-US" altLang="ja-JP" sz="1600">
                <a:ea typeface="+mn-lt"/>
                <a:cs typeface="+mn-lt"/>
              </a:rPr>
              <a:t>50</a:t>
            </a:r>
            <a:r>
              <a:rPr lang="ja-JP" altLang="en-US" sz="1600">
                <a:ea typeface="+mn-lt"/>
                <a:cs typeface="+mn-lt"/>
              </a:rPr>
              <a:t>万とすると</a:t>
            </a:r>
            <a:r>
              <a:rPr lang="en-US" altLang="ja-JP" sz="1600">
                <a:ea typeface="+mn-lt"/>
                <a:cs typeface="+mn-lt"/>
              </a:rPr>
              <a:t>300</a:t>
            </a:r>
            <a:r>
              <a:rPr lang="ja-JP" altLang="en-US" sz="1600">
                <a:ea typeface="+mn-lt"/>
                <a:cs typeface="+mn-lt"/>
              </a:rPr>
              <a:t>億。</a:t>
            </a:r>
            <a:endParaRPr lang="en-US" altLang="ja-JP" sz="1600">
              <a:ea typeface="+mn-lt"/>
              <a:cs typeface="+mn-lt"/>
            </a:endParaRPr>
          </a:p>
          <a:p>
            <a:pPr>
              <a:buNone/>
            </a:pPr>
            <a:r>
              <a:rPr lang="ja-JP" altLang="en-US" sz="1600">
                <a:ea typeface="+mn-lt"/>
                <a:cs typeface="+mn-lt"/>
              </a:rPr>
              <a:t>よってこれを代替する本プロダクトの</a:t>
            </a:r>
            <a:r>
              <a:rPr lang="en-US" altLang="ja-JP" sz="1600" b="1">
                <a:ea typeface="+mn-lt"/>
                <a:cs typeface="+mn-lt"/>
              </a:rPr>
              <a:t>SAM</a:t>
            </a:r>
            <a:r>
              <a:rPr lang="ja-JP" altLang="en-US" sz="1600" b="1">
                <a:ea typeface="+mn-lt"/>
                <a:cs typeface="+mn-lt"/>
              </a:rPr>
              <a:t>は</a:t>
            </a:r>
            <a:r>
              <a:rPr lang="en-US" altLang="ja-JP" sz="1600" b="1">
                <a:ea typeface="+mn-lt"/>
                <a:cs typeface="+mn-lt"/>
              </a:rPr>
              <a:t>300</a:t>
            </a:r>
            <a:r>
              <a:rPr lang="ja-JP" altLang="en-US" sz="1600" b="1">
                <a:ea typeface="+mn-lt"/>
                <a:cs typeface="+mn-lt"/>
              </a:rPr>
              <a:t>億程度</a:t>
            </a:r>
            <a:r>
              <a:rPr lang="ja-JP" altLang="en-US" sz="1600">
                <a:ea typeface="+mn-lt"/>
                <a:cs typeface="+mn-lt"/>
              </a:rPr>
              <a:t>となる。</a:t>
            </a:r>
            <a:endParaRPr lang="en-US" altLang="ja-JP" sz="1600">
              <a:ea typeface="+mn-lt"/>
              <a:cs typeface="+mn-lt"/>
            </a:endParaRPr>
          </a:p>
          <a:p>
            <a:pPr>
              <a:buNone/>
            </a:pPr>
            <a:r>
              <a:rPr lang="en-US" altLang="ja-JP" sz="1600">
                <a:ea typeface="+mn-lt"/>
                <a:cs typeface="+mn-lt"/>
              </a:rPr>
              <a:t>2030</a:t>
            </a:r>
            <a:r>
              <a:rPr lang="ja-JP" altLang="en-US" sz="1600">
                <a:ea typeface="+mn-lt"/>
                <a:cs typeface="+mn-lt"/>
              </a:rPr>
              <a:t>年に向けて市場浸透率</a:t>
            </a:r>
            <a:r>
              <a:rPr lang="en-US" altLang="ja-JP" sz="1600">
                <a:ea typeface="+mn-lt"/>
                <a:cs typeface="+mn-lt"/>
              </a:rPr>
              <a:t>6.8%</a:t>
            </a:r>
            <a:r>
              <a:rPr lang="ja-JP" altLang="en-US" sz="1600">
                <a:ea typeface="+mn-lt"/>
                <a:cs typeface="+mn-lt"/>
              </a:rPr>
              <a:t>を目指すこととなるが、十分な売り上規模となる想定 </a:t>
            </a:r>
            <a:endParaRPr lang="en-US" altLang="ja-JP" sz="1600">
              <a:ea typeface="+mn-lt"/>
              <a:cs typeface="+mn-lt"/>
            </a:endParaRPr>
          </a:p>
          <a:p>
            <a:pPr>
              <a:buNone/>
            </a:pPr>
            <a:endParaRPr lang="ja-JP" altLang="en-US" sz="1600">
              <a:ea typeface="+mn-lt"/>
              <a:cs typeface="+mn-lt"/>
            </a:endParaRPr>
          </a:p>
        </p:txBody>
      </p:sp>
      <p:sp>
        <p:nvSpPr>
          <p:cNvPr id="4" name="日付プレースホルダー 3">
            <a:extLst>
              <a:ext uri="{FF2B5EF4-FFF2-40B4-BE49-F238E27FC236}">
                <a16:creationId xmlns:a16="http://schemas.microsoft.com/office/drawing/2014/main" id="{7021A200-CDE5-0BF0-49CA-26C3F6D624DC}"/>
              </a:ext>
            </a:extLst>
          </p:cNvPr>
          <p:cNvSpPr>
            <a:spLocks noGrp="1"/>
          </p:cNvSpPr>
          <p:nvPr>
            <p:ph type="dt" sz="half" idx="10"/>
          </p:nvPr>
        </p:nvSpPr>
        <p:spPr/>
        <p:txBody>
          <a:bodyPr/>
          <a:lstStyle/>
          <a:p>
            <a:fld id="{77ACB191-FCF7-48A2-9BDE-D81B81F5CF5F}" type="datetime1">
              <a:rPr lang="ja-JP" altLang="en-US"/>
              <a:t>2026/3/9</a:t>
            </a:fld>
            <a:endParaRPr lang="en-US"/>
          </a:p>
        </p:txBody>
      </p:sp>
      <p:sp>
        <p:nvSpPr>
          <p:cNvPr id="5" name="フッター プレースホルダー 4">
            <a:extLst>
              <a:ext uri="{FF2B5EF4-FFF2-40B4-BE49-F238E27FC236}">
                <a16:creationId xmlns:a16="http://schemas.microsoft.com/office/drawing/2014/main" id="{5DDD87DA-ED87-EA7F-D96D-5346BB9D0213}"/>
              </a:ext>
            </a:extLst>
          </p:cNvPr>
          <p:cNvSpPr>
            <a:spLocks noGrp="1"/>
          </p:cNvSpPr>
          <p:nvPr>
            <p:ph type="ftr" sz="quarter" idx="11"/>
          </p:nvPr>
        </p:nvSpPr>
        <p:spPr/>
        <p:txBody>
          <a:bodyPr/>
          <a:lstStyle/>
          <a:p>
            <a:r>
              <a:rPr lang="en-US"/>
              <a:t>
              </a:t>
            </a:r>
          </a:p>
        </p:txBody>
      </p:sp>
      <p:sp>
        <p:nvSpPr>
          <p:cNvPr id="6" name="スライド番号プレースホルダー 5">
            <a:extLst>
              <a:ext uri="{FF2B5EF4-FFF2-40B4-BE49-F238E27FC236}">
                <a16:creationId xmlns:a16="http://schemas.microsoft.com/office/drawing/2014/main" id="{22D00909-9537-4F7A-1816-E62ADB3B7063}"/>
              </a:ext>
            </a:extLst>
          </p:cNvPr>
          <p:cNvSpPr>
            <a:spLocks noGrp="1"/>
          </p:cNvSpPr>
          <p:nvPr>
            <p:ph type="sldNum" sz="quarter" idx="12"/>
          </p:nvPr>
        </p:nvSpPr>
        <p:spPr/>
        <p:txBody>
          <a:bodyPr/>
          <a:lstStyle/>
          <a:p>
            <a:fld id="{70C12960-6E85-460F-B6E3-5B82CB31AF3D}" type="slidenum">
              <a:rPr lang="en-US" dirty="0"/>
              <a:t>16</a:t>
            </a:fld>
            <a:endParaRPr lang="en-US"/>
          </a:p>
        </p:txBody>
      </p:sp>
      <p:pic>
        <p:nvPicPr>
          <p:cNvPr id="3074" name="Picture 2" descr="事業の需要分析に有効】TAM・SAM・SOMの計算方法と活用例を解説 - エリマケ！">
            <a:extLst>
              <a:ext uri="{FF2B5EF4-FFF2-40B4-BE49-F238E27FC236}">
                <a16:creationId xmlns:a16="http://schemas.microsoft.com/office/drawing/2014/main" id="{EA13268B-2A7C-F189-DE66-6360A6A4AC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7667" y="2986469"/>
            <a:ext cx="5001770" cy="3329303"/>
          </a:xfrm>
          <a:prstGeom prst="rect">
            <a:avLst/>
          </a:prstGeom>
          <a:noFill/>
          <a:extLst>
            <a:ext uri="{909E8E84-426E-40DD-AFC4-6F175D3DCCD1}">
              <a14:hiddenFill xmlns:a14="http://schemas.microsoft.com/office/drawing/2010/main">
                <a:solidFill>
                  <a:srgbClr val="FFFFFF"/>
                </a:solidFill>
              </a14:hiddenFill>
            </a:ext>
          </a:extLst>
        </p:spPr>
      </p:pic>
      <p:pic>
        <p:nvPicPr>
          <p:cNvPr id="3077" name="Picture 5" descr="マーケットシェアとは？6つの目標値・計算方法・伸ばし方を解説 | アフィリエイトのA8.net">
            <a:extLst>
              <a:ext uri="{FF2B5EF4-FFF2-40B4-BE49-F238E27FC236}">
                <a16:creationId xmlns:a16="http://schemas.microsoft.com/office/drawing/2014/main" id="{36894FCB-FCF5-F9AE-9159-0591F7A0530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0793" y="3429000"/>
            <a:ext cx="4076700" cy="271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87931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6BC0E7-8650-3BE2-1B68-01764D28E2A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A97CDCE6-8827-8A6D-C9F4-B767231FD495}"/>
              </a:ext>
            </a:extLst>
          </p:cNvPr>
          <p:cNvSpPr>
            <a:spLocks noGrp="1"/>
          </p:cNvSpPr>
          <p:nvPr>
            <p:ph type="dt" sz="half" idx="10"/>
          </p:nvPr>
        </p:nvSpPr>
        <p:spPr/>
        <p:txBody>
          <a:bodyPr/>
          <a:lstStyle/>
          <a:p>
            <a:fld id="{7598ACA5-9250-4720-BC2E-DB7A7966E012}" type="datetime1">
              <a:rPr lang="ja-JP" altLang="en-US"/>
              <a:t>2026/3/9</a:t>
            </a:fld>
            <a:endParaRPr lang="en-US"/>
          </a:p>
        </p:txBody>
      </p:sp>
      <p:sp>
        <p:nvSpPr>
          <p:cNvPr id="5" name="Footer Placeholder 4">
            <a:extLst>
              <a:ext uri="{FF2B5EF4-FFF2-40B4-BE49-F238E27FC236}">
                <a16:creationId xmlns:a16="http://schemas.microsoft.com/office/drawing/2014/main" id="{47EEB49C-16B4-62AF-5A1C-97AF083B9C8E}"/>
              </a:ext>
            </a:extLst>
          </p:cNvPr>
          <p:cNvSpPr>
            <a:spLocks noGrp="1"/>
          </p:cNvSpPr>
          <p:nvPr>
            <p:ph type="ftr" sz="quarter" idx="11"/>
          </p:nvPr>
        </p:nvSpPr>
        <p:spPr/>
        <p:txBody>
          <a:bodyPr/>
          <a:lstStyle/>
          <a:p>
            <a:r>
              <a:rPr lang="en-US"/>
              <a:t>
              </a:t>
            </a:r>
          </a:p>
        </p:txBody>
      </p:sp>
      <p:sp>
        <p:nvSpPr>
          <p:cNvPr id="6" name="Slide Number Placeholder 5">
            <a:extLst>
              <a:ext uri="{FF2B5EF4-FFF2-40B4-BE49-F238E27FC236}">
                <a16:creationId xmlns:a16="http://schemas.microsoft.com/office/drawing/2014/main" id="{45E404FA-39D2-8420-93F5-702C29EAD74C}"/>
              </a:ext>
            </a:extLst>
          </p:cNvPr>
          <p:cNvSpPr>
            <a:spLocks noGrp="1"/>
          </p:cNvSpPr>
          <p:nvPr>
            <p:ph type="sldNum" sz="quarter" idx="12"/>
          </p:nvPr>
        </p:nvSpPr>
        <p:spPr/>
        <p:txBody>
          <a:bodyPr/>
          <a:lstStyle/>
          <a:p>
            <a:fld id="{CC057153-B650-4DEB-B370-79DDCFDCE934}" type="slidenum">
              <a:rPr lang="en-US" dirty="0"/>
              <a:t>17</a:t>
            </a:fld>
            <a:endParaRPr lang="en-US"/>
          </a:p>
        </p:txBody>
      </p:sp>
      <p:sp>
        <p:nvSpPr>
          <p:cNvPr id="18" name="Title 1">
            <a:extLst>
              <a:ext uri="{FF2B5EF4-FFF2-40B4-BE49-F238E27FC236}">
                <a16:creationId xmlns:a16="http://schemas.microsoft.com/office/drawing/2014/main" id="{337E7E52-2D28-3C34-2ACE-13F62B998AA0}"/>
              </a:ext>
            </a:extLst>
          </p:cNvPr>
          <p:cNvSpPr>
            <a:spLocks noGrp="1"/>
          </p:cNvSpPr>
          <p:nvPr>
            <p:ph type="title"/>
          </p:nvPr>
        </p:nvSpPr>
        <p:spPr>
          <a:xfrm>
            <a:off x="612648" y="281870"/>
            <a:ext cx="10653578" cy="533540"/>
          </a:xfrm>
        </p:spPr>
        <p:txBody>
          <a:bodyPr>
            <a:normAutofit fontScale="90000"/>
          </a:bodyPr>
          <a:lstStyle/>
          <a:p>
            <a:r>
              <a:rPr kumimoji="1" lang="ja-JP" altLang="en-US"/>
              <a:t>今後の展望</a:t>
            </a:r>
          </a:p>
        </p:txBody>
      </p:sp>
      <p:sp>
        <p:nvSpPr>
          <p:cNvPr id="1065" name="Content Placeholder 2">
            <a:extLst>
              <a:ext uri="{FF2B5EF4-FFF2-40B4-BE49-F238E27FC236}">
                <a16:creationId xmlns:a16="http://schemas.microsoft.com/office/drawing/2014/main" id="{0D1977B4-244F-124C-6801-C77BC6C46B6E}"/>
              </a:ext>
            </a:extLst>
          </p:cNvPr>
          <p:cNvSpPr txBox="1">
            <a:spLocks/>
          </p:cNvSpPr>
          <p:nvPr/>
        </p:nvSpPr>
        <p:spPr>
          <a:xfrm>
            <a:off x="682999" y="992106"/>
            <a:ext cx="10653577" cy="5460896"/>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kumimoji="0" lang="ja-JP" altLang="en-US" sz="1800">
                <a:latin typeface="游ゴシック Medium" panose="020B0500000000000000" pitchFamily="50" charset="-128"/>
                <a:ea typeface="游ゴシック Medium" panose="020B0500000000000000" pitchFamily="50" charset="-128"/>
              </a:rPr>
              <a:t>要員</a:t>
            </a:r>
            <a:r>
              <a:rPr kumimoji="0" lang="en-US" altLang="ja-JP" sz="1800">
                <a:latin typeface="游ゴシック Medium" panose="020B0500000000000000" pitchFamily="50" charset="-128"/>
                <a:ea typeface="游ゴシック Medium" panose="020B0500000000000000" pitchFamily="50" charset="-128"/>
              </a:rPr>
              <a:t>/</a:t>
            </a:r>
            <a:r>
              <a:rPr kumimoji="0" lang="ja-JP" altLang="en-US" sz="1800">
                <a:latin typeface="游ゴシック Medium" panose="020B0500000000000000" pitchFamily="50" charset="-128"/>
                <a:ea typeface="游ゴシック Medium" panose="020B0500000000000000" pitchFamily="50" charset="-128"/>
              </a:rPr>
              <a:t>案件マッチングのプラットフォームとなることができれば、様々な展開が狙える</a:t>
            </a:r>
            <a:endParaRPr kumimoji="0" lang="en-US" altLang="ja-JP" sz="1800">
              <a:latin typeface="游ゴシック Medium" panose="020B0500000000000000" pitchFamily="50" charset="-128"/>
              <a:ea typeface="游ゴシック Medium" panose="020B0500000000000000" pitchFamily="50" charset="-128"/>
            </a:endParaRPr>
          </a:p>
          <a:p>
            <a:pPr marL="0" indent="0">
              <a:buFont typeface="Arial" panose="020B0604020202020204" pitchFamily="34" charset="0"/>
              <a:buNone/>
            </a:pPr>
            <a:endParaRPr kumimoji="0" lang="en-US" altLang="ja-JP" sz="1800">
              <a:latin typeface="游ゴシック Medium" panose="020B0500000000000000" pitchFamily="50" charset="-128"/>
              <a:ea typeface="游ゴシック Medium" panose="020B0500000000000000" pitchFamily="50" charset="-128"/>
            </a:endParaRPr>
          </a:p>
          <a:p>
            <a:r>
              <a:rPr kumimoji="0" lang="ja-JP" altLang="en-US" sz="1800">
                <a:latin typeface="游ゴシック Medium" panose="020B0500000000000000" pitchFamily="50" charset="-128"/>
                <a:ea typeface="游ゴシック Medium" panose="020B0500000000000000" pitchFamily="50" charset="-128"/>
              </a:rPr>
              <a:t>事務処理の簡略化</a:t>
            </a:r>
            <a:endParaRPr kumimoji="0" lang="en-US" altLang="ja-JP" sz="1800">
              <a:latin typeface="游ゴシック Medium" panose="020B0500000000000000" pitchFamily="50" charset="-128"/>
              <a:ea typeface="游ゴシック Medium" panose="020B0500000000000000" pitchFamily="50" charset="-128"/>
            </a:endParaRPr>
          </a:p>
          <a:p>
            <a:pPr lvl="1"/>
            <a:r>
              <a:rPr kumimoji="0" lang="ja-JP" altLang="en-US" sz="1600">
                <a:latin typeface="游ゴシック Medium" panose="020B0500000000000000" pitchFamily="50" charset="-128"/>
                <a:ea typeface="游ゴシック Medium" panose="020B0500000000000000" pitchFamily="50" charset="-128"/>
              </a:rPr>
              <a:t>契約書の処理：案件契約の全てのやり取りを一元化する</a:t>
            </a:r>
            <a:endParaRPr kumimoji="0" lang="en-US" altLang="ja-JP" sz="1600">
              <a:latin typeface="游ゴシック Medium" panose="020B0500000000000000" pitchFamily="50" charset="-128"/>
              <a:ea typeface="游ゴシック Medium" panose="020B0500000000000000" pitchFamily="50" charset="-128"/>
            </a:endParaRPr>
          </a:p>
          <a:p>
            <a:pPr lvl="1"/>
            <a:r>
              <a:rPr kumimoji="0" lang="ja-JP" altLang="en-US" sz="1600">
                <a:latin typeface="游ゴシック Medium" panose="020B0500000000000000" pitchFamily="50" charset="-128"/>
                <a:ea typeface="游ゴシック Medium" panose="020B0500000000000000" pitchFamily="50" charset="-128"/>
              </a:rPr>
              <a:t>要員の勤怠管理：複数枚の勤務表や稼働記録が必要な場合があるが、それを一元化する</a:t>
            </a:r>
            <a:endParaRPr kumimoji="0" lang="en-US" altLang="ja-JP" sz="1600">
              <a:latin typeface="游ゴシック Medium" panose="020B0500000000000000" pitchFamily="50" charset="-128"/>
              <a:ea typeface="游ゴシック Medium" panose="020B0500000000000000" pitchFamily="50" charset="-128"/>
            </a:endParaRPr>
          </a:p>
          <a:p>
            <a:endParaRPr kumimoji="0" lang="en-US" altLang="ja-JP" sz="1800">
              <a:latin typeface="游ゴシック Medium" panose="020B0500000000000000" pitchFamily="50" charset="-128"/>
              <a:ea typeface="游ゴシック Medium" panose="020B0500000000000000" pitchFamily="50" charset="-128"/>
            </a:endParaRPr>
          </a:p>
          <a:p>
            <a:r>
              <a:rPr kumimoji="0" lang="ja-JP" altLang="en-US" sz="1800">
                <a:latin typeface="游ゴシック Medium" panose="020B0500000000000000" pitchFamily="50" charset="-128"/>
                <a:ea typeface="游ゴシック Medium" panose="020B0500000000000000" pitchFamily="50" charset="-128"/>
              </a:rPr>
              <a:t>利用者の依存度を上げる機能</a:t>
            </a:r>
            <a:endParaRPr kumimoji="0" lang="en-US" altLang="ja-JP" sz="1800">
              <a:latin typeface="游ゴシック Medium" panose="020B0500000000000000" pitchFamily="50" charset="-128"/>
              <a:ea typeface="游ゴシック Medium" panose="020B0500000000000000" pitchFamily="50" charset="-128"/>
            </a:endParaRPr>
          </a:p>
          <a:p>
            <a:pPr lvl="1"/>
            <a:r>
              <a:rPr kumimoji="0" lang="ja-JP" altLang="en-US" sz="1600">
                <a:latin typeface="游ゴシック Medium" panose="020B0500000000000000" pitchFamily="50" charset="-128"/>
                <a:ea typeface="游ゴシック Medium" panose="020B0500000000000000" pitchFamily="50" charset="-128"/>
              </a:rPr>
              <a:t>要員</a:t>
            </a:r>
            <a:r>
              <a:rPr kumimoji="0" lang="en-US" altLang="ja-JP" sz="1600">
                <a:latin typeface="游ゴシック Medium" panose="020B0500000000000000" pitchFamily="50" charset="-128"/>
                <a:ea typeface="游ゴシック Medium" panose="020B0500000000000000" pitchFamily="50" charset="-128"/>
              </a:rPr>
              <a:t>/</a:t>
            </a:r>
            <a:r>
              <a:rPr kumimoji="0" lang="ja-JP" altLang="en-US" sz="1600">
                <a:latin typeface="游ゴシック Medium" panose="020B0500000000000000" pitchFamily="50" charset="-128"/>
                <a:ea typeface="游ゴシック Medium" panose="020B0500000000000000" pitchFamily="50" charset="-128"/>
              </a:rPr>
              <a:t>案件の評価機能：金額交渉の根拠などに利用される想定</a:t>
            </a:r>
            <a:endParaRPr kumimoji="0" lang="en-US" altLang="ja-JP" sz="1600">
              <a:latin typeface="游ゴシック Medium" panose="020B0500000000000000" pitchFamily="50" charset="-128"/>
              <a:ea typeface="游ゴシック Medium" panose="020B0500000000000000" pitchFamily="50" charset="-128"/>
            </a:endParaRPr>
          </a:p>
          <a:p>
            <a:pPr lvl="1"/>
            <a:r>
              <a:rPr kumimoji="0" lang="ja-JP" altLang="en-US" sz="1600">
                <a:latin typeface="游ゴシック Medium" panose="020B0500000000000000" pitchFamily="50" charset="-128"/>
                <a:ea typeface="游ゴシック Medium" panose="020B0500000000000000" pitchFamily="50" charset="-128"/>
              </a:rPr>
              <a:t>案件参画の保証：今まで参画した案件情報がシステム的に残る。経歴詐称の防止となる</a:t>
            </a:r>
            <a:endParaRPr kumimoji="0" lang="en-US" altLang="ja-JP" sz="1600">
              <a:latin typeface="游ゴシック Medium" panose="020B0500000000000000" pitchFamily="50" charset="-128"/>
              <a:ea typeface="游ゴシック Medium" panose="020B0500000000000000" pitchFamily="50" charset="-128"/>
            </a:endParaRPr>
          </a:p>
          <a:p>
            <a:pPr lvl="1"/>
            <a:endParaRPr kumimoji="0" lang="en-US" altLang="ja-JP" sz="1600">
              <a:latin typeface="游ゴシック Medium" panose="020B0500000000000000" pitchFamily="50" charset="-128"/>
              <a:ea typeface="游ゴシック Medium" panose="020B0500000000000000" pitchFamily="50" charset="-128"/>
            </a:endParaRPr>
          </a:p>
          <a:p>
            <a:r>
              <a:rPr kumimoji="0" lang="en-US" altLang="ja-JP" sz="1800">
                <a:latin typeface="游ゴシック Medium"/>
                <a:ea typeface="游ゴシック Medium"/>
              </a:rPr>
              <a:t>AI</a:t>
            </a:r>
            <a:r>
              <a:rPr kumimoji="0" lang="ja-JP" altLang="en-US" sz="1800">
                <a:latin typeface="游ゴシック Medium"/>
                <a:ea typeface="游ゴシック Medium"/>
              </a:rPr>
              <a:t>によるビッグデータ活用</a:t>
            </a:r>
            <a:endParaRPr kumimoji="0" lang="en-US" altLang="ja-JP" sz="1800">
              <a:latin typeface="游ゴシック Medium"/>
              <a:ea typeface="游ゴシック Medium"/>
            </a:endParaRPr>
          </a:p>
          <a:p>
            <a:pPr lvl="1"/>
            <a:r>
              <a:rPr kumimoji="0" lang="en-US" altLang="ja-JP" sz="1600">
                <a:latin typeface="游ゴシック Medium" panose="020B0500000000000000" pitchFamily="50" charset="-128"/>
                <a:ea typeface="游ゴシック Medium" panose="020B0500000000000000" pitchFamily="50" charset="-128"/>
              </a:rPr>
              <a:t>AI</a:t>
            </a:r>
            <a:r>
              <a:rPr kumimoji="0" lang="ja-JP" altLang="en-US" sz="1600">
                <a:latin typeface="游ゴシック Medium" panose="020B0500000000000000" pitchFamily="50" charset="-128"/>
                <a:ea typeface="游ゴシック Medium" panose="020B0500000000000000" pitchFamily="50" charset="-128"/>
              </a:rPr>
              <a:t>による自動マッチング：実現できれば</a:t>
            </a:r>
            <a:r>
              <a:rPr kumimoji="0" lang="en-US" altLang="ja-JP" sz="1600">
                <a:latin typeface="游ゴシック Medium" panose="020B0500000000000000" pitchFamily="50" charset="-128"/>
                <a:ea typeface="游ゴシック Medium" panose="020B0500000000000000" pitchFamily="50" charset="-128"/>
              </a:rPr>
              <a:t>SES</a:t>
            </a:r>
            <a:r>
              <a:rPr kumimoji="0" lang="ja-JP" altLang="en-US" sz="1600">
                <a:latin typeface="游ゴシック Medium" panose="020B0500000000000000" pitchFamily="50" charset="-128"/>
                <a:ea typeface="游ゴシック Medium" panose="020B0500000000000000" pitchFamily="50" charset="-128"/>
              </a:rPr>
              <a:t>営業を完全に代替できる</a:t>
            </a:r>
            <a:endParaRPr kumimoji="0" lang="en-US" altLang="ja-JP" sz="1600">
              <a:latin typeface="游ゴシック Medium" panose="020B0500000000000000" pitchFamily="50" charset="-128"/>
              <a:ea typeface="游ゴシック Medium" panose="020B0500000000000000" pitchFamily="50" charset="-128"/>
            </a:endParaRPr>
          </a:p>
          <a:p>
            <a:pPr lvl="1"/>
            <a:r>
              <a:rPr kumimoji="0" lang="ja-JP" altLang="en-US" sz="1600">
                <a:latin typeface="游ゴシック Medium" panose="020B0500000000000000" pitchFamily="50" charset="-128"/>
                <a:ea typeface="游ゴシック Medium" panose="020B0500000000000000" pitchFamily="50" charset="-128"/>
              </a:rPr>
              <a:t>案件</a:t>
            </a:r>
            <a:r>
              <a:rPr kumimoji="0" lang="en-US" altLang="ja-JP" sz="1600">
                <a:latin typeface="游ゴシック Medium" panose="020B0500000000000000" pitchFamily="50" charset="-128"/>
                <a:ea typeface="游ゴシック Medium" panose="020B0500000000000000" pitchFamily="50" charset="-128"/>
              </a:rPr>
              <a:t>/</a:t>
            </a:r>
            <a:r>
              <a:rPr kumimoji="0" lang="ja-JP" altLang="en-US" sz="1600">
                <a:latin typeface="游ゴシック Medium" panose="020B0500000000000000" pitchFamily="50" charset="-128"/>
                <a:ea typeface="游ゴシック Medium" panose="020B0500000000000000" pitchFamily="50" charset="-128"/>
              </a:rPr>
              <a:t>要員の市場予測：上流案件の動きなどから募集や要員放出のタイミングが予測でき</a:t>
            </a:r>
            <a:r>
              <a:rPr kumimoji="0" lang="en-US" altLang="ja-JP" sz="1600">
                <a:latin typeface="游ゴシック Medium" panose="020B0500000000000000" pitchFamily="50" charset="-128"/>
                <a:ea typeface="游ゴシック Medium" panose="020B0500000000000000" pitchFamily="50" charset="-128"/>
              </a:rPr>
              <a:t>SS</a:t>
            </a:r>
            <a:r>
              <a:rPr kumimoji="0" lang="ja-JP" altLang="en-US" sz="1600">
                <a:latin typeface="游ゴシック Medium" panose="020B0500000000000000" pitchFamily="50" charset="-128"/>
                <a:ea typeface="游ゴシック Medium" panose="020B0500000000000000" pitchFamily="50" charset="-128"/>
              </a:rPr>
              <a:t>本部に活用できる</a:t>
            </a:r>
            <a:endParaRPr kumimoji="0" lang="en-US" altLang="ja-JP" sz="160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1038587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9DA26-2AF6-A903-729A-708AD8B8C2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36BF91-6E64-F9EC-93D0-0385081E04F0}"/>
              </a:ext>
            </a:extLst>
          </p:cNvPr>
          <p:cNvSpPr>
            <a:spLocks noGrp="1"/>
          </p:cNvSpPr>
          <p:nvPr>
            <p:ph type="title"/>
          </p:nvPr>
        </p:nvSpPr>
        <p:spPr/>
        <p:txBody>
          <a:bodyPr/>
          <a:lstStyle/>
          <a:p>
            <a:r>
              <a:rPr lang="ja-JP" altLang="en-US"/>
              <a:t>競合について</a:t>
            </a:r>
            <a:endParaRPr kumimoji="1" lang="ja-JP" altLang="en-US"/>
          </a:p>
        </p:txBody>
      </p:sp>
      <p:sp>
        <p:nvSpPr>
          <p:cNvPr id="3" name="コンテンツ プレースホルダー 2">
            <a:extLst>
              <a:ext uri="{FF2B5EF4-FFF2-40B4-BE49-F238E27FC236}">
                <a16:creationId xmlns:a16="http://schemas.microsoft.com/office/drawing/2014/main" id="{2D553A73-F5B8-36BA-A763-C100F1E1DA3B}"/>
              </a:ext>
            </a:extLst>
          </p:cNvPr>
          <p:cNvSpPr>
            <a:spLocks noGrp="1"/>
          </p:cNvSpPr>
          <p:nvPr>
            <p:ph idx="1"/>
          </p:nvPr>
        </p:nvSpPr>
        <p:spPr>
          <a:xfrm>
            <a:off x="406400" y="1403375"/>
            <a:ext cx="11275525" cy="5049627"/>
          </a:xfrm>
        </p:spPr>
        <p:txBody>
          <a:bodyPr vert="horz" lIns="91440" tIns="45720" rIns="91440" bIns="45720" rtlCol="0" anchor="t">
            <a:normAutofit fontScale="92500" lnSpcReduction="10000"/>
          </a:bodyPr>
          <a:lstStyle/>
          <a:p>
            <a:pPr marL="0" indent="0">
              <a:buNone/>
            </a:pPr>
            <a:r>
              <a:rPr lang="ja-JP" altLang="en-US" sz="1600"/>
              <a:t>同じコンセプトの製品はいくつか存在するが、一般化はしていない</a:t>
            </a:r>
          </a:p>
          <a:p>
            <a:pPr marL="0" indent="0">
              <a:buNone/>
            </a:pPr>
            <a:r>
              <a:rPr lang="ja-JP" altLang="en-US" sz="1600"/>
              <a:t>自社の要員管理しかできない </a:t>
            </a:r>
            <a:r>
              <a:rPr lang="en-US" altLang="ja-JP" sz="1600"/>
              <a:t>or </a:t>
            </a:r>
            <a:r>
              <a:rPr lang="ja-JP" altLang="en-US" sz="1600"/>
              <a:t>ダイレクトマッチング機能</a:t>
            </a:r>
            <a:r>
              <a:rPr lang="en-US" altLang="ja-JP" sz="1600"/>
              <a:t>(</a:t>
            </a:r>
            <a:r>
              <a:rPr lang="ja-JP" altLang="en-US" sz="1600"/>
              <a:t>多重請負ができない</a:t>
            </a:r>
            <a:r>
              <a:rPr lang="en-US" altLang="ja-JP" sz="1600"/>
              <a:t>)</a:t>
            </a:r>
            <a:r>
              <a:rPr lang="ja-JP" altLang="en-US" sz="1600"/>
              <a:t>しか提供していないためと思われる。</a:t>
            </a:r>
          </a:p>
          <a:p>
            <a:pPr marL="0" indent="0">
              <a:buNone/>
            </a:pPr>
            <a:r>
              <a:rPr lang="ja-JP" altLang="en-US" sz="1600"/>
              <a:t>そのため</a:t>
            </a:r>
            <a:r>
              <a:rPr lang="ja-JP" altLang="en-US" sz="1600" b="1" u="sng"/>
              <a:t>相互フォローでの協力要員検索機能</a:t>
            </a:r>
            <a:r>
              <a:rPr lang="ja-JP" altLang="en-US" sz="1600"/>
              <a:t>で差別化を図り他のツールにはない価値提供を行う</a:t>
            </a:r>
            <a:endParaRPr lang="en-US" altLang="ja-JP" sz="1600"/>
          </a:p>
          <a:p>
            <a:pPr marL="0" indent="0">
              <a:buNone/>
            </a:pPr>
            <a:endParaRPr lang="ja-JP" altLang="en-US" sz="1600">
              <a:ea typeface="+mn-lt"/>
              <a:cs typeface="+mn-lt"/>
            </a:endParaRPr>
          </a:p>
          <a:p>
            <a:pPr marL="0" indent="0">
              <a:buNone/>
            </a:pPr>
            <a:r>
              <a:rPr lang="ja-JP" altLang="en-US" sz="1600" u="sng">
                <a:ea typeface="+mn-lt"/>
                <a:cs typeface="+mn-lt"/>
              </a:rPr>
              <a:t>以下競合プロダクト</a:t>
            </a:r>
          </a:p>
          <a:p>
            <a:pPr marL="0" indent="0">
              <a:buNone/>
            </a:pPr>
            <a:r>
              <a:rPr lang="en-US" altLang="ja-JP" sz="1600">
                <a:ea typeface="+mn-lt"/>
                <a:cs typeface="+mn-lt"/>
                <a:hlinkClick r:id="rId2"/>
              </a:rPr>
              <a:t>【</a:t>
            </a:r>
            <a:r>
              <a:rPr lang="ja-JP" altLang="en-US" sz="1600">
                <a:ea typeface="+mn-lt"/>
                <a:cs typeface="+mn-lt"/>
                <a:hlinkClick r:id="rId2"/>
              </a:rPr>
              <a:t>公式</a:t>
            </a:r>
            <a:r>
              <a:rPr lang="en-US" altLang="ja-JP" sz="1600">
                <a:ea typeface="+mn-lt"/>
                <a:cs typeface="+mn-lt"/>
                <a:hlinkClick r:id="rId2"/>
              </a:rPr>
              <a:t>】Q</a:t>
            </a:r>
            <a:r>
              <a:rPr lang="ja-JP" sz="1600">
                <a:ea typeface="+mn-lt"/>
                <a:cs typeface="+mn-lt"/>
                <a:hlinkClick r:id="rId2"/>
              </a:rPr>
              <a:t>oala</a:t>
            </a:r>
            <a:r>
              <a:rPr lang="en-US" altLang="ja-JP" sz="1600">
                <a:ea typeface="+mn-lt"/>
                <a:cs typeface="+mn-lt"/>
                <a:hlinkClick r:id="rId2"/>
              </a:rPr>
              <a:t>(</a:t>
            </a:r>
            <a:r>
              <a:rPr lang="ja-JP" altLang="en-US" sz="1600">
                <a:ea typeface="+mn-lt"/>
                <a:cs typeface="+mn-lt"/>
                <a:hlinkClick r:id="rId2"/>
              </a:rPr>
              <a:t>コアラ</a:t>
            </a:r>
            <a:r>
              <a:rPr lang="en-US" altLang="ja-JP" sz="1600">
                <a:ea typeface="+mn-lt"/>
                <a:cs typeface="+mn-lt"/>
                <a:hlinkClick r:id="rId2"/>
              </a:rPr>
              <a:t>)</a:t>
            </a:r>
            <a:r>
              <a:rPr lang="ja-JP" altLang="en-US" sz="1600">
                <a:ea typeface="+mn-lt"/>
                <a:cs typeface="+mn-lt"/>
                <a:hlinkClick r:id="rId2"/>
              </a:rPr>
              <a:t>｜</a:t>
            </a:r>
            <a:r>
              <a:rPr lang="en-US" altLang="ja-JP" sz="1600">
                <a:ea typeface="+mn-lt"/>
                <a:cs typeface="+mn-lt"/>
                <a:hlinkClick r:id="rId2"/>
              </a:rPr>
              <a:t>SES</a:t>
            </a:r>
            <a:r>
              <a:rPr lang="ja-JP" altLang="en-US" sz="1600">
                <a:ea typeface="+mn-lt"/>
                <a:cs typeface="+mn-lt"/>
                <a:hlinkClick r:id="rId2"/>
              </a:rPr>
              <a:t>営業のためのマッチング</a:t>
            </a:r>
            <a:r>
              <a:rPr lang="en-US" altLang="ja-JP" sz="1600">
                <a:ea typeface="+mn-lt"/>
                <a:cs typeface="+mn-lt"/>
                <a:hlinkClick r:id="rId2"/>
              </a:rPr>
              <a:t>AI</a:t>
            </a:r>
            <a:endParaRPr lang="ja-JP" altLang="en-US" sz="1600">
              <a:ea typeface="+mn-lt"/>
              <a:cs typeface="+mn-lt"/>
            </a:endParaRPr>
          </a:p>
          <a:p>
            <a:pPr marL="0" indent="0">
              <a:buNone/>
            </a:pPr>
            <a:r>
              <a:rPr lang="ja-JP" altLang="en-US" sz="1600">
                <a:ea typeface="+mn-lt"/>
                <a:cs typeface="+mn-lt"/>
                <a:hlinkClick r:id="rId3"/>
              </a:rPr>
              <a:t>ようかん</a:t>
            </a:r>
            <a:r>
              <a:rPr lang="en-US" sz="1600">
                <a:ea typeface="+mn-lt"/>
                <a:cs typeface="+mn-lt"/>
                <a:hlinkClick r:id="rId3"/>
              </a:rPr>
              <a:t> – SES</a:t>
            </a:r>
            <a:r>
              <a:rPr lang="ja-JP" altLang="en-US" sz="1600">
                <a:ea typeface="+mn-lt"/>
                <a:cs typeface="+mn-lt"/>
                <a:hlinkClick r:id="rId3"/>
              </a:rPr>
              <a:t>営業必見！クラウド要員管理アプリ「ようかん</a:t>
            </a:r>
            <a:r>
              <a:rPr lang="en-US" sz="1600">
                <a:ea typeface="+mn-lt"/>
                <a:cs typeface="+mn-lt"/>
                <a:hlinkClick r:id="rId3"/>
              </a:rPr>
              <a:t>」</a:t>
            </a:r>
            <a:endParaRPr lang="en-US" sz="1600">
              <a:ea typeface="+mn-lt"/>
              <a:cs typeface="+mn-lt"/>
            </a:endParaRPr>
          </a:p>
          <a:p>
            <a:pPr marL="0" indent="0">
              <a:buNone/>
            </a:pPr>
            <a:r>
              <a:rPr lang="ja-JP" altLang="en-US" sz="1600">
                <a:ea typeface="+mn-lt"/>
                <a:cs typeface="+mn-lt"/>
                <a:hlinkClick r:id="rId4"/>
              </a:rPr>
              <a:t>要員稼働表</a:t>
            </a:r>
            <a:r>
              <a:rPr lang="en-US" sz="1600">
                <a:ea typeface="+mn-lt"/>
                <a:cs typeface="+mn-lt"/>
                <a:hlinkClick r:id="rId4"/>
              </a:rPr>
              <a:t>｜SES</a:t>
            </a:r>
            <a:r>
              <a:rPr lang="ja-JP" altLang="en-US" sz="1600">
                <a:ea typeface="+mn-lt"/>
                <a:cs typeface="+mn-lt"/>
                <a:hlinkClick r:id="rId4"/>
              </a:rPr>
              <a:t>コンパス</a:t>
            </a:r>
            <a:endParaRPr lang="en-US" altLang="ja-JP" sz="1600"/>
          </a:p>
          <a:p>
            <a:pPr marL="0" indent="0">
              <a:buNone/>
            </a:pPr>
            <a:r>
              <a:rPr lang="ja-JP" altLang="en-US" sz="1600">
                <a:ea typeface="+mn-lt"/>
                <a:cs typeface="+mn-lt"/>
                <a:hlinkClick r:id="rId5"/>
              </a:rPr>
              <a:t>スキル管理・アサイン管理支援ツール </a:t>
            </a:r>
            <a:r>
              <a:rPr lang="ja-JP" sz="1600">
                <a:ea typeface="+mn-lt"/>
                <a:cs typeface="+mn-lt"/>
                <a:hlinkClick r:id="rId5"/>
              </a:rPr>
              <a:t>fapi</a:t>
            </a:r>
            <a:endParaRPr lang="ja-JP" sz="1600"/>
          </a:p>
          <a:p>
            <a:pPr marL="0" indent="0">
              <a:buNone/>
            </a:pPr>
            <a:r>
              <a:rPr lang="en-US" altLang="ja-JP" sz="1600">
                <a:ea typeface="+mn-lt"/>
                <a:cs typeface="+mn-lt"/>
                <a:hlinkClick r:id="rId6"/>
              </a:rPr>
              <a:t>【</a:t>
            </a:r>
            <a:r>
              <a:rPr lang="ja-JP" altLang="en-US" sz="1600">
                <a:ea typeface="+mn-lt"/>
                <a:cs typeface="+mn-lt"/>
                <a:hlinkClick r:id="rId6"/>
              </a:rPr>
              <a:t>コモレビ</a:t>
            </a:r>
            <a:r>
              <a:rPr lang="en-US" altLang="ja-JP" sz="1600">
                <a:ea typeface="+mn-lt"/>
                <a:cs typeface="+mn-lt"/>
                <a:hlinkClick r:id="rId6"/>
              </a:rPr>
              <a:t>】SES</a:t>
            </a:r>
            <a:r>
              <a:rPr lang="ja-JP" altLang="en-US" sz="1600">
                <a:ea typeface="+mn-lt"/>
                <a:cs typeface="+mn-lt"/>
                <a:hlinkClick r:id="rId6"/>
              </a:rPr>
              <a:t>事業者のための営業支援ツール</a:t>
            </a:r>
            <a:endParaRPr lang="ja-JP" sz="1600"/>
          </a:p>
          <a:p>
            <a:pPr marL="0" indent="0">
              <a:buNone/>
            </a:pPr>
            <a:r>
              <a:rPr lang="en-US" altLang="ja-JP" sz="1600">
                <a:ea typeface="+mn-lt"/>
                <a:cs typeface="+mn-lt"/>
                <a:hlinkClick r:id="rId7"/>
              </a:rPr>
              <a:t>SES</a:t>
            </a:r>
            <a:r>
              <a:rPr lang="ja-JP" altLang="en-US" sz="1600">
                <a:ea typeface="+mn-lt"/>
                <a:cs typeface="+mn-lt"/>
                <a:hlinkClick r:id="rId7"/>
              </a:rPr>
              <a:t>営業向け 自動化マッチングソリューション</a:t>
            </a:r>
            <a:endParaRPr lang="ja-JP" sz="1600"/>
          </a:p>
          <a:p>
            <a:pPr marL="0" indent="0">
              <a:buNone/>
            </a:pPr>
            <a:r>
              <a:rPr lang="en-US" altLang="ja-JP" sz="1600">
                <a:ea typeface="+mn-lt"/>
                <a:cs typeface="+mn-lt"/>
                <a:hlinkClick r:id="rId8"/>
              </a:rPr>
              <a:t>SESA</a:t>
            </a:r>
            <a:r>
              <a:rPr lang="ja-JP" sz="1600">
                <a:ea typeface="+mn-lt"/>
                <a:cs typeface="+mn-lt"/>
                <a:hlinkClick r:id="rId8"/>
              </a:rPr>
              <a:t>i</a:t>
            </a:r>
            <a:r>
              <a:rPr lang="en-US" altLang="ja-JP" sz="1600">
                <a:ea typeface="+mn-lt"/>
                <a:cs typeface="+mn-lt"/>
                <a:hlinkClick r:id="rId8"/>
              </a:rPr>
              <a:t>(</a:t>
            </a:r>
            <a:r>
              <a:rPr lang="ja-JP" altLang="en-US" sz="1600">
                <a:ea typeface="+mn-lt"/>
                <a:cs typeface="+mn-lt"/>
                <a:hlinkClick r:id="rId8"/>
              </a:rPr>
              <a:t>セスアイ</a:t>
            </a:r>
            <a:r>
              <a:rPr lang="en-US" altLang="ja-JP" sz="1600">
                <a:ea typeface="+mn-lt"/>
                <a:cs typeface="+mn-lt"/>
                <a:hlinkClick r:id="rId8"/>
              </a:rPr>
              <a:t>)</a:t>
            </a:r>
            <a:r>
              <a:rPr lang="ja-JP" altLang="en-US" sz="1600">
                <a:ea typeface="+mn-lt"/>
                <a:cs typeface="+mn-lt"/>
                <a:hlinkClick r:id="rId8"/>
              </a:rPr>
              <a:t> </a:t>
            </a:r>
            <a:r>
              <a:rPr lang="en-US" altLang="ja-JP" sz="1600">
                <a:ea typeface="+mn-lt"/>
                <a:cs typeface="+mn-lt"/>
                <a:hlinkClick r:id="rId8"/>
              </a:rPr>
              <a:t>|</a:t>
            </a:r>
            <a:r>
              <a:rPr lang="ja-JP" altLang="en-US" sz="1600">
                <a:ea typeface="+mn-lt"/>
                <a:cs typeface="+mn-lt"/>
                <a:hlinkClick r:id="rId8"/>
              </a:rPr>
              <a:t> 生成</a:t>
            </a:r>
            <a:r>
              <a:rPr lang="en-US" altLang="ja-JP" sz="1600">
                <a:ea typeface="+mn-lt"/>
                <a:cs typeface="+mn-lt"/>
                <a:hlinkClick r:id="rId8"/>
              </a:rPr>
              <a:t>AI</a:t>
            </a:r>
            <a:r>
              <a:rPr lang="ja-JP" altLang="en-US" sz="1600">
                <a:ea typeface="+mn-lt"/>
                <a:cs typeface="+mn-lt"/>
                <a:hlinkClick r:id="rId8"/>
              </a:rPr>
              <a:t>が</a:t>
            </a:r>
            <a:r>
              <a:rPr lang="en-US" altLang="ja-JP" sz="1600">
                <a:ea typeface="+mn-lt"/>
                <a:cs typeface="+mn-lt"/>
                <a:hlinkClick r:id="rId8"/>
              </a:rPr>
              <a:t>SES</a:t>
            </a:r>
            <a:r>
              <a:rPr lang="ja-JP" altLang="en-US" sz="1600">
                <a:ea typeface="+mn-lt"/>
                <a:cs typeface="+mn-lt"/>
                <a:hlinkClick r:id="rId8"/>
              </a:rPr>
              <a:t>営業の一括管理を支援</a:t>
            </a:r>
            <a:endParaRPr lang="en-US" altLang="ja-JP" sz="1600">
              <a:ea typeface="+mn-lt"/>
              <a:cs typeface="+mn-lt"/>
            </a:endParaRPr>
          </a:p>
          <a:p>
            <a:pPr marL="0" indent="0">
              <a:buNone/>
            </a:pPr>
            <a:r>
              <a:rPr lang="ja-JP" altLang="en-US" sz="1600" u="sng">
                <a:hlinkClick r:id="rId9"/>
              </a:rPr>
              <a:t>中長期戦略 </a:t>
            </a:r>
            <a:r>
              <a:rPr lang="en-US" altLang="ja-JP" sz="1600" u="sng">
                <a:hlinkClick r:id="rId9"/>
              </a:rPr>
              <a:t>– </a:t>
            </a:r>
            <a:r>
              <a:rPr lang="ja-JP" altLang="en-US" sz="1600" u="sng">
                <a:hlinkClick r:id="rId9"/>
              </a:rPr>
              <a:t>株式会社 </a:t>
            </a:r>
            <a:r>
              <a:rPr lang="en-US" altLang="ja-JP" sz="1600" u="sng">
                <a:hlinkClick r:id="rId9"/>
              </a:rPr>
              <a:t>SHIFT</a:t>
            </a:r>
            <a:endParaRPr lang="en-US" altLang="ja-JP" sz="1600">
              <a:hlinkClick r:id="rId9"/>
            </a:endParaRPr>
          </a:p>
          <a:p>
            <a:pPr marL="0" indent="0">
              <a:buNone/>
            </a:pPr>
            <a:endParaRPr lang="ja-JP"/>
          </a:p>
        </p:txBody>
      </p:sp>
      <p:sp>
        <p:nvSpPr>
          <p:cNvPr id="4" name="日付プレースホルダー 3">
            <a:extLst>
              <a:ext uri="{FF2B5EF4-FFF2-40B4-BE49-F238E27FC236}">
                <a16:creationId xmlns:a16="http://schemas.microsoft.com/office/drawing/2014/main" id="{B7B3936F-1B89-99A4-0724-319AA6A1BD35}"/>
              </a:ext>
            </a:extLst>
          </p:cNvPr>
          <p:cNvSpPr>
            <a:spLocks noGrp="1"/>
          </p:cNvSpPr>
          <p:nvPr>
            <p:ph type="dt" sz="half" idx="10"/>
          </p:nvPr>
        </p:nvSpPr>
        <p:spPr/>
        <p:txBody>
          <a:bodyPr/>
          <a:lstStyle/>
          <a:p>
            <a:fld id="{77ACB191-FCF7-48A2-9BDE-D81B81F5CF5F}" type="datetime1">
              <a:rPr lang="ja-JP" altLang="en-US"/>
              <a:t>2026/3/9</a:t>
            </a:fld>
            <a:endParaRPr lang="en-US"/>
          </a:p>
        </p:txBody>
      </p:sp>
      <p:sp>
        <p:nvSpPr>
          <p:cNvPr id="5" name="フッター プレースホルダー 4">
            <a:extLst>
              <a:ext uri="{FF2B5EF4-FFF2-40B4-BE49-F238E27FC236}">
                <a16:creationId xmlns:a16="http://schemas.microsoft.com/office/drawing/2014/main" id="{76972A8C-FE4E-A483-D4A4-AC9C5F6ABDFA}"/>
              </a:ext>
            </a:extLst>
          </p:cNvPr>
          <p:cNvSpPr>
            <a:spLocks noGrp="1"/>
          </p:cNvSpPr>
          <p:nvPr>
            <p:ph type="ftr" sz="quarter" idx="11"/>
          </p:nvPr>
        </p:nvSpPr>
        <p:spPr/>
        <p:txBody>
          <a:bodyPr/>
          <a:lstStyle/>
          <a:p>
            <a:r>
              <a:rPr lang="en-US"/>
              <a:t>
              </a:t>
            </a:r>
          </a:p>
        </p:txBody>
      </p:sp>
      <p:sp>
        <p:nvSpPr>
          <p:cNvPr id="6" name="スライド番号プレースホルダー 5">
            <a:extLst>
              <a:ext uri="{FF2B5EF4-FFF2-40B4-BE49-F238E27FC236}">
                <a16:creationId xmlns:a16="http://schemas.microsoft.com/office/drawing/2014/main" id="{84AFCFA7-8A4D-1F3C-FFF2-D20C1F5C2884}"/>
              </a:ext>
            </a:extLst>
          </p:cNvPr>
          <p:cNvSpPr>
            <a:spLocks noGrp="1"/>
          </p:cNvSpPr>
          <p:nvPr>
            <p:ph type="sldNum" sz="quarter" idx="12"/>
          </p:nvPr>
        </p:nvSpPr>
        <p:spPr/>
        <p:txBody>
          <a:bodyPr/>
          <a:lstStyle/>
          <a:p>
            <a:fld id="{70C12960-6E85-460F-B6E3-5B82CB31AF3D}" type="slidenum">
              <a:rPr lang="en-US" dirty="0"/>
              <a:t>18</a:t>
            </a:fld>
            <a:endParaRPr lang="en-US"/>
          </a:p>
        </p:txBody>
      </p:sp>
      <p:pic>
        <p:nvPicPr>
          <p:cNvPr id="8" name="図 7" descr="グラフィカル ユーザー インターフェイス, テキスト, アプリケーション, メール&#10;&#10;AI 生成コンテンツは誤りを含む可能性があります。">
            <a:extLst>
              <a:ext uri="{FF2B5EF4-FFF2-40B4-BE49-F238E27FC236}">
                <a16:creationId xmlns:a16="http://schemas.microsoft.com/office/drawing/2014/main" id="{6A12CE8D-70D7-4E4B-7376-29434D6F1297}"/>
              </a:ext>
            </a:extLst>
          </p:cNvPr>
          <p:cNvPicPr>
            <a:picLocks noChangeAspect="1"/>
          </p:cNvPicPr>
          <p:nvPr/>
        </p:nvPicPr>
        <p:blipFill>
          <a:blip r:embed="rId10"/>
          <a:stretch>
            <a:fillRect/>
          </a:stretch>
        </p:blipFill>
        <p:spPr>
          <a:xfrm>
            <a:off x="6398873" y="4158674"/>
            <a:ext cx="5153743" cy="2062450"/>
          </a:xfrm>
          <a:prstGeom prst="rect">
            <a:avLst/>
          </a:prstGeom>
          <a:ln>
            <a:solidFill>
              <a:schemeClr val="bg1">
                <a:lumMod val="75000"/>
              </a:schemeClr>
            </a:solidFill>
          </a:ln>
        </p:spPr>
      </p:pic>
      <p:sp>
        <p:nvSpPr>
          <p:cNvPr id="9" name="テキスト ボックス 8">
            <a:extLst>
              <a:ext uri="{FF2B5EF4-FFF2-40B4-BE49-F238E27FC236}">
                <a16:creationId xmlns:a16="http://schemas.microsoft.com/office/drawing/2014/main" id="{BC200DA7-E251-B3E3-54EC-34D721857DE5}"/>
              </a:ext>
            </a:extLst>
          </p:cNvPr>
          <p:cNvSpPr txBox="1"/>
          <p:nvPr/>
        </p:nvSpPr>
        <p:spPr>
          <a:xfrm>
            <a:off x="6398873" y="3904758"/>
            <a:ext cx="1965603" cy="253916"/>
          </a:xfrm>
          <a:prstGeom prst="rect">
            <a:avLst/>
          </a:prstGeom>
          <a:noFill/>
        </p:spPr>
        <p:txBody>
          <a:bodyPr wrap="none" rtlCol="0">
            <a:spAutoFit/>
          </a:bodyPr>
          <a:lstStyle/>
          <a:p>
            <a:r>
              <a:rPr kumimoji="1" lang="ja-JP" altLang="en-US" sz="1050"/>
              <a:t>中長期戦略 </a:t>
            </a:r>
            <a:r>
              <a:rPr kumimoji="1" lang="en-US" altLang="ja-JP" sz="1050"/>
              <a:t>– </a:t>
            </a:r>
            <a:r>
              <a:rPr kumimoji="1" lang="ja-JP" altLang="en-US" sz="1050"/>
              <a:t>株式会社 </a:t>
            </a:r>
            <a:r>
              <a:rPr kumimoji="1" lang="en-US" altLang="ja-JP" sz="1050"/>
              <a:t>SHIFT</a:t>
            </a:r>
          </a:p>
        </p:txBody>
      </p:sp>
    </p:spTree>
    <p:extLst>
      <p:ext uri="{BB962C8B-B14F-4D97-AF65-F5344CB8AC3E}">
        <p14:creationId xmlns:p14="http://schemas.microsoft.com/office/powerpoint/2010/main" val="34360372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D99C2-BF70-0557-37DF-4E6E733DAC2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420447A-10D8-D4E4-274D-8AD8E0B7DA1E}"/>
              </a:ext>
            </a:extLst>
          </p:cNvPr>
          <p:cNvSpPr>
            <a:spLocks noGrp="1"/>
          </p:cNvSpPr>
          <p:nvPr>
            <p:ph type="title"/>
          </p:nvPr>
        </p:nvSpPr>
        <p:spPr/>
        <p:txBody>
          <a:bodyPr vert="horz" lIns="91440" tIns="45720" rIns="91440" bIns="45720" rtlCol="0" anchor="t">
            <a:normAutofit/>
          </a:bodyPr>
          <a:lstStyle/>
          <a:p>
            <a:r>
              <a:rPr lang="ja-JP" altLang="en-US"/>
              <a:t>補足：相互フォロー機能の調整について</a:t>
            </a:r>
          </a:p>
        </p:txBody>
      </p:sp>
      <p:sp>
        <p:nvSpPr>
          <p:cNvPr id="3" name="コンテンツ プレースホルダー 2">
            <a:extLst>
              <a:ext uri="{FF2B5EF4-FFF2-40B4-BE49-F238E27FC236}">
                <a16:creationId xmlns:a16="http://schemas.microsoft.com/office/drawing/2014/main" id="{411A00A7-8DD5-9F2D-AD8B-8C621319BBC7}"/>
              </a:ext>
            </a:extLst>
          </p:cNvPr>
          <p:cNvSpPr>
            <a:spLocks noGrp="1"/>
          </p:cNvSpPr>
          <p:nvPr>
            <p:ph idx="1"/>
          </p:nvPr>
        </p:nvSpPr>
        <p:spPr>
          <a:xfrm>
            <a:off x="612647" y="1687310"/>
            <a:ext cx="10654639" cy="4622050"/>
          </a:xfrm>
        </p:spPr>
        <p:txBody>
          <a:bodyPr vert="horz" lIns="91440" tIns="45720" rIns="91440" bIns="45720" rtlCol="0" anchor="t">
            <a:noAutofit/>
          </a:bodyPr>
          <a:lstStyle/>
          <a:p>
            <a:pPr>
              <a:buNone/>
            </a:pPr>
            <a:r>
              <a:rPr lang="en-US" altLang="ja-JP" sz="1600" err="1">
                <a:ea typeface="+mn-lt"/>
                <a:cs typeface="+mn-lt"/>
              </a:rPr>
              <a:t>フォロー機能について、いくつか法律上の問題があるため調整が必要</a:t>
            </a:r>
            <a:endParaRPr lang="ja-JP" sz="1600" err="1">
              <a:ea typeface="+mn-lt"/>
              <a:cs typeface="+mn-lt"/>
            </a:endParaRPr>
          </a:p>
          <a:p>
            <a:pPr marL="0" indent="0">
              <a:buNone/>
            </a:pPr>
            <a:r>
              <a:rPr lang="ja-JP" altLang="en-US" sz="1600" b="1" u="sng">
                <a:ea typeface="+mn-lt"/>
                <a:cs typeface="+mn-lt"/>
              </a:rPr>
              <a:t>個人情報について</a:t>
            </a:r>
          </a:p>
          <a:p>
            <a:pPr marL="0" indent="0">
              <a:buNone/>
            </a:pPr>
            <a:r>
              <a:rPr lang="ja-JP" altLang="en-US" sz="1600">
                <a:ea typeface="+mn-lt"/>
                <a:cs typeface="+mn-lt"/>
              </a:rPr>
              <a:t>名前はイニシャルで閲覧できるようにする配慮が必要</a:t>
            </a:r>
          </a:p>
          <a:p>
            <a:pPr marL="0" indent="0">
              <a:buNone/>
            </a:pPr>
            <a:r>
              <a:rPr lang="ja-JP" altLang="en-US" sz="1600" b="1" u="sng">
                <a:ea typeface="+mn-lt"/>
                <a:cs typeface="+mn-lt"/>
              </a:rPr>
              <a:t>特定個人の指定について</a:t>
            </a:r>
          </a:p>
          <a:p>
            <a:pPr marL="0" indent="0">
              <a:buNone/>
            </a:pPr>
            <a:r>
              <a:rPr lang="ja-JP" altLang="en-US" sz="1600">
                <a:ea typeface="+mn-lt"/>
                <a:cs typeface="+mn-lt"/>
              </a:rPr>
              <a:t>下請け会社のある要員を特定してオファーを行うと、派遣労働と見なされた上、派遣法に抵触する。</a:t>
            </a:r>
            <a:br>
              <a:rPr lang="ja-JP" altLang="en-US" sz="1600">
                <a:ea typeface="+mn-lt"/>
                <a:cs typeface="+mn-lt"/>
              </a:rPr>
            </a:br>
            <a:r>
              <a:rPr lang="ja-JP" altLang="en-US" sz="1600">
                <a:ea typeface="+mn-lt"/>
                <a:cs typeface="+mn-lt"/>
              </a:rPr>
              <a:t>相互フォローした時点で、要員の一次提案を行ったとする規約が必要があり、本プロダクトでも備える。</a:t>
            </a:r>
          </a:p>
          <a:p>
            <a:pPr marL="0" indent="0">
              <a:buNone/>
            </a:pPr>
            <a:r>
              <a:rPr lang="ja-JP" altLang="en-US" sz="1600" b="1" u="sng">
                <a:ea typeface="+mn-lt"/>
                <a:cs typeface="+mn-lt"/>
              </a:rPr>
              <a:t>2社先以上の要員について</a:t>
            </a:r>
          </a:p>
          <a:p>
            <a:pPr marL="0" indent="0">
              <a:buNone/>
            </a:pPr>
            <a:r>
              <a:rPr lang="ja-JP" sz="1600">
                <a:ea typeface="+mn-lt"/>
                <a:cs typeface="+mn-lt"/>
              </a:rPr>
              <a:t>2社先以上の要員＝</a:t>
            </a:r>
            <a:r>
              <a:rPr lang="ja-JP" altLang="en-US" sz="1600">
                <a:ea typeface="+mn-lt"/>
                <a:cs typeface="+mn-lt"/>
              </a:rPr>
              <a:t>フォロワーのフォロワーが検索できて良いのかという問題。無制限の許可は機密上問題。</a:t>
            </a:r>
            <a:br>
              <a:rPr lang="ja-JP" altLang="en-US" sz="1600">
                <a:ea typeface="+mn-lt"/>
                <a:cs typeface="+mn-lt"/>
              </a:rPr>
            </a:br>
            <a:r>
              <a:rPr lang="ja-JP" altLang="en-US" sz="1600">
                <a:ea typeface="+mn-lt"/>
                <a:cs typeface="+mn-lt"/>
              </a:rPr>
              <a:t>ユーザーによっては公開したくない場合もあるため、許可・拒否する設定が可能なようにする。</a:t>
            </a:r>
            <a:br>
              <a:rPr lang="ja-JP" altLang="en-US" sz="1600">
                <a:ea typeface="+mn-lt"/>
                <a:cs typeface="+mn-lt"/>
              </a:rPr>
            </a:br>
            <a:r>
              <a:rPr lang="ja-JP" altLang="en-US" sz="1600">
                <a:ea typeface="+mn-lt"/>
                <a:cs typeface="+mn-lt"/>
              </a:rPr>
              <a:t>ただし拒否しているユーザーへ案件情報がリーチできなくなるため、案件のポスト/リポスト機能で補う。</a:t>
            </a:r>
          </a:p>
          <a:p>
            <a:pPr marL="0" indent="0">
              <a:buNone/>
            </a:pPr>
            <a:r>
              <a:rPr lang="ja-JP" altLang="en-US" sz="1600" b="1" u="sng">
                <a:ea typeface="+mn-lt"/>
                <a:cs typeface="+mn-lt"/>
              </a:rPr>
              <a:t>ビジネスモデルについて</a:t>
            </a:r>
          </a:p>
          <a:p>
            <a:pPr marL="0" indent="0">
              <a:buNone/>
            </a:pPr>
            <a:r>
              <a:rPr lang="ja-JP" altLang="en-US" sz="1600">
                <a:ea typeface="+mn-lt"/>
                <a:cs typeface="+mn-lt"/>
              </a:rPr>
              <a:t>フォロワーの状況によって受け取れる価値が変わるため、ビジネスモデルの細かい調整が必要（まだ未検討）</a:t>
            </a:r>
          </a:p>
        </p:txBody>
      </p:sp>
      <p:sp>
        <p:nvSpPr>
          <p:cNvPr id="4" name="日付プレースホルダー 3">
            <a:extLst>
              <a:ext uri="{FF2B5EF4-FFF2-40B4-BE49-F238E27FC236}">
                <a16:creationId xmlns:a16="http://schemas.microsoft.com/office/drawing/2014/main" id="{8A132077-20EC-271E-5710-CEEB65E7412E}"/>
              </a:ext>
            </a:extLst>
          </p:cNvPr>
          <p:cNvSpPr>
            <a:spLocks noGrp="1"/>
          </p:cNvSpPr>
          <p:nvPr>
            <p:ph type="dt" sz="half" idx="10"/>
          </p:nvPr>
        </p:nvSpPr>
        <p:spPr/>
        <p:txBody>
          <a:bodyPr/>
          <a:lstStyle/>
          <a:p>
            <a:fld id="{77ACB191-FCF7-48A2-9BDE-D81B81F5CF5F}" type="datetime1">
              <a:rPr lang="ja-JP" altLang="en-US"/>
              <a:t>2026/3/9</a:t>
            </a:fld>
            <a:endParaRPr lang="en-US"/>
          </a:p>
        </p:txBody>
      </p:sp>
      <p:sp>
        <p:nvSpPr>
          <p:cNvPr id="5" name="フッター プレースホルダー 4">
            <a:extLst>
              <a:ext uri="{FF2B5EF4-FFF2-40B4-BE49-F238E27FC236}">
                <a16:creationId xmlns:a16="http://schemas.microsoft.com/office/drawing/2014/main" id="{BB4785AD-2ABD-6824-92BD-8B9635D2E7F5}"/>
              </a:ext>
            </a:extLst>
          </p:cNvPr>
          <p:cNvSpPr>
            <a:spLocks noGrp="1"/>
          </p:cNvSpPr>
          <p:nvPr>
            <p:ph type="ftr" sz="quarter" idx="11"/>
          </p:nvPr>
        </p:nvSpPr>
        <p:spPr/>
        <p:txBody>
          <a:bodyPr/>
          <a:lstStyle/>
          <a:p>
            <a:r>
              <a:rPr lang="en-US"/>
              <a:t>
              </a:t>
            </a:r>
          </a:p>
        </p:txBody>
      </p:sp>
      <p:sp>
        <p:nvSpPr>
          <p:cNvPr id="6" name="スライド番号プレースホルダー 5">
            <a:extLst>
              <a:ext uri="{FF2B5EF4-FFF2-40B4-BE49-F238E27FC236}">
                <a16:creationId xmlns:a16="http://schemas.microsoft.com/office/drawing/2014/main" id="{339474E7-B12B-778A-951B-EB5FC04B11C1}"/>
              </a:ext>
            </a:extLst>
          </p:cNvPr>
          <p:cNvSpPr>
            <a:spLocks noGrp="1"/>
          </p:cNvSpPr>
          <p:nvPr>
            <p:ph type="sldNum" sz="quarter" idx="12"/>
          </p:nvPr>
        </p:nvSpPr>
        <p:spPr/>
        <p:txBody>
          <a:bodyPr/>
          <a:lstStyle/>
          <a:p>
            <a:fld id="{70C12960-6E85-460F-B6E3-5B82CB31AF3D}" type="slidenum">
              <a:rPr lang="en-US" dirty="0"/>
              <a:t>19</a:t>
            </a:fld>
            <a:endParaRPr lang="en-US"/>
          </a:p>
        </p:txBody>
      </p:sp>
    </p:spTree>
    <p:extLst>
      <p:ext uri="{BB962C8B-B14F-4D97-AF65-F5344CB8AC3E}">
        <p14:creationId xmlns:p14="http://schemas.microsoft.com/office/powerpoint/2010/main" val="366083133"/>
      </p:ext>
    </p:extLst>
  </p:cSld>
  <p:clrMapOvr>
    <a:masterClrMapping/>
  </p:clrMapOvr>
</p:sld>
</file>

<file path=ppt/theme/theme1.xml><?xml version="1.0" encoding="utf-8"?>
<a:theme xmlns:a="http://schemas.openxmlformats.org/drawingml/2006/main" name="VanillaVTI">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9b437f7-49b0-443f-85ef-1b7e88532521">
      <Terms xmlns="http://schemas.microsoft.com/office/infopath/2007/PartnerControls"/>
    </lcf76f155ced4ddcb4097134ff3c332f>
    <TaxCatchAll xmlns="2e3c92ed-1b4d-4b36-b3fa-5c1489b24a61"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707383A61B225F4199D416C885286E67" ma:contentTypeVersion="14" ma:contentTypeDescription="新しいドキュメントを作成します。" ma:contentTypeScope="" ma:versionID="c71add32a529a1b0eab6f2489ef32923">
  <xsd:schema xmlns:xsd="http://www.w3.org/2001/XMLSchema" xmlns:xs="http://www.w3.org/2001/XMLSchema" xmlns:p="http://schemas.microsoft.com/office/2006/metadata/properties" xmlns:ns2="89b437f7-49b0-443f-85ef-1b7e88532521" xmlns:ns3="2e3c92ed-1b4d-4b36-b3fa-5c1489b24a61" targetNamespace="http://schemas.microsoft.com/office/2006/metadata/properties" ma:root="true" ma:fieldsID="52e05cda8ce4f6bfc58684b93cf3bd9c" ns2:_="" ns3:_="">
    <xsd:import namespace="89b437f7-49b0-443f-85ef-1b7e88532521"/>
    <xsd:import namespace="2e3c92ed-1b4d-4b36-b3fa-5c1489b24a6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9b437f7-49b0-443f-85ef-1b7e8853252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ObjectDetectorVersions" ma:index="1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lcf76f155ced4ddcb4097134ff3c332f" ma:index="17" nillable="true" ma:taxonomy="true" ma:internalName="lcf76f155ced4ddcb4097134ff3c332f" ma:taxonomyFieldName="MediaServiceImageTags" ma:displayName="画像タグ" ma:readOnly="false" ma:fieldId="{5cf76f15-5ced-4ddc-b409-7134ff3c332f}" ma:taxonomyMulti="true" ma:sspId="52680651-4dda-4eb1-af44-fd66753644d4" ma:termSetId="09814cd3-568e-fe90-9814-8d621ff8fb84" ma:anchorId="fba54fb3-c3e1-fe81-a776-ca4b69148c4d" ma:open="true" ma:isKeyword="false">
      <xsd:complexType>
        <xsd:sequence>
          <xsd:element ref="pc:Terms" minOccurs="0" maxOccurs="1"/>
        </xsd:sequence>
      </xsd:complexType>
    </xsd:element>
    <xsd:element name="MediaServiceDateTaken" ma:index="19" nillable="true" ma:displayName="MediaServiceDateTaken" ma:description="" ma:hidden="true" ma:indexed="true" ma:internalName="MediaServiceDateTaken" ma:readOnly="true">
      <xsd:simpleType>
        <xsd:restriction base="dms:Text"/>
      </xsd:simpleType>
    </xsd:element>
    <xsd:element name="MediaServiceLocation" ma:index="20" nillable="true" ma:displayName="Location" ma:description="" ma:indexed="true"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e3c92ed-1b4d-4b36-b3fa-5c1489b24a6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43bc96e5-7902-4831-a0d6-be5f3f931e65}" ma:internalName="TaxCatchAll" ma:showField="CatchAllData" ma:web="2e3c92ed-1b4d-4b36-b3fa-5c1489b24a6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82F8DC-F1D8-4863-A0C5-0BCE22BFA0AC}">
  <ds:schemaRefs>
    <ds:schemaRef ds:uri="http://schemas.microsoft.com/sharepoint/v3/contenttype/forms"/>
  </ds:schemaRefs>
</ds:datastoreItem>
</file>

<file path=customXml/itemProps2.xml><?xml version="1.0" encoding="utf-8"?>
<ds:datastoreItem xmlns:ds="http://schemas.openxmlformats.org/officeDocument/2006/customXml" ds:itemID="{74E2D96F-E8D2-4550-8535-B23C3750BAC1}">
  <ds:schemaRefs>
    <ds:schemaRef ds:uri="http://schemas.microsoft.com/office/2006/documentManagement/types"/>
    <ds:schemaRef ds:uri="http://schemas.microsoft.com/office/infopath/2007/PartnerControls"/>
    <ds:schemaRef ds:uri="http://www.w3.org/XML/1998/namespace"/>
    <ds:schemaRef ds:uri="http://purl.org/dc/dcmitype/"/>
    <ds:schemaRef ds:uri="http://schemas.microsoft.com/office/2006/metadata/properties"/>
    <ds:schemaRef ds:uri="http://purl.org/dc/elements/1.1/"/>
    <ds:schemaRef ds:uri="2e3c92ed-1b4d-4b36-b3fa-5c1489b24a61"/>
    <ds:schemaRef ds:uri="http://schemas.openxmlformats.org/package/2006/metadata/core-properties"/>
    <ds:schemaRef ds:uri="89b437f7-49b0-443f-85ef-1b7e88532521"/>
    <ds:schemaRef ds:uri="http://purl.org/dc/terms/"/>
  </ds:schemaRefs>
</ds:datastoreItem>
</file>

<file path=customXml/itemProps3.xml><?xml version="1.0" encoding="utf-8"?>
<ds:datastoreItem xmlns:ds="http://schemas.openxmlformats.org/officeDocument/2006/customXml" ds:itemID="{8B55F925-F731-442C-A56F-6A5DE56D3B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9b437f7-49b0-443f-85ef-1b7e88532521"/>
    <ds:schemaRef ds:uri="2e3c92ed-1b4d-4b36-b3fa-5c1489b24a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1502</TotalTime>
  <Words>2911</Words>
  <Application>Microsoft Office PowerPoint</Application>
  <PresentationFormat>ワイド画面</PresentationFormat>
  <Paragraphs>440</Paragraphs>
  <Slides>19</Slides>
  <Notes>0</Notes>
  <HiddenSlides>0</HiddenSlides>
  <MMClips>0</MMClips>
  <ScaleCrop>false</ScaleCrop>
  <HeadingPairs>
    <vt:vector size="4" baseType="variant">
      <vt:variant>
        <vt:lpstr>テーマ</vt:lpstr>
      </vt:variant>
      <vt:variant>
        <vt:i4>1</vt:i4>
      </vt:variant>
      <vt:variant>
        <vt:lpstr>スライド タイトル</vt:lpstr>
      </vt:variant>
      <vt:variant>
        <vt:i4>19</vt:i4>
      </vt:variant>
    </vt:vector>
  </HeadingPairs>
  <TitlesOfParts>
    <vt:vector size="20" baseType="lpstr">
      <vt:lpstr>VanillaVTI</vt:lpstr>
      <vt:lpstr>プロダクト企画 要員管理プラットフォーム</vt:lpstr>
      <vt:lpstr>課題</vt:lpstr>
      <vt:lpstr>ソリューション</vt:lpstr>
      <vt:lpstr>下請け構造とターゲット</vt:lpstr>
      <vt:lpstr>マッチング構造と要石</vt:lpstr>
      <vt:lpstr>体験と価値</vt:lpstr>
      <vt:lpstr>仲介会社の扱い</vt:lpstr>
      <vt:lpstr>ユーザー価値と集め方（議論用）</vt:lpstr>
      <vt:lpstr>ユーザー価値と集め方（議論用）</vt:lpstr>
      <vt:lpstr>各会社の求めるもの</vt:lpstr>
      <vt:lpstr>筆が進まない。。。</vt:lpstr>
      <vt:lpstr>仮説設定</vt:lpstr>
      <vt:lpstr>スキーム</vt:lpstr>
      <vt:lpstr>嫌な予感。。。</vt:lpstr>
      <vt:lpstr>UI</vt:lpstr>
      <vt:lpstr>市場規模について</vt:lpstr>
      <vt:lpstr>今後の展望</vt:lpstr>
      <vt:lpstr>競合について</vt:lpstr>
      <vt:lpstr>補足：相互フォロー機能の調整について</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鈴木　航</cp:lastModifiedBy>
  <cp:revision>2</cp:revision>
  <dcterms:created xsi:type="dcterms:W3CDTF">2025-04-08T11:59:50Z</dcterms:created>
  <dcterms:modified xsi:type="dcterms:W3CDTF">2026-03-09T23:25:26Z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0x010100707383A61B225F4199D416C885286E67</vt:lpwstr>
  </property>
  <property fmtid="{D5CDD505-2E9C-101B-9397-08002B2CF9AE}" pid="3" name="Order">
    <vt:r8>50500</vt:r8>
  </property>
  <property fmtid="{D5CDD505-2E9C-101B-9397-08002B2CF9AE}" pid="4" name="ComplianceAssetId">
    <vt:lpwstr/>
  </property>
  <property fmtid="{D5CDD505-2E9C-101B-9397-08002B2CF9AE}" pid="5" name="_activity">
    <vt:lpwstr>{"FileActivityType":"9","FileActivityTimeStamp":"2025-04-23T00:49:55.583Z","FileActivityUsersOnPage":[{"DisplayName":"鈴木　航","Id":"suzuki.ko@isoroot.jp"},{"DisplayName":"鈴木　直人","Id":"suzuki.n@isoroot.jp"}],"FileActivityNavigationId":null}</vt:lpwstr>
  </property>
  <property fmtid="{D5CDD505-2E9C-101B-9397-08002B2CF9AE}" pid="6" name="_ExtendedDescription">
    <vt:lpwstr/>
  </property>
  <property fmtid="{D5CDD505-2E9C-101B-9397-08002B2CF9AE}" pid="7" name="TriggerFlowInfo">
    <vt:lpwstr/>
  </property>
  <property fmtid="{D5CDD505-2E9C-101B-9397-08002B2CF9AE}" pid="8" name="MediaServiceImageTags">
    <vt:lpwstr/>
  </property>
</Properties>
</file>